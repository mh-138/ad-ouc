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87" r:id="rId5"/>
    <p:sldId id="258" r:id="rId6"/>
    <p:sldId id="259" r:id="rId7"/>
    <p:sldId id="260" r:id="rId8"/>
    <p:sldId id="261" r:id="rId9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2" r:id="rId30"/>
    <p:sldId id="283" r:id="rId31"/>
    <p:sldId id="284" r:id="rId32"/>
    <p:sldId id="281" r:id="rId33"/>
  </p:sldIdLst>
  <p:sldSz cx="12192000" cy="6858000"/>
  <p:notesSz cx="6858000" cy="12192000"/>
  <p:custDataLst>
    <p:tags r:id="rId37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62016" y="5242000"/>
            <a:ext cx="5296132" cy="4288909"/>
          </a:xfrm>
          <a:prstGeom prst="rect">
            <a:avLst/>
          </a:prstGeom>
        </p:spPr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2.svg"/><Relationship Id="rId7" Type="http://schemas.openxmlformats.org/officeDocument/2006/relationships/image" Target="../media/image11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svg"/><Relationship Id="rId1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8.svg"/><Relationship Id="rId1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adding: 0, position: 'relative', fontFamily: 'Microsoft YaHei' }}&gt;&#10;    &lt;Box style={{ position: 'absolute', top: 0, left: 0, width: 1280, height: 10, background: '#1F497D' }} /&gt;&#10;    &lt;Box style={{ position: 'absolute', bottom: 0, left: 0, width: 1280, height: 128, background: '#1F497D' }} /&gt;&#10;    &lt;Box style={{ position: 'absolute', top: 152, left: 96, width: 64, height: 6, background: '#4F81BD' }} /&gt;&#10;&#10;    &lt;Box style={{ position: 'absolute', top: 54, left: 96 }}&gt;&#10;        &lt;Text style={{ fontSize: 20, color: '#4F81BD', letterSpacing: 2 }}&gt;中国海洋大学 · 软件综合实践 · 期末答辩&lt;/Text&gt;&#10;    &lt;/Box&gt;&#10;&#10;    &lt;Box style={{ position: 'absolute', top: 384, right: 96, alignItems: 'flex-end' }}&gt;&#10;        &lt;Text style={{ fontSize: 16, color: '#8B97A8', letterSpacing: 1 }}&gt;AD-OUC PROJECT&lt;/Text&gt;&#10;    &lt;/Box&gt;&#10;&#10;    &lt;Box style={{ position: 'absolute', top: 198, left: 96, width: 1088, flexDirection: 'column', gap: 18 }}&gt;&#10;        &lt;Text style={{ fontSize: 68, fontWeight: 'bold', color: '#1F497D', lineHeight: 1.18 }}&gt;认知障碍早期诊断临床数据采集系统&lt;/Text&gt;&#10;        &lt;Text style={{ fontSize: 23, color: '#4F81BD', fontFamily: 'Times New Roman', lineHeight: 1.45 }}&gt;A Conversational Data Collection System for Early Diagnosis of Cognitive Impairment&lt;/Text&gt;&#10;        &lt;Box style={{ flexDirection: 'row', gap: 14, alignItems: 'center', marginTop: 10 }}&gt;&#10;            &lt;Text style={{ fontSize: 21, color: '#4A5568' }}&gt;三端协同&lt;/Text&gt;&#10;            &lt;Text style={{ fontSize: 18, color: '#D6DCE5' }}&gt;｜&lt;/Text&gt;&#10;            &lt;Text style={{ fontSize: 21, color: '#4A5568' }}&gt;对话式评估&lt;/Text&gt;&#10;            &lt;Text style={{ fontSize: 18, color: '#D6DCE5' }}&gt;｜&lt;/Text&gt;&#10;            &lt;Text style={{ fontSize: 21, color: '#4A5568' }}&gt;智能辅助研判&lt;/Text&gt;&#10;        &lt;/Box&gt;&#10;    &lt;/Box&gt;&#10;&#10;    &lt;Box style={{ position: 'absolute', bottom: 44, left: 96, width: 1088, flexDirection: 'row', justifyContent: 'space-between', alignItems: 'center' }}&gt;&#10;        &lt;Text style={{ fontSize: 20, color: '#FFFFFF' }}&gt;汇报团队：AD-OUC 项目组&lt;/Text&gt;&#10;        &lt;Text style={{ fontSize: 20, color: '#B5D4F4' }}&gt;2026 年 9 月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4" name="矩形 3"/>
          <p:cNvSpPr/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914400" y="1447800"/>
            <a:ext cx="609600" cy="571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810750" y="3657600"/>
            <a:ext cx="14668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AD-OUC PROJECT</a:t>
            </a:r>
            <a:endParaRPr lang="en-US" sz="1200" spc="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10363200" cy="923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1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51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2981325"/>
            <a:ext cx="10363200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725">
                <a:solidFill>
                  <a:srgbClr val="4F81BD"/>
                </a:solidFill>
                <a:latin typeface="Times New Roman" panose="02020603050405020304"/>
                <a:ea typeface="Times New Roman" panose="02020603050405020304"/>
              </a:rPr>
              <a:t>A Conversational Data Collection System for Early Diagnosis of Cognitive Impairment</a:t>
            </a:r>
            <a:endParaRPr lang="en-US" sz="1725">
              <a:solidFill>
                <a:srgbClr val="4F81BD"/>
              </a:solidFill>
              <a:latin typeface="Times New Roman" panose="02020603050405020304"/>
              <a:ea typeface="Times New Roman" panose="02020603050405020304"/>
            </a:endParaRPr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914400" y="3638550"/>
            <a:ext cx="8001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三端协同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1847850" y="3657600"/>
            <a:ext cx="1714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6DCE5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endParaRPr lang="zh-CN" sz="1350">
              <a:solidFill>
                <a:srgbClr val="D6D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2152650" y="3638550"/>
            <a:ext cx="100012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对话式评估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3286125" y="3657600"/>
            <a:ext cx="1714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D6DCE5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endParaRPr lang="zh-CN" sz="1350">
              <a:solidFill>
                <a:srgbClr val="D6DCE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 descr="{&quot;isTemplate&quot;:true,&quot;type&quot;:&quot;text&quot;}"/>
          <p:cNvSpPr txBox="1"/>
          <p:nvPr/>
        </p:nvSpPr>
        <p:spPr>
          <a:xfrm>
            <a:off x="3590925" y="3638550"/>
            <a:ext cx="1200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智能辅助研判</a:t>
            </a:r>
            <a:endParaRPr lang="zh-CN" sz="15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914400" y="6210300"/>
            <a:ext cx="23717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altLang="en-US"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8" name="" descr="&lt;Slide style={{ width: 1280, height: 720, background: '#FFFFFF', padding: 0, position: 'relative', fontFamily: 'Microsoft YaHei' }}&gt;&#10;    &lt;Box style={{ position: 'absolute', top: 0, left: 0, width: 1280, height: 10, background: '#1F497D' }} /&gt;&#10;    &lt;Box style={{ position: 'absolute', top: 60, left: 40, width: 360, height: 590, background: '#1F497D', borderRadius: 12, flexDirection: 'column', justifyContent: 'space-between', padding: 32 }}&gt;&#10;        &lt;Box style={{ flexDirection: 'column', gap: 16 }}&gt;&#10;            &lt;Text style={{ fontSize: 44, fontWeight: 'bold', color: '#FFFFFF' }}&gt;目录&lt;/Text&gt;&#10;            &lt;Box style={{ width: 60, height: 5, background: '#4F81BD' }} /&gt;&#10;            &lt;Text style={{ fontSize: 19, color: '#B5D4F4', lineHeight: 1.8, marginTop: 12 }}&gt;&#10;                本场汇报沿着一条主线展开：从一个真实的临床问题出发，经过需求定义与架构设计，落到一个可运行、可演示的三端系统。&#10;            &lt;/Text&gt;&#10;        &lt;/Box&gt;&#10;        &lt;Box style={{ flexDirection: 'column', gap: 10 }}&gt;&#10;            &lt;Text style={{ fontSize: 17, color: '#9FC2E8', lineHeight: 1.6 }}&gt;汇报时长约 19 分钟&lt;/Text&gt;&#10;            &lt;Text style={{ fontSize: 17, color: '#9FC2E8', lineHeight: 1.6 }}&gt;含使用演示录像 3 分钟&lt;/Text&gt;&#10;        &lt;/Box&gt;&#10;    &lt;/Box&gt;&#10;&#10;    &lt;Box style={{ position: 'absolute', top: 60, left: 440, width: 800, flexDirection: 'column', gap: 15 }}&gt;&#10;        &lt;Box style={{ flexDirection: 'row', gap: 18, alignItems: 'center', background: '#F0F5FC', borderRadius: 10, padding: 18, border: '1px solid #D6DCE5' }}&gt;&#10;            &lt;Text style={{ fontSize: 30, fontWeight: 'bold', color: '#4F81BD', width: 56 }}&gt;01&lt;/Text&gt;&#10;            &lt;Box style={{ flexDirection: 'column', gap: 6 }}&gt;&#10;                &lt;Text style={{ fontSize: 23, fontWeight: 'bold', color: '#1A2230' }}&gt;背景与问题定义&lt;/Text&gt;&#10;                &lt;Text style={{ fontSize: 17, color: '#4A5568' }}&gt;早期筛查的临床窗口，以及现有流程真正的卡点&lt;/Text&gt;&#10;            &lt;/Box&gt;&#10;        &lt;/Box&gt;&#10;        &lt;Box style={{ flexDirection: 'row', gap: 18, alignItems: 'center', background: '#F0F5FC', borderRadius: 10, padding: 18, border: '1px solid #D6DCE5' }}&gt;&#10;            &lt;Text style={{ fontSize: 30, fontWeight: 'bold', color: '#4F81BD', width: 56 }}&gt;02&lt;/Text&gt;&#10;            &lt;Box style={{ flexDirection: 'column', gap: 6 }}&gt;&#10;                &lt;Text style={{ fontSize: 23, fontWeight: 'bold', color: '#1A2230' }}&gt;需求与产品设计&lt;/Text&gt;&#10;                &lt;Text style={{ fontSize: 17, color: '#4A5568' }}&gt;三类用户、三端定位，以及八段主流程闭环&lt;/Text&gt;&#10;            &lt;/Box&gt;&#10;        &lt;/Box&gt;&#10;        &lt;Box style={{ flexDirection: 'row', gap: 18, alignItems: 'center', background: '#F0F5FC', borderRadius: 10, padding: 18, border: '1px solid #D6DCE5' }}&gt;&#10;            &lt;Text style={{ fontSize: 30, fontWeight: 'bold', color: '#4F81BD', width: 56 }}&gt;03&lt;/Text&gt;&#10;            &lt;Box style={{ flexDirection: 'column', gap: 6 }}&gt;&#10;                &lt;Text style={{ fontSize: 23, fontWeight: 'bold', color: '#1A2230' }}&gt;系统架构与技术实现&lt;/Text&gt;&#10;                &lt;Text style={{ fontSize: 17, color: '#4A5568' }}&gt;分层架构、四张核心数据表与十六个接口契约&lt;/Text&gt;&#10;            &lt;/Box&gt;&#10;        &lt;/Box&gt;&#10;        &lt;Box style={{ flexDirection: 'row', gap: 18, alignItems: 'center', background: '#F0F5FC', borderRadius: 10, padding: 18, border: '1px solid #D6DCE5' }}&gt;&#10;            &lt;Text style={{ fontSize: 30, fontWeight: 'bold', color: '#4F81BD', width: 56 }}&gt;04&lt;/Text&gt;&#10;            &lt;Box style={{ flexDirection: 'column', gap: 6 }}&gt;&#10;                &lt;Text style={{ fontSize: 23, fontWeight: 'bold', color: '#1A2230' }}&gt;核心功能与实现亮点&lt;/Text&gt;&#10;                &lt;Text style={{ fontSize: 17, color: '#4A5568' }}&gt;评估引擎、数据可信度红线、AI 研判与医生签字闭环&lt;/Text&gt;&#10;            &lt;/Box&gt;&#10;        &lt;/Box&gt;&#10;        &lt;Box style={{ flexDirection: 'row', gap: 18, alignItems: 'center', background: '#F0F5FC', borderRadius: 10, padding: 18, border: '1px solid #D6DCE5' }}&gt;&#10;            &lt;Text style={{ fontSize: 30, fontWeight: 'bold', color: '#4F81BD', width: 56 }}&gt;05&lt;/Text&gt;&#10;            &lt;Box style={{ flexDirection: 'column', gap: 6 }}&gt;&#10;                &lt;Text style={{ fontSize: 23, fontWeight: 'bold', color: '#1A2230' }}&gt;系统演示&lt;/Text&gt;&#10;                &lt;Text style={{ fontSize: 17, color: '#4A5568' }}&gt;三端完整走查录像，从建档到随访医嘱&lt;/Text&gt;&#10;            &lt;/Box&gt;&#10;        &lt;/Box&gt;&#10;        &lt;Box style={{ flexDirection: 'row', gap: 18, alignItems: 'center', background: '#F0F5FC', borderRadius: 10, padding: 18, border: '1px solid #D6DCE5' }}&gt;&#10;            &lt;Text style={{ fontSize: 30, fontWeight: 'bold', color: '#4F81BD', width: 56 }}&gt;06&lt;/Text&gt;&#10;            &lt;Box style={{ flexDirection: 'column', gap: 6 }}&gt;&#10;                &lt;Text style={{ fontSize: 23, fontWeight: 'bold', color: '#1A2230' }}&gt;总结与展望&lt;/Text&gt;&#10;                &lt;Text style={{ fontSize: 17, color: '#4A5568' }}&gt;成果对照验收标准、真实短板与后续路线&lt;/Text&gt;&#10;            &lt;/Box&gt;&#10;        &lt;/Box&gt;&#10;    &lt;/Box&gt;&#10;&#10;    &lt;Box style={{ position: 'absolute', bottom: 26, left: 40, width: 1200, flexDirection: 'row', justifyContent: 'space-between' }}&gt;&#10;        &lt;Text style={{ fontSize: 15, color: '#8B97A8' }}&gt;认知障碍早期诊断临床数据采集系统&lt;/Text&gt;&#10;        &lt;Text style={{ fontSize: 15, color: '#1F497D' }}&gt;02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矩形 3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10" name="矩形 30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311" name="圆角矩形 310"/>
          <p:cNvSpPr/>
          <p:nvPr/>
        </p:nvSpPr>
        <p:spPr>
          <a:xfrm>
            <a:off x="381000" y="571500"/>
            <a:ext cx="3429000" cy="5619750"/>
          </a:xfrm>
          <a:prstGeom prst="roundRect">
            <a:avLst>
              <a:gd name="adj" fmla="val 3333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685800" y="876300"/>
            <a:ext cx="28194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3" name="矩形 312"/>
          <p:cNvSpPr/>
          <p:nvPr/>
        </p:nvSpPr>
        <p:spPr>
          <a:xfrm>
            <a:off x="685800" y="1533525"/>
            <a:ext cx="571500" cy="47625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1847850"/>
            <a:ext cx="2819400" cy="1571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本场汇报沿着一条主线展开：从一个真实的临床问题出发，经过需求定义与架构设计，落到一个可运行、可演示的三端系统。</a:t>
            </a:r>
            <a:endParaRPr lang="zh-CN" sz="1425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文本框 314" descr="{&quot;isTemplate&quot;:true,&quot;type&quot;:&quot;text&quot;}"/>
          <p:cNvSpPr txBox="1"/>
          <p:nvPr/>
        </p:nvSpPr>
        <p:spPr>
          <a:xfrm>
            <a:off x="685800" y="5162550"/>
            <a:ext cx="2819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endParaRPr lang="zh-CN" sz="1275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685800" y="5572125"/>
            <a:ext cx="28194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endParaRPr lang="zh-CN" sz="1275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7" name="圆角矩形 316"/>
          <p:cNvSpPr/>
          <p:nvPr/>
        </p:nvSpPr>
        <p:spPr>
          <a:xfrm>
            <a:off x="4191000" y="571500"/>
            <a:ext cx="7620000" cy="866775"/>
          </a:xfrm>
          <a:prstGeom prst="roundRect">
            <a:avLst>
              <a:gd name="adj" fmla="val 1098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362450" y="838200"/>
            <a:ext cx="5334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2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5067300" y="742950"/>
            <a:ext cx="34004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背景与问题定义</a:t>
            </a:r>
            <a:endParaRPr lang="zh-CN" sz="17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5067300" y="1066800"/>
            <a:ext cx="34004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早期筛查的临床窗口，以及现有流程真正的卡点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1" name="圆角矩形 320"/>
          <p:cNvSpPr/>
          <p:nvPr/>
        </p:nvSpPr>
        <p:spPr>
          <a:xfrm>
            <a:off x="4191000" y="1581150"/>
            <a:ext cx="7620000" cy="866775"/>
          </a:xfrm>
          <a:prstGeom prst="roundRect">
            <a:avLst>
              <a:gd name="adj" fmla="val 1098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4362450" y="1847850"/>
            <a:ext cx="5334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2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文本框 322" descr="{&quot;isTemplate&quot;:true,&quot;type&quot;:&quot;text&quot;}"/>
          <p:cNvSpPr txBox="1"/>
          <p:nvPr/>
        </p:nvSpPr>
        <p:spPr>
          <a:xfrm>
            <a:off x="5067300" y="1752600"/>
            <a:ext cx="307657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需求与产品设计</a:t>
            </a:r>
            <a:endParaRPr lang="zh-CN" sz="17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4" name="文本框 323" descr="{&quot;isTemplate&quot;:true,&quot;type&quot;:&quot;text&quot;}"/>
          <p:cNvSpPr txBox="1"/>
          <p:nvPr/>
        </p:nvSpPr>
        <p:spPr>
          <a:xfrm>
            <a:off x="5067300" y="2076450"/>
            <a:ext cx="30765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三类用户、三端定位，以及八段主流程闭环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圆角矩形 324"/>
          <p:cNvSpPr/>
          <p:nvPr/>
        </p:nvSpPr>
        <p:spPr>
          <a:xfrm>
            <a:off x="4191000" y="2590800"/>
            <a:ext cx="7620000" cy="866775"/>
          </a:xfrm>
          <a:prstGeom prst="roundRect">
            <a:avLst>
              <a:gd name="adj" fmla="val 1098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4362450" y="2857500"/>
            <a:ext cx="5334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2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5067300" y="2762250"/>
            <a:ext cx="3238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  <a:endParaRPr lang="zh-CN" sz="17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5067300" y="3086100"/>
            <a:ext cx="32385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分层架构、四张核心数据表与十六个接口契约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191000" y="3600450"/>
            <a:ext cx="7620000" cy="866775"/>
          </a:xfrm>
          <a:prstGeom prst="roundRect">
            <a:avLst>
              <a:gd name="adj" fmla="val 1098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0" name="文本框 329" descr="{&quot;isTemplate&quot;:true,&quot;type&quot;:&quot;text&quot;}"/>
          <p:cNvSpPr txBox="1"/>
          <p:nvPr/>
        </p:nvSpPr>
        <p:spPr>
          <a:xfrm>
            <a:off x="4362450" y="3867150"/>
            <a:ext cx="5334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2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5067300" y="3771900"/>
            <a:ext cx="37719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17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5067300" y="4095750"/>
            <a:ext cx="3771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评估引擎、数据可信度红线、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研判与医生签字闭环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3" name="圆角矩形 332"/>
          <p:cNvSpPr/>
          <p:nvPr/>
        </p:nvSpPr>
        <p:spPr>
          <a:xfrm>
            <a:off x="4191000" y="4610100"/>
            <a:ext cx="7620000" cy="866775"/>
          </a:xfrm>
          <a:prstGeom prst="roundRect">
            <a:avLst>
              <a:gd name="adj" fmla="val 1098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4362450" y="4876800"/>
            <a:ext cx="5334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22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5" name="文本框 334" descr="{&quot;isTemplate&quot;:true,&quot;type&quot;:&quot;text&quot;}"/>
          <p:cNvSpPr txBox="1"/>
          <p:nvPr/>
        </p:nvSpPr>
        <p:spPr>
          <a:xfrm>
            <a:off x="5067300" y="4781550"/>
            <a:ext cx="2752725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系统演示</a:t>
            </a:r>
            <a:endParaRPr lang="zh-CN" sz="17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6" name="文本框 335" descr="{&quot;isTemplate&quot;:true,&quot;type&quot;:&quot;text&quot;}"/>
          <p:cNvSpPr txBox="1"/>
          <p:nvPr/>
        </p:nvSpPr>
        <p:spPr>
          <a:xfrm>
            <a:off x="5067300" y="5105400"/>
            <a:ext cx="27527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三端完整走查录像，从建档到随访医嘱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7" name="圆角矩形 336"/>
          <p:cNvSpPr/>
          <p:nvPr/>
        </p:nvSpPr>
        <p:spPr>
          <a:xfrm>
            <a:off x="4191000" y="5619750"/>
            <a:ext cx="7620000" cy="866775"/>
          </a:xfrm>
          <a:prstGeom prst="roundRect">
            <a:avLst>
              <a:gd name="adj" fmla="val 10989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4362450" y="5886450"/>
            <a:ext cx="5334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22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5067300" y="5791200"/>
            <a:ext cx="291465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172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5067300" y="6115050"/>
            <a:ext cx="29146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成果对照验收标准、真实短板与后续路线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9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成果对照验收标准&lt;/Text&gt;&#10;        &lt;/Box&gt;&#10;        &lt;Text style={{ fontSize: 16, color: '#9FC2E8' }}&gt;06 · 总结与展望&lt;/Text&gt;&#10;    &lt;/Box&gt;&#10;&#10;    &lt;Box style={{ position: 'absolute', top: 100, left: 40, width: 1200, flexDirection: 'column', gap: 12 }}&gt;&#10;        &lt;Box style={{ flexDirection: 'row', alignItems: 'center', gap: 12 }}&gt;&#10;            &lt;FAIcon name='info-circle' style={{ fill: '#4F81BD', width: 20, height: 20 }} /&gt;&#10;            &lt;Text style={{ fontSize: 18, color: '#4A5568' }}&gt;对照需求文档的验收标准逐条核对，每一条都给出可当场打开的复核位置&lt;/Text&gt;&#10;        &lt;/Box&gt;&#10;&#10;        &lt;Table&#10;            style={{ width: 1200, height: 396 }}&#10;            defaultTextStyle={{ fontSize: 16, textAlign: 'left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    padding: 9,&#10;            }}&#10;            cells={[&#10;                [&#10;                    { text: '验收标准', textStyle: { bold: true, color: '#FFFFFF', fontSize: 17 }, cellStyle: { background: { color: '#1F497D' } } },&#10;                    { text: '实际结果', textStyle: { bold: true, color: '#FFFFFF', fontSize: 17 }, cellStyle: { background: { color: '#1F497D' } } },&#10;                    { text: '可复核的证据位置', textStyle: { bold: true, color: '#FFFFFF', fontSize: 17 }, cellStyle: { background: { color: '#1F497D' } } },&#10;                ],&#10;                [&#10;                    { text: '可运行的全栈系统', textStyle: { bold: true } },&#10;                    '前端 React + 后端 Express 一体，一条 npm run dev 同时拉起界面与接口',&#10;                    'ad-ouc-system/ 根目录，运行说明见该目录 README',&#10;                ],&#10;                [&#10;                    { text: '11 个量表全部走通', textStyle: { bold: true }, cellStyle: { background: { color: '#F7F9FC' } } },&#10;                    { text: '三端按归属完成对话式作答，题量与阈值对照教师下发的量表校准', cellStyle: { background: { color: '#F7F9FC' } } },&#10;                    { text: '量表配置层 + 三端评估页面', cellStyle: { background: { color: '#F7F9FC' } } },&#10;                ],&#10;                [&#10;                    { text: '自动计分与红黄绿灯', textStyle: { bold: true } },&#10;                    '输出总分与各维度小计，按阈值给出红 / 黄 / 绿分级；CDR 走华盛顿规则出 Global 与 CDR-SB',&#10;                    '各量表计分器与分级函数',&#10;                ],&#10;                [&#10;                    { text: 'Excel 导出成功', textStyle: { bold: true }, cellStyle: { background: { color: '#F7F9FC' } } },&#10;                    { text: '多工作表导出，未作答一律渲染为 -- 且不套用灯色，导出即符合科研数据集要求', cellStyle: { background: { color: '#F7F9FC' } } },&#10;                    { text: '导出模块与导出结果文件', cellStyle: { background: { color: '#F7F9FC' } } },&#10;                ],&#10;                [&#10;                    { text: '断网续填演练通过', textStyle: { bold: true } },&#10;                    '作答即落本地草稿，联网同步云端，换设备后按角色与流程恢复进度',&#10;                    '草稿读写接口与草稿表',&#10;                ],&#10;                [&#10;                    { text: '内置示例受试者', textStyle: { bold: true }, cellStyle: { background: { color: '#F7F9FC' } } },&#10;                    { text: '4 位分层示例（已签字 / 待审 / 空白），演示现场可直接做对比', cellStyle: { background: { color: '#F7F9FC' } } },&#10;                    { text: '受试者队列播种功能', cellStyle: { background: { color: '#F7F9FC' } } },&#10;                ],&#10;            ]}&#10;        /&gt;&#10;&#10;        &lt;Box style={{ background: '#E8EFF8', borderRadius: 8, padding: 14, borderLeft: '5px solid #4F81BD', flexDirection: 'row', alignItems: 'center', gap: 16 }}&gt;&#10;            &lt;FAIcon name='check-circle' style={{ fill: '#4F81BD', width: 26, height: 26 }} /&gt;&#10;            &lt;Text style={{ fontSize: 17, color: '#1F497D', lineHeight: 1.6, flex: 1 }}&gt;&#10;                结论：验收标准不是逐条&quot;写已完成&quot;，而是逐条留下可现场打开的入口。系统、文档与导出结果三者互为证据。&#10;            &lt;/Text&gt;&#10;        &lt;/Box&gt;&#10;    &lt;/Box&gt;&#10;&#10;    &lt;Box style={{ position: 'absolute', bottom: 22, left: 40, width: 1200, flexDirection: 'row', justifyContent: 'space-between' }}&gt;&#10;        &lt;Text style={{ fontSize: 15, color: '#8B97A8' }}&gt;依据：需求文档验收标准 · 当前实现差距与后续修改顺序&lt;/Text&gt;&#10;        &lt;Text style={{ fontSize: 15, color: '#1F497D' }}&gt;28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矩形 5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01" name="矩形 600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602" name="圆角矩形 601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571500" y="219075"/>
            <a:ext cx="2438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成员分工与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联系方式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07" name="表格 606"/>
          <p:cNvGraphicFramePr/>
          <p:nvPr/>
        </p:nvGraphicFramePr>
        <p:xfrm>
          <a:off x="381000" y="1276350"/>
          <a:ext cx="11430000" cy="4220845"/>
        </p:xfrm>
        <a:graphic>
          <a:graphicData uri="http://schemas.openxmlformats.org/drawingml/2006/table">
            <a:tbl>
              <a:tblPr/>
              <a:tblGrid>
                <a:gridCol w="2154555"/>
                <a:gridCol w="5582222"/>
                <a:gridCol w="3692940"/>
              </a:tblGrid>
              <a:tr h="5276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人员</a:t>
                      </a:r>
                      <a:endParaRPr lang="zh-CN"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分工</a:t>
                      </a:r>
                      <a:endParaRPr lang="zh-CN"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联系方式</a:t>
                      </a:r>
                      <a:endParaRPr lang="zh-CN"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牟云萱</a:t>
                      </a:r>
                      <a:endParaRPr lang="zh-CN"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组长，实验需求分析，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部分代码迭代工作，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汇报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QQ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</a:t>
                      </a:r>
                      <a:r>
                        <a:rPr lang="en-US" alt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2633551943</a:t>
                      </a:r>
                      <a:endParaRPr lang="en-US" altLang="zh-CN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崔文军</a:t>
                      </a:r>
                      <a:endParaRPr lang="zh-CN"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实验需求分析，前端架构搭建</a:t>
                      </a:r>
                      <a:endParaRPr lang="zh-CN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QQ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：2015651233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方智</a:t>
                      </a:r>
                      <a:endParaRPr lang="zh-CN"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后端搭建，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云端数据库连接</a:t>
                      </a:r>
                      <a:endParaRPr lang="zh-CN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QQ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：2300203862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袁东霖</a:t>
                      </a:r>
                      <a:endParaRPr lang="zh-CN"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实验需求分析，汇报</a:t>
                      </a:r>
                      <a:r>
                        <a:rPr lang="en-US" alt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PPT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制作，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报告撰写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QQ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：1137881707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袁瑞彬</a:t>
                      </a:r>
                      <a:endParaRPr lang="zh-CN"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部分前端</a:t>
                      </a:r>
                      <a:r>
                        <a:rPr lang="en-US" alt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OCR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功能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优化</a:t>
                      </a:r>
                      <a:endParaRPr lang="zh-CN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QQ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：511017802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2768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张仕达</a:t>
                      </a:r>
                      <a:endParaRPr lang="zh-CN"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代码测试，</a:t>
                      </a:r>
                      <a:r>
                        <a:rPr 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测试文档撰写</a:t>
                      </a:r>
                      <a:endParaRPr lang="zh-CN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QQ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：1801342452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527685">
                <a:tc>
                  <a:txBody>
                    <a:bodyPr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郭晓伟</a:t>
                      </a:r>
                      <a:endParaRPr lang="zh-CN" altLang="en-US"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代码测试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p>
                      <a:pPr marL="114300" marR="114300" algn="l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QQ</a:t>
                      </a:r>
                      <a:r>
                        <a:rPr lang="zh-CN" altLang="en-US"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：2324138714</a:t>
                      </a:r>
                      <a:endParaRPr lang="zh-CN" altLang="en-US"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0" name="" descr="&lt;Slide style={{ width: 1280, height: 720, background: '#F7F9FC', padding: 0, position: 'relative', fontFamily: 'Microsoft YaHei' }}&gt;&#10;    &lt;Box style={{ position: 'absolute', top: 0, left: 0, width: 1280, height: 10, background: '#1F497D' }} /&gt;&#10;    &lt;Box style={{ position: 'absolute', top: 150, left: 96, width: 420 }}&gt;&#10;        &lt;Text style={{ fontSize: 210, fontWeight: 'bold', color: '#DCE7F5', lineHeight: 1 }}&gt;01&lt;/Text&gt;&#10;    &lt;/Box&gt;&#10;    &lt;Box style={{ position: 'absolute', top: 250, left: 480, width: 720, flexDirection: 'column', gap: 20 }}&gt;&#10;        &lt;Text style={{ fontSize: 52, fontWeight: 'bold', color: '#1F497D', lineHeight: 1.2 }}&gt;背景与问题定义&lt;/Text&gt;&#10;        &lt;Box style={{ width: 88, height: 6, background: '#4F81BD' }} /&gt;&#10;        &lt;Box style={{ flexDirection: 'column', gap: 14, marginTop: 14 }}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早期筛查的临床窗口究竟在哪里&lt;/Text&gt;&#10;            &lt;/Box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现有纸质流程真正的卡点，为什么值得被工具化&lt;/Text&gt;&#10;            &lt;/Box&gt;&#10;        &lt;/Box&gt;&#10;    &lt;/Box&gt;&#10;    &lt;Box style={{ position: 'absolute', bottom: 26, left: 40, width: 1200, flexDirection: 'row', justifyContent: 'space-between' }}&gt;&#10;        &lt;Text style={{ fontSize: 15, color: '#8B97A8' }}&gt;认知障碍早期诊断临床数据采集系统&lt;/Text&gt;&#10;        &lt;Text style={{ fontSize: 15, color: '#1F497D' }}&gt;03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矩形 6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652" name="矩形 65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653" name="文本框 652" descr="{&quot;isTemplate&quot;:true,&quot;type&quot;:&quot;text&quot;}"/>
          <p:cNvSpPr txBox="1"/>
          <p:nvPr/>
        </p:nvSpPr>
        <p:spPr>
          <a:xfrm>
            <a:off x="914400" y="1428750"/>
            <a:ext cx="40005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5750" b="1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4572000" y="2381250"/>
            <a:ext cx="6858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背景与问题定义</a:t>
            </a:r>
            <a:endParaRPr lang="zh-CN" sz="39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5" name="矩形 654"/>
          <p:cNvSpPr/>
          <p:nvPr/>
        </p:nvSpPr>
        <p:spPr>
          <a:xfrm>
            <a:off x="4572000" y="3286125"/>
            <a:ext cx="838200" cy="571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660" name="文本框 659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7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认知障碍早期筛查的临床窗口&lt;/Text&gt;&#10;        &lt;/Box&gt;&#10;        &lt;Text style={{ fontSize: 16, color: '#9FC2E8' }}&gt;01 · 背景与问题定义&lt;/Text&gt;&#10;    &lt;/Box&gt;&#10;&#10;    &lt;Box style={{ position: 'absolute', top: 104, left: 40, width: 296, height: 546, background: '#1F497D', borderRadius: 12, padding: 24, flexDirection: 'column', gap: 12 }}&gt;&#10;        &lt;Text style={{ fontSize: 15, color: '#9FC2E8', letterSpacing: 1 }}&gt;关键背景数据&lt;/Text&gt;&#10;&#10;        &lt;Box style={{ flexDirection: 'column', gap: 5 }}&gt;&#10;            &lt;Text style={{ fontSize: 14, color: '#9FC2E8', lineHeight: 1.4 }}&gt;阿尔茨海默病占全部痴呆病例&lt;/Text&gt;&#10;            &lt;Text style={{ fontSize: 38, fontWeight: 'bold', color: '#FFFFFF', lineHeight: 1.1 }}&gt;60%–70%&lt;/Text&gt;&#10;            &lt;Text style={{ fontSize: 14, color: '#B5D4F4' }}&gt;最主要的痴呆病因&lt;/Text&gt;&#10;        &lt;/Box&gt;&#10;&#10;        &lt;Box style={{ width: 248, height: 1, background: '#3A6DA8' }} /&gt;&#10;&#10;        &lt;Box style={{ flexDirection: 'column', gap: 5 }}&gt;&#10;            &lt;Text style={{ fontSize: 14, color: '#9FC2E8', lineHeight: 1.4 }}&gt;全球痴呆患者规模&lt;/Text&gt;&#10;            &lt;Text style={{ fontSize: 38, fontWeight: 'bold', color: '#FFFFFF', lineHeight: 1.1 }}&gt;5500 万&lt;/Text&gt;&#10;            &lt;Text style={{ fontSize: 14, color: '#B5D4F4' }}&gt;每年新增近 1000 万例&lt;/Text&gt;&#10;        &lt;/Box&gt;&#10;&#10;        &lt;Box style={{ width: 248, height: 1, background: '#3A6DA8' }} /&gt;&#10;&#10;        &lt;Box style={{ flexDirection: 'column', gap: 5 }}&gt;&#10;            &lt;Text style={{ fontSize: 14, color: '#9FC2E8', lineHeight: 1.4 }}&gt;单例全套纸质量表施测耗时&lt;/Text&gt;&#10;            &lt;Text style={{ fontSize: 38, fontWeight: 'bold', color: '#FFFFFF', lineHeight: 1.1 }}&gt;&amp;gt; 40 分钟&lt;/Text&gt;&#10;            &lt;Text style={{ fontSize: 14, color: '#B5D4F4' }}&gt;门诊时间内很难完成&lt;/Text&gt;&#10;        &lt;/Box&gt;&#10;&#10;        &lt;Box style={{ background: '#0E3F8C', borderRadius: 8, padding: 12 }}&gt;&#10;            &lt;Text style={{ fontSize: 16, color: '#9FC2E8', lineHeight: 1.5 }}&gt;可干预窗口在症状出现之前&lt;/Text&gt;&#10;        &lt;/Box&gt;&#10;    &lt;/Box&gt;&#10;&#10;    &lt;Box style={{ position: 'absolute', top: 104, left: 356, width: 884, flexDirection: 'column', gap: 16 }}&gt;&#10;        &lt;Box style={{ background: '#F0F5FC', borderRadius: 10, padding: 18, border: '1px solid #D6DCE5', flexDirection: 'column', gap: 12 }}&gt;&#10;            &lt;Box style={{ flexDirection: 'row', alignItems: 'center', gap: 12 }}&gt;&#10;                &lt;Box style={{ flex: 1, background: '#FFFFFF', borderRadius: 8, padding: 12, border: '1px solid #4F81BD', flexDirection: 'column', gap: 4 }}&gt;&#10;                    &lt;Text style={{ fontSize: 21, fontWeight: 'bold', color: '#1F497D' }}&gt;SCD&lt;/Text&gt;&#10;                    &lt;Text style={{ fontSize: 15, color: '#4A5568' }}&gt;主观认知下降&lt;/Text&gt;&#10;                &lt;/Box&gt;&#10;                &lt;FAIcon name='arrow-right' style={{ fill: '#4F81BD', width: 22, height: 22 }} /&gt;&#10;                &lt;Box style={{ flex: 1, background: '#FFFFFF', borderRadius: 8, padding: 12, border: '1px solid #4F81BD', flexDirection: 'column', gap: 4 }}&gt;&#10;                    &lt;Text style={{ fontSize: 21, fontWeight: 'bold', color: '#1F497D' }}&gt;MCI&lt;/Text&gt;&#10;                    &lt;Text style={{ fontSize: 15, color: '#4A5568' }}&gt;轻度认知损害&lt;/Text&gt;&#10;                &lt;/Box&gt;&#10;                &lt;FAIcon name='arrow-right' style={{ fill: '#8B97A8', width: 22, height: 22 }} /&gt;&#10;                &lt;Box style={{ flex: 1, background: '#FFFFFF', borderRadius: 8, padding: 12, border: '1px solid #D6DCE5', flexDirection: 'column', gap: 4 }}&gt;&#10;                    &lt;Text style={{ fontSize: 21, fontWeight: 'bold', color: '#4A5568' }}&gt;痴呆&lt;/Text&gt;&#10;                    &lt;Text style={{ fontSize: 15, color: '#8B97A8' }}&gt;功能显著受损&lt;/Text&gt;&#10;                &lt;/Box&gt;&#10;            &lt;/Box&gt;&#10;            &lt;Box style={{ flexDirection: 'row', alignItems: 'center', gap: 10 }}&gt;&#10;                &lt;Box style={{ width: 62, height: 3, background: '#4F81BD' }} /&gt;&#10;                &lt;Text style={{ fontSize: 16, color: '#4F81BD' }}&gt;干预窗口：基线评估放在 SCD 与 MCI 阶段，才真正有价值&lt;/Text&gt;&#10;            &lt;/Box&gt;&#10;        &lt;/Box&gt;&#10;&#10;        &lt;Box style={{ flexDirection: 'column', gap: 12 }}&gt;&#10;            &lt;Text style={{ fontSize: 18, color: '#1A2230', lineHeight: 1.75 }}&gt;&#10;                AD 的病理改变在临床症状出现前十余年就已启动，因此认知障碍领域普遍采用 SCD → MCI → 痴呆的连续谱来分期管理。真正的问题不在&quot;能不能测准&quot;，而在&quot;能不能测得起&quot;。&#10;            &lt;/Text&gt;&#10;            &lt;Text style={{ fontSize: 18, color: '#1A2230', lineHeight: 1.75 }}&gt;&#10;                标准神经心理量表条目多、且严格依赖受过训练的主试：MMSE 有 30 个计分点，AVLT-H 要连续三轮学习再加延迟回忆与再认，CDR 还需要家属提供日常功能观察。在门诊有限的时间里，纸质流程的记录、汇总与跨角色传递成本极高，受试者与家属在多方之间来回配合也容易流失。&#10;            &lt;/Text&gt;&#10;            &lt;Text style={{ fontSize: 18, color: '#1A2230', lineHeight: 1.75 }}&gt;&#10;                更隐蔽的风险在数据本身——纸质表上没填的题，在人工录入阶段极容易被当成 0 分。一份未完成的 MMSE 一旦以 0 分进入数据集，在统计模型里就是一份&quot;重度认知损害&quot;。&lt;span style={{ color: '#D9534F', fontWeight: 'bold' }}&gt;这类噪声不会报错，只会安静地污染研究结论。&lt;/span&gt;&#10;            &lt;/Text&gt;&#10;        &lt;/Box&gt;&#10;&#10;        &lt;Box style={{ background: '#E8EFF8', borderRadius: 8, padding: 16, borderLeft: '5px solid #1F497D' }}&gt;&#10;            &lt;Text style={{ fontSize: 19, color: '#1F497D', lineHeight: 1.6, fontWeight: 'bold' }}&gt;&#10;                所以我们的切口不是提高检测精度，而是把施测流程工具化：让量表更容易施测，让数据从产生的那一刻起就不被污染。&#10;            &lt;/Text&gt;&#10;        &lt;/Box&gt;&#10;    &lt;/Box&gt;&#10;&#10;    &lt;Box style={{ position: 'absolute', bottom: 26, left: 40, width: 1200, flexDirection: 'row', justifyContent: 'space-between' }}&gt;&#10;        &lt;Text style={{ fontSize: 15, color: '#8B97A8' }}&gt;数据来源：世界卫生组织痴呆实况报道（Dementia fact sheet）&lt;/Text&gt;&#10;        &lt;Text style={{ fontSize: 15, color: '#1F497D' }}&gt;04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矩形 7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19" name="矩形 718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720" name="圆角矩形 719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721" name="文本框 720" descr="{&quot;isTemplate&quot;:true,&quot;type&quot;:&quot;text&quot;}"/>
          <p:cNvSpPr txBox="1"/>
          <p:nvPr/>
        </p:nvSpPr>
        <p:spPr>
          <a:xfrm>
            <a:off x="571500" y="219075"/>
            <a:ext cx="3962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认知障碍早期筛查的临床窗口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2" name="文本框 721" descr="{&quot;isTemplate&quot;:true,&quot;type&quot;:&quot;text&quot;}"/>
          <p:cNvSpPr txBox="1"/>
          <p:nvPr/>
        </p:nvSpPr>
        <p:spPr>
          <a:xfrm>
            <a:off x="10429875" y="30480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背景与问题定义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3" name="圆角矩形 722"/>
          <p:cNvSpPr/>
          <p:nvPr/>
        </p:nvSpPr>
        <p:spPr>
          <a:xfrm>
            <a:off x="381000" y="990600"/>
            <a:ext cx="2819400" cy="5200650"/>
          </a:xfrm>
          <a:prstGeom prst="roundRect">
            <a:avLst>
              <a:gd name="adj" fmla="val 4054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724" name="文本框 723" descr="{&quot;isTemplate&quot;:true,&quot;type&quot;:&quot;text&quot;}"/>
          <p:cNvSpPr txBox="1"/>
          <p:nvPr/>
        </p:nvSpPr>
        <p:spPr>
          <a:xfrm>
            <a:off x="609600" y="1219200"/>
            <a:ext cx="23622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关键背景数据</a:t>
            </a:r>
            <a:endParaRPr lang="zh-CN" sz="1125" spc="75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5" name="文本框 724" descr="{&quot;isTemplate&quot;:true,&quot;type&quot;:&quot;text&quot;}"/>
          <p:cNvSpPr txBox="1"/>
          <p:nvPr/>
        </p:nvSpPr>
        <p:spPr>
          <a:xfrm>
            <a:off x="609600" y="1504950"/>
            <a:ext cx="2362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阿尔茨海默病占全部痴呆病例</a:t>
            </a:r>
            <a:endParaRPr lang="zh-CN" sz="105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6" name="文本框 725" descr="{&quot;isTemplate&quot;:true,&quot;type&quot;:&quot;text&quot;}"/>
          <p:cNvSpPr txBox="1"/>
          <p:nvPr/>
        </p:nvSpPr>
        <p:spPr>
          <a:xfrm>
            <a:off x="609600" y="1781175"/>
            <a:ext cx="23622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60%–70%</a:t>
            </a:r>
            <a:endParaRPr lang="en-US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7" name="文本框 726" descr="{&quot;isTemplate&quot;:true,&quot;type&quot;:&quot;text&quot;}"/>
          <p:cNvSpPr txBox="1"/>
          <p:nvPr/>
        </p:nvSpPr>
        <p:spPr>
          <a:xfrm>
            <a:off x="609600" y="2314575"/>
            <a:ext cx="2362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最主要的痴呆病因</a:t>
            </a:r>
            <a:endParaRPr lang="zh-CN" sz="1050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8" name="矩形 727"/>
          <p:cNvSpPr/>
          <p:nvPr/>
        </p:nvSpPr>
        <p:spPr>
          <a:xfrm>
            <a:off x="609600" y="2590800"/>
            <a:ext cx="2362200" cy="9525"/>
          </a:xfrm>
          <a:prstGeom prst="rect">
            <a:avLst/>
          </a:prstGeom>
          <a:solidFill>
            <a:srgbClr val="3A6DA8"/>
          </a:solidFill>
        </p:spPr>
        <p:txBody>
          <a:bodyPr/>
          <a:p/>
        </p:txBody>
      </p:sp>
      <p:sp>
        <p:nvSpPr>
          <p:cNvPr id="729" name="文本框 728" descr="{&quot;isTemplate&quot;:true,&quot;type&quot;:&quot;text&quot;}"/>
          <p:cNvSpPr txBox="1"/>
          <p:nvPr/>
        </p:nvSpPr>
        <p:spPr>
          <a:xfrm>
            <a:off x="609600" y="2714625"/>
            <a:ext cx="2362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全球痴呆患者规模</a:t>
            </a:r>
            <a:endParaRPr lang="zh-CN" sz="105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0" name="文本框 729" descr="{&quot;isTemplate&quot;:true,&quot;type&quot;:&quot;text&quot;}"/>
          <p:cNvSpPr txBox="1"/>
          <p:nvPr/>
        </p:nvSpPr>
        <p:spPr>
          <a:xfrm>
            <a:off x="609600" y="2990850"/>
            <a:ext cx="23622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5500 </a:t>
            </a: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万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1" name="文本框 730" descr="{&quot;isTemplate&quot;:true,&quot;type&quot;:&quot;text&quot;}"/>
          <p:cNvSpPr txBox="1"/>
          <p:nvPr/>
        </p:nvSpPr>
        <p:spPr>
          <a:xfrm>
            <a:off x="609600" y="3524250"/>
            <a:ext cx="2362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每年新增近</a:t>
            </a:r>
            <a:r>
              <a:rPr lang="en-US" sz="1050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 1000 </a:t>
            </a:r>
            <a:r>
              <a:rPr lang="zh-CN" sz="1050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万例</a:t>
            </a:r>
            <a:endParaRPr lang="zh-CN" sz="1050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2" name="矩形 731"/>
          <p:cNvSpPr/>
          <p:nvPr/>
        </p:nvSpPr>
        <p:spPr>
          <a:xfrm>
            <a:off x="609600" y="3800475"/>
            <a:ext cx="2362200" cy="9525"/>
          </a:xfrm>
          <a:prstGeom prst="rect">
            <a:avLst/>
          </a:prstGeom>
          <a:solidFill>
            <a:srgbClr val="3A6DA8"/>
          </a:solidFill>
        </p:spPr>
        <p:txBody>
          <a:bodyPr/>
          <a:p/>
        </p:txBody>
      </p:sp>
      <p:sp>
        <p:nvSpPr>
          <p:cNvPr id="733" name="文本框 732" descr="{&quot;isTemplate&quot;:true,&quot;type&quot;:&quot;text&quot;}"/>
          <p:cNvSpPr txBox="1"/>
          <p:nvPr/>
        </p:nvSpPr>
        <p:spPr>
          <a:xfrm>
            <a:off x="609600" y="3924300"/>
            <a:ext cx="23622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单例全套纸质量表施测耗时</a:t>
            </a:r>
            <a:endParaRPr lang="zh-CN" sz="105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4" name="文本框 733" descr="{&quot;isTemplate&quot;:true,&quot;type&quot;:&quot;text&quot;}"/>
          <p:cNvSpPr txBox="1"/>
          <p:nvPr/>
        </p:nvSpPr>
        <p:spPr>
          <a:xfrm>
            <a:off x="609600" y="4200525"/>
            <a:ext cx="23622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&gt; 40 </a:t>
            </a: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分钟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5" name="文本框 734" descr="{&quot;isTemplate&quot;:true,&quot;type&quot;:&quot;text&quot;}"/>
          <p:cNvSpPr txBox="1"/>
          <p:nvPr/>
        </p:nvSpPr>
        <p:spPr>
          <a:xfrm>
            <a:off x="609600" y="4733925"/>
            <a:ext cx="2362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门诊时间内很难完成</a:t>
            </a:r>
            <a:endParaRPr lang="zh-CN" sz="1050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6" name="圆角矩形 735"/>
          <p:cNvSpPr/>
          <p:nvPr/>
        </p:nvSpPr>
        <p:spPr>
          <a:xfrm>
            <a:off x="609600" y="5010150"/>
            <a:ext cx="2362200" cy="504825"/>
          </a:xfrm>
          <a:prstGeom prst="roundRect">
            <a:avLst>
              <a:gd name="adj" fmla="val 15094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737" name="文本框 736" descr="{&quot;isTemplate&quot;:true,&quot;type&quot;:&quot;text&quot;}"/>
          <p:cNvSpPr txBox="1"/>
          <p:nvPr/>
        </p:nvSpPr>
        <p:spPr>
          <a:xfrm>
            <a:off x="723900" y="5124450"/>
            <a:ext cx="21336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可干预窗口在症状出现之前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8" name="圆角矩形 737"/>
          <p:cNvSpPr/>
          <p:nvPr/>
        </p:nvSpPr>
        <p:spPr>
          <a:xfrm>
            <a:off x="3390900" y="990600"/>
            <a:ext cx="8420100" cy="1333500"/>
          </a:xfrm>
          <a:prstGeom prst="roundRect">
            <a:avLst>
              <a:gd name="adj" fmla="val 714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39" name="圆角矩形 738"/>
          <p:cNvSpPr/>
          <p:nvPr/>
        </p:nvSpPr>
        <p:spPr>
          <a:xfrm>
            <a:off x="3562350" y="1162050"/>
            <a:ext cx="24003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740" name="文本框 739" descr="{&quot;isTemplate&quot;:true,&quot;type&quot;:&quot;text&quot;}"/>
          <p:cNvSpPr txBox="1"/>
          <p:nvPr/>
        </p:nvSpPr>
        <p:spPr>
          <a:xfrm>
            <a:off x="3676650" y="1276350"/>
            <a:ext cx="2171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SCD</a:t>
            </a:r>
            <a:endParaRPr lang="en-US" sz="15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1" name="文本框 740" descr="{&quot;isTemplate&quot;:true,&quot;type&quot;:&quot;text&quot;}"/>
          <p:cNvSpPr txBox="1"/>
          <p:nvPr/>
        </p:nvSpPr>
        <p:spPr>
          <a:xfrm>
            <a:off x="3676650" y="1562100"/>
            <a:ext cx="2171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主观认知下降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2" name="图片 74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76950" y="1400175"/>
            <a:ext cx="209550" cy="209550"/>
          </a:xfrm>
          <a:prstGeom prst="rect">
            <a:avLst/>
          </a:prstGeom>
        </p:spPr>
      </p:pic>
      <p:sp>
        <p:nvSpPr>
          <p:cNvPr id="743" name="圆角矩形 742"/>
          <p:cNvSpPr/>
          <p:nvPr/>
        </p:nvSpPr>
        <p:spPr>
          <a:xfrm>
            <a:off x="6400800" y="1162050"/>
            <a:ext cx="24003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744" name="文本框 743" descr="{&quot;isTemplate&quot;:true,&quot;type&quot;:&quot;text&quot;}"/>
          <p:cNvSpPr txBox="1"/>
          <p:nvPr/>
        </p:nvSpPr>
        <p:spPr>
          <a:xfrm>
            <a:off x="6515100" y="1276350"/>
            <a:ext cx="2171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MCI</a:t>
            </a:r>
            <a:endParaRPr lang="en-US" sz="15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5" name="文本框 744" descr="{&quot;isTemplate&quot;:true,&quot;type&quot;:&quot;text&quot;}"/>
          <p:cNvSpPr txBox="1"/>
          <p:nvPr/>
        </p:nvSpPr>
        <p:spPr>
          <a:xfrm>
            <a:off x="6515100" y="1562100"/>
            <a:ext cx="2171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轻度认知损害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6" name="图片 74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5400" y="1400175"/>
            <a:ext cx="209550" cy="209550"/>
          </a:xfrm>
          <a:prstGeom prst="rect">
            <a:avLst/>
          </a:prstGeom>
        </p:spPr>
      </p:pic>
      <p:sp>
        <p:nvSpPr>
          <p:cNvPr id="747" name="圆角矩形 746"/>
          <p:cNvSpPr/>
          <p:nvPr/>
        </p:nvSpPr>
        <p:spPr>
          <a:xfrm>
            <a:off x="9239250" y="1162050"/>
            <a:ext cx="24003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8" name="文本框 747" descr="{&quot;isTemplate&quot;:true,&quot;type&quot;:&quot;text&quot;}"/>
          <p:cNvSpPr txBox="1"/>
          <p:nvPr/>
        </p:nvSpPr>
        <p:spPr>
          <a:xfrm>
            <a:off x="9353550" y="1287780"/>
            <a:ext cx="21717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痴呆</a:t>
            </a:r>
            <a:endParaRPr lang="zh-CN" sz="1575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9" name="文本框 748" descr="{&quot;isTemplate&quot;:true,&quot;type&quot;:&quot;text&quot;}"/>
          <p:cNvSpPr txBox="1"/>
          <p:nvPr/>
        </p:nvSpPr>
        <p:spPr>
          <a:xfrm>
            <a:off x="9353550" y="1562100"/>
            <a:ext cx="2171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功能显著受损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0" name="矩形 749"/>
          <p:cNvSpPr/>
          <p:nvPr/>
        </p:nvSpPr>
        <p:spPr>
          <a:xfrm>
            <a:off x="3562350" y="2047875"/>
            <a:ext cx="590550" cy="28575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751" name="文本框 750" descr="{&quot;isTemplate&quot;:true,&quot;type&quot;:&quot;text&quot;}"/>
          <p:cNvSpPr txBox="1"/>
          <p:nvPr/>
        </p:nvSpPr>
        <p:spPr>
          <a:xfrm>
            <a:off x="4248150" y="1962150"/>
            <a:ext cx="39909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干预窗口：基线评估放在</a:t>
            </a: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 SCD </a:t>
            </a:r>
            <a:r>
              <a:rPr lang="zh-CN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 MCI </a:t>
            </a:r>
            <a:r>
              <a:rPr lang="zh-CN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阶段，才真正有价值</a:t>
            </a:r>
            <a:endParaRPr lang="zh-CN" sz="120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2" name="文本框 751" descr="{&quot;isTemplate&quot;:true,&quot;type&quot;:&quot;text&quot;}"/>
          <p:cNvSpPr txBox="1"/>
          <p:nvPr/>
        </p:nvSpPr>
        <p:spPr>
          <a:xfrm>
            <a:off x="3390900" y="2476500"/>
            <a:ext cx="84201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AD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的病理改变在临床症状出现前十余年就已启动，因此认知障碍领域普遍采用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SCD → MCI →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痴呆的连续谱来分期管理。真正的问题不在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能不能测准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，而在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能不能测得起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3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3" name="文本框 752" descr="{&quot;isTemplate&quot;:true,&quot;type&quot;:&quot;text&quot;}"/>
          <p:cNvSpPr txBox="1"/>
          <p:nvPr/>
        </p:nvSpPr>
        <p:spPr>
          <a:xfrm>
            <a:off x="3390900" y="3314700"/>
            <a:ext cx="8420100" cy="1085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标准神经心理量表条目多、且严格依赖受过训练的主试：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MMSE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有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30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个计分点，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AVLT-H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要连续三轮学习再加延迟回忆与再认，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CDR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还需要家属提供日常功能观察。在门诊有限的时间里，纸质流程的记录、汇总与跨角色传递成本极高，受试者与家属在多方之间来回配合也容易流失。</a:t>
            </a:r>
            <a:endParaRPr lang="zh-CN" sz="13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4" name="文本框 753" descr="{&quot;isTemplate&quot;:true,&quot;type&quot;:&quot;text&quot;}"/>
          <p:cNvSpPr txBox="1"/>
          <p:nvPr/>
        </p:nvSpPr>
        <p:spPr>
          <a:xfrm>
            <a:off x="3390900" y="4514850"/>
            <a:ext cx="8420100" cy="723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更隐蔽的风险在数据本身——纸质表上没填的题，在人工录入阶段极容易被当成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分。一份未完成的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MMSE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一旦以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分进入数据集，在统计模型里就是一份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重度认知损害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sz="135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这类噪声不会报错，只会安静地污染研究结论。</a:t>
            </a:r>
            <a:endParaRPr lang="zh-CN" sz="135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5" name="圆角矩形 754"/>
          <p:cNvSpPr/>
          <p:nvPr/>
        </p:nvSpPr>
        <p:spPr>
          <a:xfrm>
            <a:off x="3438525" y="5391150"/>
            <a:ext cx="8420100" cy="1000125"/>
          </a:xfrm>
          <a:prstGeom prst="roundRect">
            <a:avLst>
              <a:gd name="adj" fmla="val 7619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756" name="任意多边形 755"/>
          <p:cNvSpPr/>
          <p:nvPr/>
        </p:nvSpPr>
        <p:spPr>
          <a:xfrm>
            <a:off x="3438525" y="5391150"/>
            <a:ext cx="8420100" cy="1000125"/>
          </a:xfrm>
          <a:custGeom>
            <a:avLst/>
            <a:gdLst/>
            <a:ahLst/>
            <a:cxnLst/>
            <a:pathLst>
              <a:path w="884" h="105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02"/>
                </a:lnTo>
                <a:cubicBezTo>
                  <a:pt x="5" y="104"/>
                  <a:pt x="6" y="105"/>
                  <a:pt x="8" y="105"/>
                </a:cubicBezTo>
                <a:cubicBezTo>
                  <a:pt x="3" y="105"/>
                  <a:pt x="0" y="101"/>
                  <a:pt x="0" y="9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F497D"/>
          </a:solidFill>
        </p:spPr>
        <p:txBody>
          <a:bodyPr/>
          <a:p/>
        </p:txBody>
      </p:sp>
      <p:sp>
        <p:nvSpPr>
          <p:cNvPr id="757" name="文本框 756" descr="{&quot;isTemplate&quot;:true,&quot;type&quot;:&quot;text&quot;}"/>
          <p:cNvSpPr txBox="1"/>
          <p:nvPr/>
        </p:nvSpPr>
        <p:spPr>
          <a:xfrm>
            <a:off x="3590925" y="5543550"/>
            <a:ext cx="8067675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所以我们的切口不是提高检测精度，而是把施测流程工具化：让量表更容易施测，让数据从产生的那一刻起就不被污染。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8" name="文本框 757" descr="{&quot;isTemplate&quot;:true,&quot;type&quot;:&quot;text&quot;}"/>
          <p:cNvSpPr txBox="1"/>
          <p:nvPr/>
        </p:nvSpPr>
        <p:spPr>
          <a:xfrm>
            <a:off x="381000" y="6438900"/>
            <a:ext cx="40862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数据来源：世界卫生组织痴呆实况报道（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Dementia fact sheet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60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现状的四个现实痛点&lt;/Text&gt;&#10;        &lt;/Box&gt;&#10;        &lt;Text style={{ fontSize: 16, color: '#9FC2E8' }}&gt;01 · 背景与问题定义&lt;/Text&gt;&#10;    &lt;/Box&gt;&#10;&#10;    &lt;Box style={{ position: 'absolute', top: 104, left: 40, width: 336, height: 546, background: '#1F497D', borderRadius: 12, flexDirection: 'column', justifyContent: 'space-between', padding: 26 }}&gt;&#10;        &lt;Box style={{ flexDirection: 'row', alignItems: 'flex-end', gap: 12 }}&gt;&#10;            &lt;Text style={{ fontSize: 132, fontWeight: 'bold', color: '#FFFFFF', lineHeight: 1 }}&gt;4&lt;/Text&gt;&#10;            &lt;Text style={{ fontSize: 22, color: '#B5D4F4', marginBottom: 18 }}&gt;个痛点&lt;/Text&gt;&#10;        &lt;/Box&gt;&#10;        &lt;Box style={{ flexDirection: 'column', gap: 14 }}&gt;&#10;            &lt;Box style={{ width: 52, height: 4, background: '#4F81BD' }} /&gt;&#10;            &lt;Text style={{ fontSize: 21, color: '#DCE7F5', lineHeight: 1.7 }}&gt;&#10;                四条痛点分别落在施测耗时、依从性、跨端协作与数据质量四个层面。&#10;            &lt;/Text&gt;&#10;        &lt;/Box&gt;&#10;        &lt;Box style={{ background: '#0E3F8C', borderRadius: 8, padding: 14 }}&gt;&#10;            &lt;Text style={{ fontSize: 16, color: '#9FC2E8', lineHeight: 1.6 }}&gt;它们共同构成了纸质流程难以规模化的原因。&lt;/Text&gt;&#10;        &lt;/Box&gt;&#10;    &lt;/Box&gt;&#10;&#10;    &lt;Box style={{ position: 'absolute', top: 104, left: 404, width: 836, flexDirection: 'row', flexWrap: 'wrap', gap: 24 }}&gt;&#10;        &lt;Box style={{ width: 406, height: 261, background: '#F0F5FC', borderRadius: 10, border: '1px solid #D6DCE5', padding: 22, flexDirection: 'column', justifyContent: 'space-between' }}&gt;&#10;            &lt;Box style={{ flexDirection: 'row', alignItems: 'center', gap: 12 }}&gt;&#10;                &lt;Box style={{ width: 32, height: 32, borderRadius: 8, background: '#E8EFF8', justifyContent: 'center', alignItems: 'center' }}&gt;&#10;                    &lt;FAIcon name='clock' style={{ fill: '#4F81BD', width: 18, height: 18 }} /&gt;&#10;                &lt;/Box&gt;&#10;                &lt;Text style={{ fontSize: 23, fontWeight: 'bold', color: '#1F497D' }}&gt;施测耗时&lt;/Text&gt;&#10;            &lt;/Box&gt;&#10;            &lt;Text style={{ fontSize: 17, color: '#4A5568', lineHeight: 1.75 }}&gt;&#10;                纸质量表厚重，单例全套施测动辄 40 分钟以上，门诊时间里很难完成一次完整基线评估。&#10;            &lt;/Text&gt;&#10;            &lt;Text style={{ fontSize: 15, color: '#8B97A8' }}&gt;效率问题&lt;/Text&gt;&#10;        &lt;/Box&gt;&#10;&#10;        &lt;Box style={{ width: 406, height: 261, background: '#F0F5FC', borderRadius: 10, border: '1px solid #D6DCE5', padding: 22, flexDirection: 'column', justifyContent: 'space-between' }}&gt;&#10;            &lt;Box style={{ flexDirection: 'row', alignItems: 'center', gap: 12 }}&gt;&#10;                &lt;Box style={{ width: 32, height: 32, borderRadius: 8, background: '#E8EFF8', justifyContent: 'center', alignItems: 'center' }}&gt;&#10;                    &lt;FAIcon name='user' style={{ fill: '#4F81BD', width: 18, height: 18 }} /&gt;&#10;                &lt;/Box&gt;&#10;                &lt;Text style={{ fontSize: 23, fontWeight: 'bold', color: '#1F497D' }}&gt;依从性差&lt;/Text&gt;&#10;            &lt;/Box&gt;&#10;            &lt;Text style={{ fontSize: 17, color: '#4A5568', lineHeight: 1.75 }}&gt;&#10;                老年受试者面对密集表格容易疲劳和抗拒，中途放弃后留下的是不完整、也无法补救的记录。&#10;            &lt;/Text&gt;&#10;            &lt;Text style={{ fontSize: 15, color: '#8B97A8' }}&gt;效率问题&lt;/Text&gt;&#10;        &lt;/Box&gt;&#10;&#10;        &lt;Box style={{ width: 406, height: 261, background: '#F0F5FC', borderRadius: 10, border: '1px solid #D6DCE5', padding: 22, flexDirection: 'column', justifyContent: 'space-between' }}&gt;&#10;            &lt;Box style={{ flexDirection: 'row', alignItems: 'center', gap: 12 }}&gt;&#10;                &lt;Box style={{ width: 32, height: 32, borderRadius: 8, background: '#E8EFF8', justifyContent: 'center', alignItems: 'center' }}&gt;&#10;                    &lt;FAIcon name='share' style={{ fill: '#4F81BD', width: 18, height: 18 }} /&gt;&#10;                &lt;/Box&gt;&#10;                &lt;Text style={{ fontSize: 23, fontWeight: 'bold', color: '#1F497D' }}&gt;协作割裂&lt;/Text&gt;&#10;            &lt;/Box&gt;&#10;            &lt;Text style={{ fontSize: 17, color: '#4A5568', lineHeight: 1.75 }}&gt;&#10;                受试者自评、家属观察、医生评定分属三方，数据分散在不同纸面，跨角色汇总只能靠人工传递。&#10;            &lt;/Text&gt;&#10;            &lt;Text style={{ fontSize: 15, color: '#8B97A8' }}&gt;效率问题&lt;/Text&gt;&#10;        &lt;/Box&gt;&#10;&#10;        &lt;Box style={{ width: 406, height: 261, background: '#F0F5FC', borderRadius: 10, border: '1px solid #D6DCE5', padding: 22, flexDirection: 'column', justifyContent: 'space-between' }}&gt;&#10;            &lt;Box style={{ flexDirection: 'row', alignItems: 'center', gap: 12 }}&gt;&#10;                &lt;Box style={{ width: 32, height: 32, borderRadius: 8, background: '#E8EFF8', justifyContent: 'center', alignItems: 'center' }}&gt;&#10;                    &lt;FAIcon name='exclamation-circle' style={{ fill: '#4F81BD', width: 18, height: 18 }} /&gt;&#10;                &lt;/Box&gt;&#10;                &lt;Text style={{ fontSize: 23, fontWeight: 'bold', color: '#1F497D' }}&gt;质控风险&lt;/Text&gt;&#10;            &lt;/Box&gt;&#10;            &lt;Text style={{ fontSize: 17, color: '#4A5568', lineHeight: 1.75 }}&gt;&#10;                未作答项在纸质流程里没有独立状态，录入时极易被当成 0 分——一个未完成的量表，就此变成一份&quot;重度损害&quot;。&#10;            &lt;/Text&gt;&#10;            &lt;Text style={{ fontSize: 15, color: '#8B97A8' }}&gt;数据质量问题&lt;/Text&gt;&#10;        &lt;/Box&gt;&#10;    &lt;/Box&gt;&#10;&#10;    &lt;Box style={{ position: 'absolute', bottom: 26, left: 40, width: 1200, flexDirection: 'row', justifyContent: 'space-between' }}&gt;&#10;        &lt;Text style={{ fontSize: 15, color: '#8B97A8' }}&gt;痛点来源：需求文档与前期纸质流程调研&lt;/Text&gt;&#10;        &lt;Text style={{ fontSize: 15, color: '#1F497D' }}&gt;05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矩形 76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62" name="矩形 761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763" name="圆角矩形 762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764" name="文本框 763" descr="{&quot;isTemplate&quot;:true,&quot;type&quot;:&quot;text&quot;}"/>
          <p:cNvSpPr txBox="1"/>
          <p:nvPr/>
        </p:nvSpPr>
        <p:spPr>
          <a:xfrm>
            <a:off x="571500" y="21907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现状的四个现实痛点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5" name="文本框 764" descr="{&quot;isTemplate&quot;:true,&quot;type&quot;:&quot;text&quot;}"/>
          <p:cNvSpPr txBox="1"/>
          <p:nvPr/>
        </p:nvSpPr>
        <p:spPr>
          <a:xfrm>
            <a:off x="10429875" y="30480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背景与问题定义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6" name="圆角矩形 765"/>
          <p:cNvSpPr/>
          <p:nvPr/>
        </p:nvSpPr>
        <p:spPr>
          <a:xfrm>
            <a:off x="381000" y="990600"/>
            <a:ext cx="3200400" cy="5200650"/>
          </a:xfrm>
          <a:prstGeom prst="roundRect">
            <a:avLst>
              <a:gd name="adj" fmla="val 3571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767" name="文本框 766" descr="{&quot;isTemplate&quot;:true,&quot;type&quot;:&quot;text&quot;}"/>
          <p:cNvSpPr txBox="1"/>
          <p:nvPr/>
        </p:nvSpPr>
        <p:spPr>
          <a:xfrm>
            <a:off x="628650" y="1238250"/>
            <a:ext cx="781050" cy="1514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9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8" name="文本框 767" descr="{&quot;isTemplate&quot;:true,&quot;type&quot;:&quot;text&quot;}"/>
          <p:cNvSpPr txBox="1"/>
          <p:nvPr/>
        </p:nvSpPr>
        <p:spPr>
          <a:xfrm>
            <a:off x="1524000" y="2324100"/>
            <a:ext cx="628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个痛点</a:t>
            </a:r>
            <a:endParaRPr lang="zh-CN" sz="1650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9" name="矩形 768"/>
          <p:cNvSpPr/>
          <p:nvPr/>
        </p:nvSpPr>
        <p:spPr>
          <a:xfrm>
            <a:off x="628650" y="3219450"/>
            <a:ext cx="495300" cy="3810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770" name="文本框 769" descr="{&quot;isTemplate&quot;:true,&quot;type&quot;:&quot;text&quot;}"/>
          <p:cNvSpPr txBox="1"/>
          <p:nvPr/>
        </p:nvSpPr>
        <p:spPr>
          <a:xfrm>
            <a:off x="628650" y="3390900"/>
            <a:ext cx="2705100" cy="1228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四条痛点分别落在施测耗时、依从性、跨端协作与数据质量四个层面。</a:t>
            </a:r>
            <a:endParaRPr lang="zh-CN" sz="157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1" name="圆角矩形 770"/>
          <p:cNvSpPr/>
          <p:nvPr/>
        </p:nvSpPr>
        <p:spPr>
          <a:xfrm>
            <a:off x="628650" y="5086350"/>
            <a:ext cx="2705100" cy="857250"/>
          </a:xfrm>
          <a:prstGeom prst="roundRect">
            <a:avLst>
              <a:gd name="adj" fmla="val 888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772" name="文本框 771" descr="{&quot;isTemplate&quot;:true,&quot;type&quot;:&quot;text&quot;}"/>
          <p:cNvSpPr txBox="1"/>
          <p:nvPr/>
        </p:nvSpPr>
        <p:spPr>
          <a:xfrm>
            <a:off x="762000" y="5219700"/>
            <a:ext cx="24384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它们共同构成了纸质流程难以规模化的原因。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3" name="圆角矩形 772"/>
          <p:cNvSpPr/>
          <p:nvPr/>
        </p:nvSpPr>
        <p:spPr>
          <a:xfrm>
            <a:off x="3848100" y="990600"/>
            <a:ext cx="3867150" cy="2486025"/>
          </a:xfrm>
          <a:prstGeom prst="roundRect">
            <a:avLst>
              <a:gd name="adj" fmla="val 383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74" name="圆角矩形 773"/>
          <p:cNvSpPr/>
          <p:nvPr/>
        </p:nvSpPr>
        <p:spPr>
          <a:xfrm>
            <a:off x="4057650" y="12001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775" name="图片 77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24325" y="1266825"/>
            <a:ext cx="171450" cy="171450"/>
          </a:xfrm>
          <a:prstGeom prst="rect">
            <a:avLst/>
          </a:prstGeom>
        </p:spPr>
      </p:pic>
      <p:sp>
        <p:nvSpPr>
          <p:cNvPr id="776" name="文本框 775" descr="{&quot;isTemplate&quot;:true,&quot;type&quot;:&quot;text&quot;}"/>
          <p:cNvSpPr txBox="1"/>
          <p:nvPr/>
        </p:nvSpPr>
        <p:spPr>
          <a:xfrm>
            <a:off x="4476750" y="1219200"/>
            <a:ext cx="876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施测耗时</a:t>
            </a:r>
            <a:endParaRPr lang="zh-CN" sz="17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7" name="文本框 776" descr="{&quot;isTemplate&quot;:true,&quot;type&quot;:&quot;text&quot;}"/>
          <p:cNvSpPr txBox="1"/>
          <p:nvPr/>
        </p:nvSpPr>
        <p:spPr>
          <a:xfrm>
            <a:off x="4057650" y="1962150"/>
            <a:ext cx="34480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纸质量表厚重，单例全套施测动辄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40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分钟以上，门诊时间里很难完成一次完整基线评估。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8" name="文本框 777" descr="{&quot;isTemplate&quot;:true,&quot;type&quot;:&quot;text&quot;}"/>
          <p:cNvSpPr txBox="1"/>
          <p:nvPr/>
        </p:nvSpPr>
        <p:spPr>
          <a:xfrm>
            <a:off x="4057650" y="3095625"/>
            <a:ext cx="3448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效率问题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9" name="圆角矩形 778"/>
          <p:cNvSpPr/>
          <p:nvPr/>
        </p:nvSpPr>
        <p:spPr>
          <a:xfrm>
            <a:off x="7943850" y="990600"/>
            <a:ext cx="3867150" cy="2486025"/>
          </a:xfrm>
          <a:prstGeom prst="roundRect">
            <a:avLst>
              <a:gd name="adj" fmla="val 383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0" name="圆角矩形 779"/>
          <p:cNvSpPr/>
          <p:nvPr/>
        </p:nvSpPr>
        <p:spPr>
          <a:xfrm>
            <a:off x="8153400" y="1200150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781" name="图片 780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0075" y="1266825"/>
            <a:ext cx="171450" cy="171450"/>
          </a:xfrm>
          <a:prstGeom prst="rect">
            <a:avLst/>
          </a:prstGeom>
        </p:spPr>
      </p:pic>
      <p:sp>
        <p:nvSpPr>
          <p:cNvPr id="782" name="文本框 781" descr="{&quot;isTemplate&quot;:true,&quot;type&quot;:&quot;text&quot;}"/>
          <p:cNvSpPr txBox="1"/>
          <p:nvPr/>
        </p:nvSpPr>
        <p:spPr>
          <a:xfrm>
            <a:off x="8572500" y="1219200"/>
            <a:ext cx="876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依从性差</a:t>
            </a:r>
            <a:endParaRPr lang="zh-CN" sz="17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3" name="文本框 782" descr="{&quot;isTemplate&quot;:true,&quot;type&quot;:&quot;text&quot;}"/>
          <p:cNvSpPr txBox="1"/>
          <p:nvPr/>
        </p:nvSpPr>
        <p:spPr>
          <a:xfrm>
            <a:off x="8153400" y="1962150"/>
            <a:ext cx="3448050" cy="685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老年受试者面对密集表格容易疲劳和抗拒，中途放弃后留下的是不完整、也无法补救的记录。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4" name="文本框 783" descr="{&quot;isTemplate&quot;:true,&quot;type&quot;:&quot;text&quot;}"/>
          <p:cNvSpPr txBox="1"/>
          <p:nvPr/>
        </p:nvSpPr>
        <p:spPr>
          <a:xfrm>
            <a:off x="8153400" y="3095625"/>
            <a:ext cx="3448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效率问题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5" name="圆角矩形 784"/>
          <p:cNvSpPr/>
          <p:nvPr/>
        </p:nvSpPr>
        <p:spPr>
          <a:xfrm>
            <a:off x="3848100" y="3705225"/>
            <a:ext cx="3867150" cy="2486025"/>
          </a:xfrm>
          <a:prstGeom prst="roundRect">
            <a:avLst>
              <a:gd name="adj" fmla="val 383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86" name="圆角矩形 785"/>
          <p:cNvSpPr/>
          <p:nvPr/>
        </p:nvSpPr>
        <p:spPr>
          <a:xfrm>
            <a:off x="4057650" y="39147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787" name="图片 78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24325" y="3981450"/>
            <a:ext cx="171450" cy="171450"/>
          </a:xfrm>
          <a:prstGeom prst="rect">
            <a:avLst/>
          </a:prstGeom>
        </p:spPr>
      </p:pic>
      <p:sp>
        <p:nvSpPr>
          <p:cNvPr id="788" name="文本框 787" descr="{&quot;isTemplate&quot;:true,&quot;type&quot;:&quot;text&quot;}"/>
          <p:cNvSpPr txBox="1"/>
          <p:nvPr/>
        </p:nvSpPr>
        <p:spPr>
          <a:xfrm>
            <a:off x="4476750" y="3933825"/>
            <a:ext cx="876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协作割裂</a:t>
            </a:r>
            <a:endParaRPr lang="zh-CN" sz="17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9" name="文本框 788" descr="{&quot;isTemplate&quot;:true,&quot;type&quot;:&quot;text&quot;}"/>
          <p:cNvSpPr txBox="1"/>
          <p:nvPr/>
        </p:nvSpPr>
        <p:spPr>
          <a:xfrm>
            <a:off x="4057650" y="4505325"/>
            <a:ext cx="34480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受试者自评、家属观察、医生评定分属三方，数据分散在不同纸面，跨角色汇总只能靠人工传递。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0" name="文本框 789" descr="{&quot;isTemplate&quot;:true,&quot;type&quot;:&quot;text&quot;}"/>
          <p:cNvSpPr txBox="1"/>
          <p:nvPr/>
        </p:nvSpPr>
        <p:spPr>
          <a:xfrm>
            <a:off x="4057650" y="5810250"/>
            <a:ext cx="3448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效率问题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1" name="圆角矩形 790"/>
          <p:cNvSpPr/>
          <p:nvPr/>
        </p:nvSpPr>
        <p:spPr>
          <a:xfrm>
            <a:off x="7943850" y="3705225"/>
            <a:ext cx="3867150" cy="2486025"/>
          </a:xfrm>
          <a:prstGeom prst="roundRect">
            <a:avLst>
              <a:gd name="adj" fmla="val 383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2" name="圆角矩形 791"/>
          <p:cNvSpPr/>
          <p:nvPr/>
        </p:nvSpPr>
        <p:spPr>
          <a:xfrm>
            <a:off x="8153400" y="3914775"/>
            <a:ext cx="304800" cy="3048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</p:spPr>
        <p:txBody>
          <a:bodyPr/>
          <a:p/>
        </p:txBody>
      </p:sp>
      <p:pic>
        <p:nvPicPr>
          <p:cNvPr id="793" name="图片 792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0075" y="3981450"/>
            <a:ext cx="171450" cy="171450"/>
          </a:xfrm>
          <a:prstGeom prst="rect">
            <a:avLst/>
          </a:prstGeom>
        </p:spPr>
      </p:pic>
      <p:sp>
        <p:nvSpPr>
          <p:cNvPr id="794" name="文本框 793" descr="{&quot;isTemplate&quot;:true,&quot;type&quot;:&quot;text&quot;}"/>
          <p:cNvSpPr txBox="1"/>
          <p:nvPr/>
        </p:nvSpPr>
        <p:spPr>
          <a:xfrm>
            <a:off x="8572500" y="3933825"/>
            <a:ext cx="8763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质控风险</a:t>
            </a:r>
            <a:endParaRPr lang="zh-CN" sz="17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5" name="文本框 794" descr="{&quot;isTemplate&quot;:true,&quot;type&quot;:&quot;text&quot;}"/>
          <p:cNvSpPr txBox="1"/>
          <p:nvPr/>
        </p:nvSpPr>
        <p:spPr>
          <a:xfrm>
            <a:off x="8153400" y="4505325"/>
            <a:ext cx="3448050" cy="1028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未作答项在纸质流程里没有独立状态，录入时极易被当成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分——一个未完成的量表，就此变成一份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重度损害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6" name="文本框 795" descr="{&quot;isTemplate&quot;:true,&quot;type&quot;:&quot;text&quot;}"/>
          <p:cNvSpPr txBox="1"/>
          <p:nvPr/>
        </p:nvSpPr>
        <p:spPr>
          <a:xfrm>
            <a:off x="8153400" y="5810250"/>
            <a:ext cx="34480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数据质量问题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7" name="文本框 796" descr="{&quot;isTemplate&quot;:true,&quot;type&quot;:&quot;text&quot;}"/>
          <p:cNvSpPr txBox="1"/>
          <p:nvPr/>
        </p:nvSpPr>
        <p:spPr>
          <a:xfrm>
            <a:off x="381000" y="6438900"/>
            <a:ext cx="2571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痛点来源：需求文档与前期纸质流程调研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9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项目目标&lt;/Text&gt;&#10;        &lt;/Box&gt;&#10;        &lt;Text style={{ fontSize: 16, color: '#9FC2E8' }}&gt;01 · 背景与问题定义&lt;/Text&gt;&#10;    &lt;/Box&gt;&#10;&#10;    &lt;Box style={{ position: 'absolute', top: 104, left: 40, width: 1200, flexDirection: 'column', gap: 14 }}&gt;&#10;        &lt;Box style={{ background: '#1F497D', borderRadius: 10, padding: 20, flexDirection: 'column', gap: 8 }}&gt;&#10;            &lt;Text style={{ fontSize: 15, color: '#9FC2E8', letterSpacing: 1 }}&gt;总目标&lt;/Text&gt;&#10;            &lt;Text style={{ fontSize: 22, color: '#FFFFFF', lineHeight: 1.5 }}&gt;把神经心理量表从&quot;纸质表格 + 人工汇总&quot;搬成&quot;对话式施测 + 自动计分 + 云端留痕&quot;，让一次完整的基线评估在普通门诊时间里也能完成。&lt;/Text&gt;&#10;        &lt;/Box&gt;&#10;&#10;        &lt;Box style={{ height: 88, background: '#F7F9FC', borderRadius: 10, border: '1px solid #D6DCE5', padding: 14, flexDirection: 'row', gap: 16, alignItems: 'center' }}&gt;&#10;            &lt;Box style={{ width: 40, height: 40, borderRadius: 20, background: '#E8EFF8', justifyContent: 'center', alignItems: 'center' }}&gt;&#10;                &lt;Text style={{ fontSize: 17, fontWeight: 'bold', color: '#1F497D' }}&gt;01&lt;/Text&gt;&#10;            &lt;/Box&gt;&#10;            &lt;Box style={{ flexDirection: 'column', gap: 4, flex: 1 }}&gt;&#10;                &lt;Text style={{ fontSize: 20, fontWeight: 'bold', color: '#1F497D' }}&gt;降低施测门槛&lt;/Text&gt;&#10;                &lt;Text style={{ fontSize: 15, color: '#4A5568', lineHeight: 1.5 }}&gt;三端按角色归属作答，对话式交互，受试者不必在专业人员全程陪同下完成&lt;/Text&gt;&#10;            &lt;/Box&gt;&#10;        &lt;/Box&gt;&#10;&#10;        &lt;Box style={{ height: 88, background: '#F7F9FC', borderRadius: 10, border: '1px solid #D6DCE5', padding: 14, flexDirection: 'row', gap: 16, alignItems: 'center' }}&gt;&#10;            &lt;Box style={{ width: 40, height: 40, borderRadius: 20, background: '#E8EFF8', justifyContent: 'center', alignItems: 'center' }}&gt;&#10;                &lt;Text style={{ fontSize: 17, fontWeight: 'bold', color: '#1F497D' }}&gt;02&lt;/Text&gt;&#10;            &lt;/Box&gt;&#10;            &lt;Box style={{ flexDirection: 'column', gap: 4, flex: 1 }}&gt;&#10;                &lt;Text style={{ fontSize: 20, fontWeight: 'bold', color: '#1F497D' }}&gt;提高数据完整性&lt;/Text&gt;&#10;                &lt;Text style={{ fontSize: 15, color: '#4A5568', lineHeight: 1.5 }}&gt;未作答有独立状态，页面、导出与研判三处判定完全一致&lt;/Text&gt;&#10;            &lt;/Box&gt;&#10;        &lt;/Box&gt;&#10;&#10;        &lt;Box style={{ height: 88, background: '#F7F9FC', borderRadius: 10, border: '1px solid #D6DCE5', padding: 14, flexDirection: 'row', gap: 16, alignItems: 'center' }}&gt;&#10;            &lt;Box style={{ width: 40, height: 40, borderRadius: 20, background: '#E8EFF8', justifyContent: 'center', alignItems: 'center' }}&gt;&#10;                &lt;Text style={{ fontSize: 17, fontWeight: 'bold', color: '#1F497D' }}&gt;03&lt;/Text&gt;&#10;            &lt;/Box&gt;&#10;            &lt;Box style={{ flexDirection: 'column', gap: 4, flex: 1 }}&gt;&#10;                &lt;Text style={{ fontSize: 20, fontWeight: 'bold', color: '#1F497D' }}&gt;打通跨端协作&lt;/Text&gt;&#10;                &lt;Text style={{ fontSize: 15, color: '#4A5568', lineHeight: 1.5 }}&gt;受试者、家属、医生共用同一份档案，数据实时同步&lt;/Text&gt;&#10;            &lt;/Box&gt;&#10;        &lt;/Box&gt;&#10;&#10;        &lt;Box style={{ height: 88, background: '#F7F9FC', borderRadius: 10, border: '1px solid #D6DCE5', padding: 14, flexDirection: 'row', gap: 16, alignItems: 'center' }}&gt;&#10;            &lt;Box style={{ width: 40, height: 40, borderRadius: 20, background: '#E8EFF8', justifyContent: 'center', alignItems: 'center' }}&gt;&#10;                &lt;Text style={{ fontSize: 17, fontWeight: 'bold', color: '#1F497D' }}&gt;04&lt;/Text&gt;&#10;            &lt;/Box&gt;&#10;            &lt;Box style={{ flexDirection: 'column', gap: 4, flex: 1 }}&gt;&#10;                &lt;Text style={{ fontSize: 20, fontWeight: 'bold', color: '#1F497D' }}&gt;辅助而非替代&lt;/Text&gt;&#10;                &lt;Text style={{ fontSize: 15, color: '#4A5568', lineHeight: 1.5 }}&gt;自动计分与 AI 研判只提供参考，结论须经医生确认后生效&lt;/Text&gt;&#10;            &lt;/Box&gt;&#10;        &lt;/Box&gt;&#10;    &lt;/Box&gt;&#10;&#10;    &lt;Box style={{ position: 'absolute', bottom: 26, left: 40, width: 1200, flexDirection: 'row', justifyContent: 'space-between' }}&gt;&#10;        &lt;Text style={{ fontSize: 15, color: '#8B97A8' }}&gt;依据：项目 README 与需求文档&lt;/Text&gt;&#10;        &lt;Text style={{ fontSize: 15, color: '#1F497D' }}&gt;06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矩形 7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01" name="矩形 800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802" name="圆角矩形 801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803" name="文本框 802" descr="{&quot;isTemplate&quot;:true,&quot;type&quot;:&quot;text&quot;}"/>
          <p:cNvSpPr txBox="1"/>
          <p:nvPr/>
        </p:nvSpPr>
        <p:spPr>
          <a:xfrm>
            <a:off x="571500" y="219075"/>
            <a:ext cx="1219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项目目标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4" name="文本框 803" descr="{&quot;isTemplate&quot;:true,&quot;type&quot;:&quot;text&quot;}"/>
          <p:cNvSpPr txBox="1"/>
          <p:nvPr/>
        </p:nvSpPr>
        <p:spPr>
          <a:xfrm>
            <a:off x="10429875" y="30480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01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背景与问题定义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5" name="圆角矩形 804"/>
          <p:cNvSpPr/>
          <p:nvPr/>
        </p:nvSpPr>
        <p:spPr>
          <a:xfrm>
            <a:off x="381000" y="990600"/>
            <a:ext cx="11430000" cy="1390650"/>
          </a:xfrm>
          <a:prstGeom prst="roundRect">
            <a:avLst>
              <a:gd name="adj" fmla="val 6849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806" name="文本框 805" descr="{&quot;isTemplate&quot;:true,&quot;type&quot;:&quot;text&quot;}"/>
          <p:cNvSpPr txBox="1"/>
          <p:nvPr/>
        </p:nvSpPr>
        <p:spPr>
          <a:xfrm>
            <a:off x="571500" y="1181100"/>
            <a:ext cx="1104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总目标</a:t>
            </a:r>
            <a:endParaRPr lang="zh-CN" sz="1125" spc="75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7" name="文本框 806" descr="{&quot;isTemplate&quot;:true,&quot;type&quot;:&quot;text&quot;}"/>
          <p:cNvSpPr txBox="1"/>
          <p:nvPr/>
        </p:nvSpPr>
        <p:spPr>
          <a:xfrm>
            <a:off x="571500" y="1428750"/>
            <a:ext cx="11049000" cy="762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把神经心理量表从</a:t>
            </a:r>
            <a:r>
              <a:rPr lang="en-US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纸质表格</a:t>
            </a:r>
            <a:r>
              <a:rPr lang="en-US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人工汇总</a:t>
            </a:r>
            <a:r>
              <a:rPr lang="en-US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搬成</a:t>
            </a:r>
            <a:r>
              <a:rPr lang="en-US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对话式施测</a:t>
            </a:r>
            <a:r>
              <a:rPr lang="en-US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自动计分</a:t>
            </a:r>
            <a:r>
              <a:rPr lang="en-US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云端留痕</a:t>
            </a:r>
            <a:r>
              <a:rPr lang="en-US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6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，让一次完整的基线评估在普通门诊时间里也能完成。</a:t>
            </a:r>
            <a:endParaRPr lang="zh-CN" sz="16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8" name="圆角矩形 807"/>
          <p:cNvSpPr/>
          <p:nvPr/>
        </p:nvSpPr>
        <p:spPr>
          <a:xfrm>
            <a:off x="381000" y="2514600"/>
            <a:ext cx="11430000" cy="838200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09" name="圆角矩形 808"/>
          <p:cNvSpPr/>
          <p:nvPr/>
        </p:nvSpPr>
        <p:spPr>
          <a:xfrm>
            <a:off x="514350" y="27432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810" name="文本框 809" descr="{&quot;isTemplate&quot;:true,&quot;type&quot;:&quot;text&quot;}"/>
          <p:cNvSpPr txBox="1"/>
          <p:nvPr/>
        </p:nvSpPr>
        <p:spPr>
          <a:xfrm>
            <a:off x="609600" y="2838450"/>
            <a:ext cx="200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1" name="文本框 810" descr="{&quot;isTemplate&quot;:true,&quot;type&quot;:&quot;text&quot;}"/>
          <p:cNvSpPr txBox="1"/>
          <p:nvPr/>
        </p:nvSpPr>
        <p:spPr>
          <a:xfrm>
            <a:off x="1047750" y="2676525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降低施测门槛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2" name="文本框 811" descr="{&quot;isTemplate&quot;:true,&quot;type&quot;:&quot;text&quot;}"/>
          <p:cNvSpPr txBox="1"/>
          <p:nvPr/>
        </p:nvSpPr>
        <p:spPr>
          <a:xfrm>
            <a:off x="1047750" y="294322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三端按角色归属作答，对话式交互，受试者不必在专业人员全程陪同下完成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3" name="圆角矩形 812"/>
          <p:cNvSpPr/>
          <p:nvPr/>
        </p:nvSpPr>
        <p:spPr>
          <a:xfrm>
            <a:off x="381000" y="3486150"/>
            <a:ext cx="11430000" cy="838200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4" name="圆角矩形 813"/>
          <p:cNvSpPr/>
          <p:nvPr/>
        </p:nvSpPr>
        <p:spPr>
          <a:xfrm>
            <a:off x="514350" y="37147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815" name="文本框 814" descr="{&quot;isTemplate&quot;:true,&quot;type&quot;:&quot;text&quot;}"/>
          <p:cNvSpPr txBox="1"/>
          <p:nvPr/>
        </p:nvSpPr>
        <p:spPr>
          <a:xfrm>
            <a:off x="609600" y="3810000"/>
            <a:ext cx="200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6" name="文本框 815" descr="{&quot;isTemplate&quot;:true,&quot;type&quot;:&quot;text&quot;}"/>
          <p:cNvSpPr txBox="1"/>
          <p:nvPr/>
        </p:nvSpPr>
        <p:spPr>
          <a:xfrm>
            <a:off x="1047750" y="3648075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提高数据完整性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7" name="文本框 816" descr="{&quot;isTemplate&quot;:true,&quot;type&quot;:&quot;text&quot;}"/>
          <p:cNvSpPr txBox="1"/>
          <p:nvPr/>
        </p:nvSpPr>
        <p:spPr>
          <a:xfrm>
            <a:off x="1047750" y="39147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未作答有独立状态，页面、导出与研判三处判定完全一致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8" name="圆角矩形 817"/>
          <p:cNvSpPr/>
          <p:nvPr/>
        </p:nvSpPr>
        <p:spPr>
          <a:xfrm>
            <a:off x="381000" y="4457700"/>
            <a:ext cx="11430000" cy="838200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9" name="圆角矩形 818"/>
          <p:cNvSpPr/>
          <p:nvPr/>
        </p:nvSpPr>
        <p:spPr>
          <a:xfrm>
            <a:off x="514350" y="46863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820" name="文本框 819" descr="{&quot;isTemplate&quot;:true,&quot;type&quot;:&quot;text&quot;}"/>
          <p:cNvSpPr txBox="1"/>
          <p:nvPr/>
        </p:nvSpPr>
        <p:spPr>
          <a:xfrm>
            <a:off x="609600" y="4781550"/>
            <a:ext cx="200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1" name="文本框 820" descr="{&quot;isTemplate&quot;:true,&quot;type&quot;:&quot;text&quot;}"/>
          <p:cNvSpPr txBox="1"/>
          <p:nvPr/>
        </p:nvSpPr>
        <p:spPr>
          <a:xfrm>
            <a:off x="1047750" y="4619625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打通跨端协作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2" name="文本框 821" descr="{&quot;isTemplate&quot;:true,&quot;type&quot;:&quot;text&quot;}"/>
          <p:cNvSpPr txBox="1"/>
          <p:nvPr/>
        </p:nvSpPr>
        <p:spPr>
          <a:xfrm>
            <a:off x="1047750" y="488632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受试者、家属、医生共用同一份档案，数据实时同步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3" name="圆角矩形 822"/>
          <p:cNvSpPr/>
          <p:nvPr/>
        </p:nvSpPr>
        <p:spPr>
          <a:xfrm>
            <a:off x="381000" y="5429250"/>
            <a:ext cx="11430000" cy="838200"/>
          </a:xfrm>
          <a:prstGeom prst="roundRect">
            <a:avLst>
              <a:gd name="adj" fmla="val 1136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24" name="圆角矩形 823"/>
          <p:cNvSpPr/>
          <p:nvPr/>
        </p:nvSpPr>
        <p:spPr>
          <a:xfrm>
            <a:off x="514350" y="56578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825" name="文本框 824" descr="{&quot;isTemplate&quot;:true,&quot;type&quot;:&quot;text&quot;}"/>
          <p:cNvSpPr txBox="1"/>
          <p:nvPr/>
        </p:nvSpPr>
        <p:spPr>
          <a:xfrm>
            <a:off x="609600" y="5753100"/>
            <a:ext cx="2000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6" name="文本框 825" descr="{&quot;isTemplate&quot;:true,&quot;type&quot;:&quot;text&quot;}"/>
          <p:cNvSpPr txBox="1"/>
          <p:nvPr/>
        </p:nvSpPr>
        <p:spPr>
          <a:xfrm>
            <a:off x="1047750" y="5591175"/>
            <a:ext cx="106299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辅助而非替代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7" name="文本框 826" descr="{&quot;isTemplate&quot;:true,&quot;type&quot;:&quot;text&quot;}"/>
          <p:cNvSpPr txBox="1"/>
          <p:nvPr/>
        </p:nvSpPr>
        <p:spPr>
          <a:xfrm>
            <a:off x="1047750" y="5857875"/>
            <a:ext cx="106299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自动计分与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研判只提供参考，结论须经医生确认后生效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8" name="文本框 827" descr="{&quot;isTemplate&quot;:true,&quot;type&quot;:&quot;text&quot;}"/>
          <p:cNvSpPr txBox="1"/>
          <p:nvPr/>
        </p:nvSpPr>
        <p:spPr>
          <a:xfrm>
            <a:off x="381000" y="6438900"/>
            <a:ext cx="21145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依据：项目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README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与需求文档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0" name="" descr="&lt;Slide style={{ width: 1280, height: 720, background: '#F7F9FC', padding: 0, position: 'relative', fontFamily: 'Microsoft YaHei' }}&gt;&#10;    &lt;Box style={{ position: 'absolute', top: 0, left: 0, width: 1280, height: 10, background: '#1F497D' }} /&gt;&#10;    &lt;Box style={{ position: 'absolute', top: 150, left: 96, width: 420 }}&gt;&#10;        &lt;Text style={{ fontSize: 210, fontWeight: 'bold', color: '#DCE7F5', lineHeight: 1 }}&gt;02&lt;/Text&gt;&#10;    &lt;/Box&gt;&#10;    &lt;Box style={{ position: 'absolute', top: 250, left: 480, width: 720, flexDirection: 'column', gap: 20 }}&gt;&#10;        &lt;Text style={{ fontSize: 52, fontWeight: 'bold', color: '#1F497D', lineHeight: 1.2 }}&gt;需求与产品设计&lt;/Text&gt;&#10;        &lt;Box style={{ width: 88, height: 6, background: '#4F81BD' }} /&gt;&#10;        &lt;Box style={{ flexDirection: 'column', gap: 14, marginTop: 14 }}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三类用户如何分权，三端为什么必须彼此独立&lt;/Text&gt;&#10;            &lt;/Box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八段主流程如何闭合成环，量表体系如何归属&lt;/Text&gt;&#10;            &lt;/Box&gt;&#10;        &lt;/Box&gt;&#10;    &lt;/Box&gt;&#10;    &lt;Box style={{ position: 'absolute', bottom: 26, left: 40, width: 1200, flexDirection: 'row', justifyContent: 'space-between' }}&gt;&#10;        &lt;Text style={{ fontSize: 15, color: '#8B97A8' }}&gt;认知障碍早期诊断临床数据采集系统&lt;/Text&gt;&#10;        &lt;Text style={{ fontSize: 15, color: '#1F497D' }}&gt;07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矩形 8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832" name="矩形 83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833" name="文本框 832" descr="{&quot;isTemplate&quot;:true,&quot;type&quot;:&quot;text&quot;}"/>
          <p:cNvSpPr txBox="1"/>
          <p:nvPr/>
        </p:nvSpPr>
        <p:spPr>
          <a:xfrm>
            <a:off x="914400" y="1428750"/>
            <a:ext cx="40005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5750" b="1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4" name="文本框 833" descr="{&quot;isTemplate&quot;:true,&quot;type&quot;:&quot;text&quot;}"/>
          <p:cNvSpPr txBox="1"/>
          <p:nvPr/>
        </p:nvSpPr>
        <p:spPr>
          <a:xfrm>
            <a:off x="4572000" y="2381250"/>
            <a:ext cx="6858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需求与产品设计</a:t>
            </a:r>
            <a:endParaRPr lang="zh-CN" sz="39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5" name="矩形 834"/>
          <p:cNvSpPr/>
          <p:nvPr/>
        </p:nvSpPr>
        <p:spPr>
          <a:xfrm>
            <a:off x="4572000" y="3286125"/>
            <a:ext cx="838200" cy="571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840" name="文本框 839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2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三类用户与三端定位&lt;/Text&gt;&#10;        &lt;/Box&gt;&#10;        &lt;Text style={{ fontSize: 16, color: '#9FC2E8' }}&gt;02 · 需求与产品设计&lt;/Text&gt;&#10;    &lt;/Box&gt;&#10;&#10;    &lt;Box style={{ position: 'absolute', top: 100, left: 40, width: 1200, height: 405, borderRadius: 10, border: '1px solid #D6DCE5', overflow: 'hidden' }}&gt;&#10;        &lt;Image src='assets/portal.png' style={{ width: 1200, height: 405, objectFit: 'cover' }} /&gt;&#10;    &lt;/Box&gt;&#10;&#10;    &lt;Box style={{ position: 'absolute', top: 511, left: 40, width: 1200, height: 28, flexDirection: 'row', alignItems: 'center', justifyContent: 'space-between' }}&gt;&#10;        &lt;Text style={{ fontSize: 16, color: '#4F81BD', fontWeight: 'bold' }}&gt;运行实拍：公共分发入口只显示三个通道，页面上不出现任何受试者信息&lt;/Text&gt;&#10;        &lt;Text style={{ fontSize: 15, color: '#8B97A8' }}&gt;三端页面、导航与工作流彼此独立&lt;/Text&gt;&#10;    &lt;/Box&gt;&#10;&#10;    &lt;Box style={{ position: 'absolute', top: 548, left: 40, width: 1200, height: 120, flexDirection: 'row', gap: 12 }}&gt;&#10;        &lt;Box style={{ flex: 1, background: '#F0F5FC', borderRadius: 10, border: '1px solid #4F81BD', padding: 12, flexDirection: 'column', gap: 4 }}&gt;&#10;            &lt;Box style={{ flexDirection: 'row', alignItems: 'center', gap: 8 }}&gt;&#10;                &lt;FAIcon name='user' style={{ fill: '#1F497D', width: 18, height: 18 }} /&gt;&#10;                &lt;Text style={{ fontSize: 20, fontWeight: 'bold', color: '#1F497D' }}&gt;受试者端&lt;/Text&gt;&#10;            &lt;/Box&gt;&#10;            &lt;Text style={{ fontSize: 13, color: '#8B97A8' }}&gt;当前受试者本人&lt;/Text&gt;&#10;            &lt;Text style={{ fontSize: 13, color: '#4A5568', lineHeight: 1.45 }}&gt;确认本人档案 → SCD-Q9 自评 → 本人可见摘要；不可切换到其他端&lt;/Text&gt;&#10;        &lt;/Box&gt;&#10;        &lt;Box style={{ flex: 1, background: '#F0F5FC', borderRadius: 10, border: '1px solid #4F81BD', padding: 12, flexDirection: 'column', gap: 4 }}&gt;&#10;            &lt;Box style={{ flexDirection: 'row', alignItems: 'center', gap: 8 }}&gt;&#10;                &lt;FAIcon name='users' style={{ fill: '#1F497D', width: 18, height: 18 }} /&gt;&#10;                &lt;Text style={{ fontSize: 20, fontWeight: 'bold', color: '#1F497D' }}&gt;家属端&lt;/Text&gt;&#10;            &lt;/Box&gt;&#10;            &lt;Text style={{ fontSize: 13, color: '#8B97A8' }}&gt;知情家属 / 照护者&lt;/Text&gt;&#10;            &lt;Text style={{ fontSize: 13, color: '#4A5568', lineHeight: 1.45 }}&gt;绑定受试者 → 确认关系 → FAQ / NPI / CDR 观察项；本次会话锁定该受试者&lt;/Text&gt;&#10;        &lt;/Box&gt;&#10;        &lt;Box style={{ flex: 1, background: '#E8EFF8', borderRadius: 10, border: '2px solid #1F497D', padding: 12, flexDirection: 'column', gap: 4 }}&gt;&#10;            &lt;Box style={{ flexDirection: 'row', alignItems: 'center', gap: 8 }}&gt;&#10;                &lt;FAIcon name='briefcase' style={{ fill: '#1F497D', width: 18, height: 18 }} /&gt;&#10;                &lt;Text style={{ fontSize: 20, fontWeight: 'bold', color: '#1F497D' }}&gt;医生工作台&lt;/Text&gt;&#10;            &lt;/Box&gt;&#10;            &lt;Text style={{ fontSize: 13, color: '#8B97A8' }}&gt;医生 / 研究人员&lt;/Text&gt;&#10;            &lt;Text style={{ fontSize: 13, color: '#1A2230', lineHeight: 1.45 }}&gt;管理队列 → 选受试者 → 量表 / 文档 / AI 研判 / 审核签字 / 导出；未选人不得进入&lt;/Text&gt;&#10;        &lt;/Box&gt;&#10;    &lt;/Box&gt;&#10;&#10;    &lt;Box style={{ position: 'absolute', bottom: 22, left: 40, width: 1200, flexDirection: 'row', justifyContent: 'space-between' }}&gt;&#10;        &lt;Text style={{ fontSize: 15, color: '#8B97A8' }}&gt;截图取自本地运行实例；依据：三端业务流程定稿&lt;/Text&gt;&#10;        &lt;Text style={{ fontSize: 15, color: '#1F497D' }}&gt;08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矩形 8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44" name="矩形 843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845" name="圆角矩形 844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846" name="文本框 845" descr="{&quot;isTemplate&quot;:true,&quot;type&quot;:&quot;text&quot;}"/>
          <p:cNvSpPr txBox="1"/>
          <p:nvPr/>
        </p:nvSpPr>
        <p:spPr>
          <a:xfrm>
            <a:off x="571500" y="21907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三类用户与三端定位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7" name="文本框 846" descr="{&quot;isTemplate&quot;:true,&quot;type&quot;:&quot;text&quot;}"/>
          <p:cNvSpPr txBox="1"/>
          <p:nvPr/>
        </p:nvSpPr>
        <p:spPr>
          <a:xfrm>
            <a:off x="10429875" y="30480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需求与产品设计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8" name="圆角矩形 847"/>
          <p:cNvSpPr/>
          <p:nvPr/>
        </p:nvSpPr>
        <p:spPr>
          <a:xfrm>
            <a:off x="381000" y="952500"/>
            <a:ext cx="11430000" cy="3857625"/>
          </a:xfrm>
          <a:prstGeom prst="roundRect">
            <a:avLst>
              <a:gd name="adj" fmla="val 246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49" name="图片 848"/>
          <p:cNvPicPr>
            <a:picLocks noChangeAspect="1"/>
          </p:cNvPicPr>
          <p:nvPr/>
        </p:nvPicPr>
        <p:blipFill>
          <a:blip r:embed="rId1"/>
          <a:srcRect l="14" r="14"/>
          <a:stretch>
            <a:fillRect/>
          </a:stretch>
        </p:blipFill>
        <p:spPr>
          <a:xfrm>
            <a:off x="381000" y="952500"/>
            <a:ext cx="11430000" cy="3857625"/>
          </a:xfrm>
          <a:custGeom>
            <a:avLst/>
            <a:gdLst/>
            <a:ahLst/>
            <a:cxnLst/>
            <a:pathLst>
              <a:path w="1200" h="405">
                <a:moveTo>
                  <a:pt x="1190" y="0"/>
                </a:moveTo>
                <a:cubicBezTo>
                  <a:pt x="1196" y="0"/>
                  <a:pt x="1200" y="5"/>
                  <a:pt x="1200" y="10"/>
                </a:cubicBezTo>
                <a:lnTo>
                  <a:pt x="1200" y="395"/>
                </a:lnTo>
                <a:cubicBezTo>
                  <a:pt x="1200" y="401"/>
                  <a:pt x="1196" y="405"/>
                  <a:pt x="1190" y="405"/>
                </a:cubicBezTo>
                <a:lnTo>
                  <a:pt x="10" y="405"/>
                </a:lnTo>
                <a:cubicBezTo>
                  <a:pt x="4" y="405"/>
                  <a:pt x="0" y="401"/>
                  <a:pt x="0" y="395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190" y="0"/>
                </a:lnTo>
                <a:close/>
              </a:path>
            </a:pathLst>
          </a:custGeom>
        </p:spPr>
      </p:pic>
      <p:sp>
        <p:nvSpPr>
          <p:cNvPr id="850" name="文本框 849" descr="{&quot;isTemplate&quot;:true,&quot;type&quot;:&quot;text&quot;}"/>
          <p:cNvSpPr txBox="1"/>
          <p:nvPr/>
        </p:nvSpPr>
        <p:spPr>
          <a:xfrm>
            <a:off x="381000" y="4905375"/>
            <a:ext cx="487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运行实拍：公共分发入口只显示三个通道，页面上不出现任何受试者信息</a:t>
            </a:r>
            <a:endParaRPr lang="zh-CN" sz="12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1" name="文本框 850" descr="{&quot;isTemplate&quot;:true,&quot;type&quot;:&quot;text&quot;}"/>
          <p:cNvSpPr txBox="1"/>
          <p:nvPr/>
        </p:nvSpPr>
        <p:spPr>
          <a:xfrm>
            <a:off x="9667875" y="4914900"/>
            <a:ext cx="2143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三端页面、导航与工作流彼此独立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2" name="圆角矩形 851"/>
          <p:cNvSpPr/>
          <p:nvPr/>
        </p:nvSpPr>
        <p:spPr>
          <a:xfrm>
            <a:off x="381000" y="5219700"/>
            <a:ext cx="3733800" cy="114300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pic>
        <p:nvPicPr>
          <p:cNvPr id="853" name="图片 85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" y="5362575"/>
            <a:ext cx="171450" cy="171450"/>
          </a:xfrm>
          <a:prstGeom prst="rect">
            <a:avLst/>
          </a:prstGeom>
        </p:spPr>
      </p:pic>
      <p:sp>
        <p:nvSpPr>
          <p:cNvPr id="854" name="文本框 853" descr="{&quot;isTemplate&quot;:true,&quot;type&quot;:&quot;text&quot;}"/>
          <p:cNvSpPr txBox="1"/>
          <p:nvPr/>
        </p:nvSpPr>
        <p:spPr>
          <a:xfrm>
            <a:off x="742950" y="5334000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受试者端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5" name="文本框 854" descr="{&quot;isTemplate&quot;:true,&quot;type&quot;:&quot;text&quot;}"/>
          <p:cNvSpPr txBox="1"/>
          <p:nvPr/>
        </p:nvSpPr>
        <p:spPr>
          <a:xfrm>
            <a:off x="495300" y="5600700"/>
            <a:ext cx="3505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当前受试者本人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6" name="文本框 855" descr="{&quot;isTemplate&quot;:true,&quot;type&quot;:&quot;text&quot;}"/>
          <p:cNvSpPr txBox="1"/>
          <p:nvPr/>
        </p:nvSpPr>
        <p:spPr>
          <a:xfrm>
            <a:off x="495300" y="5791200"/>
            <a:ext cx="35052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确认本人档案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SCD-Q9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自评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本人可见摘要；不可切换到其他端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7" name="圆角矩形 856"/>
          <p:cNvSpPr/>
          <p:nvPr/>
        </p:nvSpPr>
        <p:spPr>
          <a:xfrm>
            <a:off x="4229100" y="5219700"/>
            <a:ext cx="3733800" cy="1143000"/>
          </a:xfrm>
          <a:prstGeom prst="roundRect">
            <a:avLst>
              <a:gd name="adj" fmla="val 8333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pic>
        <p:nvPicPr>
          <p:cNvPr id="858" name="图片 857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5362575"/>
            <a:ext cx="171450" cy="171450"/>
          </a:xfrm>
          <a:prstGeom prst="rect">
            <a:avLst/>
          </a:prstGeom>
        </p:spPr>
      </p:pic>
      <p:sp>
        <p:nvSpPr>
          <p:cNvPr id="859" name="文本框 858" descr="{&quot;isTemplate&quot;:true,&quot;type&quot;:&quot;text&quot;}"/>
          <p:cNvSpPr txBox="1"/>
          <p:nvPr/>
        </p:nvSpPr>
        <p:spPr>
          <a:xfrm>
            <a:off x="4591050" y="5334000"/>
            <a:ext cx="571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家属端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0" name="文本框 859" descr="{&quot;isTemplate&quot;:true,&quot;type&quot;:&quot;text&quot;}"/>
          <p:cNvSpPr txBox="1"/>
          <p:nvPr/>
        </p:nvSpPr>
        <p:spPr>
          <a:xfrm>
            <a:off x="4343400" y="5600700"/>
            <a:ext cx="3505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知情家属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照护者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1" name="文本框 860" descr="{&quot;isTemplate&quot;:true,&quot;type&quot;:&quot;text&quot;}"/>
          <p:cNvSpPr txBox="1"/>
          <p:nvPr/>
        </p:nvSpPr>
        <p:spPr>
          <a:xfrm>
            <a:off x="4343400" y="5791200"/>
            <a:ext cx="35052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绑定受试者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确认关系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FAQ / NPI / CDR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观察项；本次会话锁定该受试者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2" name="圆角矩形 861"/>
          <p:cNvSpPr/>
          <p:nvPr/>
        </p:nvSpPr>
        <p:spPr>
          <a:xfrm>
            <a:off x="8077200" y="5219700"/>
            <a:ext cx="3733800" cy="1143000"/>
          </a:xfrm>
          <a:prstGeom prst="roundRect">
            <a:avLst>
              <a:gd name="adj" fmla="val 8333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pic>
        <p:nvPicPr>
          <p:cNvPr id="863" name="图片 86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5362575"/>
            <a:ext cx="171450" cy="171450"/>
          </a:xfrm>
          <a:prstGeom prst="rect">
            <a:avLst/>
          </a:prstGeom>
        </p:spPr>
      </p:pic>
      <p:sp>
        <p:nvSpPr>
          <p:cNvPr id="864" name="文本框 863" descr="{&quot;isTemplate&quot;:true,&quot;type&quot;:&quot;text&quot;}"/>
          <p:cNvSpPr txBox="1"/>
          <p:nvPr/>
        </p:nvSpPr>
        <p:spPr>
          <a:xfrm>
            <a:off x="8439150" y="5334000"/>
            <a:ext cx="952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医生工作台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5" name="文本框 864" descr="{&quot;isTemplate&quot;:true,&quot;type&quot;:&quot;text&quot;}"/>
          <p:cNvSpPr txBox="1"/>
          <p:nvPr/>
        </p:nvSpPr>
        <p:spPr>
          <a:xfrm>
            <a:off x="8191500" y="5600700"/>
            <a:ext cx="35052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医生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研究人员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6" name="文本框 865" descr="{&quot;isTemplate&quot;:true,&quot;type&quot;:&quot;text&quot;}"/>
          <p:cNvSpPr txBox="1"/>
          <p:nvPr/>
        </p:nvSpPr>
        <p:spPr>
          <a:xfrm>
            <a:off x="8191500" y="5791200"/>
            <a:ext cx="350520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管理队列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选受试者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量表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AI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研判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审核签字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导出；未选人不得进入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7" name="文本框 866" descr="{&quot;isTemplate&quot;:true,&quot;type&quot;:&quot;text&quot;}"/>
          <p:cNvSpPr txBox="1"/>
          <p:nvPr/>
        </p:nvSpPr>
        <p:spPr>
          <a:xfrm>
            <a:off x="381000" y="6477000"/>
            <a:ext cx="3143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截图取自本地运行实例；依据：三端业务流程定稿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69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四条核心设计理念&lt;/Text&gt;&#10;        &lt;/Box&gt;&#10;        &lt;Text style={{ fontSize: 16, color: '#9FC2E8' }}&gt;02 · 需求与产品设计&lt;/Text&gt;&#10;    &lt;/Box&gt;&#10;&#10;    &lt;Box style={{ position: 'absolute', top: 104, left: 40, width: 588, flexDirection: 'column', gap: 12 }}&gt;&#10;        &lt;Box style={{ height: 132, background: '#F0F5FC', borderRadius: 10, border: '1px solid #D6DCE5', padding: 15, flexDirection: 'row', gap: 14 }}&gt;&#10;            &lt;Box style={{ width: 36, height: 36, borderRadius: 10, background: '#1F497D', justifyContent: 'center', alignItems: 'center' }}&gt;&#10;                &lt;Text style={{ fontSize: 19, fontWeight: 'bold', color: '#FFFFFF' }}&gt;1&lt;/Text&gt;&#10;            &lt;/Box&gt;&#10;            &lt;Box style={{ flexDirection: 'column', gap: 6, flex: 1 }}&gt;&#10;                &lt;Text style={{ fontSize: 20, fontWeight: 'bold', color: '#1F497D' }}&gt;去表格化：把&quot;填表&quot;变成对话&lt;/Text&gt;&#10;                &lt;Text style={{ fontSize: 14, color: '#4A5568', lineHeight: 1.6 }}&gt;&#10;                    左侧提问气泡、右侧回答记录、下方大按钮组；决策树驱动，选&quot;无高血压&quot;就自动跳过后续用药问题。&#10;                &lt;/Text&gt;&#10;            &lt;/Box&gt;&#10;        &lt;/Box&gt;&#10;        &lt;Box style={{ height: 132, background: '#F0F5FC', borderRadius: 10, border: '1px solid #D6DCE5', padding: 15, flexDirection: 'row', gap: 14 }}&gt;&#10;            &lt;Box style={{ width: 36, height: 36, borderRadius: 10, background: '#1F497D', justifyContent: 'center', alignItems: 'center' }}&gt;&#10;                &lt;Text style={{ fontSize: 19, fontWeight: 'bold', color: '#FFFFFF' }}&gt;2&lt;/Text&gt;&#10;            &lt;/Box&gt;&#10;            &lt;Box style={{ flexDirection: 'column', gap: 6, flex: 1 }}&gt;&#10;                &lt;Text style={{ fontSize: 20, fontWeight: 'bold', color: '#1F497D' }}&gt;适老化：为老年受试者而设计&lt;/Text&gt;&#10;                &lt;Text style={{ fontSize: 14, color: '#4A5568', lineHeight: 1.6 }}&gt;&#10;                    大按钮、大字号、高对比、防误触；每题支持语音朗读；动效在系统偏好降低动画时自动关闭。&#10;                &lt;/Text&gt;&#10;            &lt;/Box&gt;&#10;        &lt;/Box&gt;&#10;        &lt;Box style={{ height: 132, background: '#F0F5FC', borderRadius: 10, border: '1px solid #D6DCE5', padding: 15, flexDirection: 'row', gap: 14 }}&gt;&#10;            &lt;Box style={{ width: 36, height: 36, borderRadius: 10, background: '#1F497D', justifyContent: 'center', alignItems: 'center' }}&gt;&#10;                &lt;Text style={{ fontSize: 19, fontWeight: 'bold', color: '#FFFFFF' }}&gt;3&lt;/Text&gt;&#10;            &lt;/Box&gt;&#10;            &lt;Box style={{ flexDirection: 'column', gap: 6, flex: 1 }}&gt;&#10;                &lt;Text style={{ fontSize: 20, fontWeight: 'bold', color: '#1F497D' }}&gt;离线优先 + 云端可选&lt;/Text&gt;&#10;                &lt;Text style={{ fontSize: 14, color: '#4A5568', lineHeight: 1.6 }}&gt;&#10;                    病房网络不稳，每答一题即落本地草稿，断网可填、重进续聊；联网后同步至云端，也可从云端拉回。&#10;                &lt;/Text&gt;&#10;            &lt;/Box&gt;&#10;        &lt;/Box&gt;&#10;        &lt;Box style={{ height: 132, background: '#F0F5FC', borderRadius: 10, border: '1px solid #D6DCE5', padding: 15, flexDirection: 'row', gap: 14 }}&gt;&#10;            &lt;Box style={{ width: 36, height: 36, borderRadius: 10, background: '#1F497D', justifyContent: 'center', alignItems: 'center' }}&gt;&#10;                &lt;Text style={{ fontSize: 19, fontWeight: 'bold', color: '#FFFFFF' }}&gt;4&lt;/Text&gt;&#10;            &lt;/Box&gt;&#10;            &lt;Box style={{ flexDirection: 'column', gap: 6, flex: 1 }}&gt;&#10;                &lt;Text style={{ fontSize: 20, fontWeight: 'bold', color: '#1F497D' }}&gt;智能辅助，但不越权&lt;/Text&gt;&#10;                &lt;Text style={{ fontSize: 14, color: '#4A5568', lineHeight: 1.6 }}&gt;&#10;                    完成后自动计分，输出总分、各维度小计与红黄绿灯分级；受试者侧只给泛化完成提示，不下诊断结论。&#10;                &lt;/Text&gt;&#10;            &lt;/Box&gt;&#10;        &lt;/Box&gt;&#10;    &lt;/Box&gt;&#10;&#10;    &lt;Box style={{ position: 'absolute', top: 104, left: 680, width: 560, height: 521, borderRadius: 10, border: '1px solid #D6DCE5', overflow: 'hidden' }}&gt;&#10;        &lt;Image src='assets/patient_portal.png' style={{ width: 560, height: 521, objectFit: 'cover' }} /&gt;&#10;    &lt;/Box&gt;&#10;&#10;    &lt;Box style={{ position: 'absolute', top: 633, left: 680, width: 560, height: 26, flexDirection: 'row', alignItems: 'center' }}&gt;&#10;        &lt;Text style={{ fontSize: 14, color: '#4F81BD', fontWeight: 'bold' }}&gt;受试者端实拍：整屏一道题干 + 两个大按钮 + 语音读题&lt;/Text&gt;&#10;    &lt;/Box&gt;&#10;&#10;    &lt;Box style={{ position: 'absolute', bottom: 22, left: 40, width: 1200, flexDirection: 'row', justifyContent: 'space-between' }}&gt;&#10;        &lt;Text style={{ fontSize: 15, color: '#8B97A8' }}&gt;截图取自本地运行实例；依据：需求文档设计理念与三端业务流程定稿&lt;/Text&gt;&#10;        &lt;Text style={{ fontSize: 15, color: '#1F497D' }}&gt;09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矩形 8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71" name="矩形 870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872" name="圆角矩形 871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873" name="文本框 872" descr="{&quot;isTemplate&quot;:true,&quot;type&quot;:&quot;text&quot;}"/>
          <p:cNvSpPr txBox="1"/>
          <p:nvPr/>
        </p:nvSpPr>
        <p:spPr>
          <a:xfrm>
            <a:off x="571500" y="219075"/>
            <a:ext cx="2438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四条核心设计理念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4" name="文本框 873" descr="{&quot;isTemplate&quot;:true,&quot;type&quot;:&quot;text&quot;}"/>
          <p:cNvSpPr txBox="1"/>
          <p:nvPr/>
        </p:nvSpPr>
        <p:spPr>
          <a:xfrm>
            <a:off x="10429875" y="30480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需求与产品设计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5" name="圆角矩形 874"/>
          <p:cNvSpPr/>
          <p:nvPr/>
        </p:nvSpPr>
        <p:spPr>
          <a:xfrm>
            <a:off x="381000" y="990600"/>
            <a:ext cx="5600700" cy="1257300"/>
          </a:xfrm>
          <a:prstGeom prst="roundRect">
            <a:avLst>
              <a:gd name="adj" fmla="val 757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76" name="圆角矩形 875"/>
          <p:cNvSpPr/>
          <p:nvPr/>
        </p:nvSpPr>
        <p:spPr>
          <a:xfrm>
            <a:off x="523875" y="11334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877" name="文本框 876" descr="{&quot;isTemplate&quot;:true,&quot;type&quot;:&quot;text&quot;}"/>
          <p:cNvSpPr txBox="1"/>
          <p:nvPr/>
        </p:nvSpPr>
        <p:spPr>
          <a:xfrm>
            <a:off x="638175" y="1200150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8" name="文本框 877" descr="{&quot;isTemplate&quot;:true,&quot;type&quot;:&quot;text&quot;}"/>
          <p:cNvSpPr txBox="1"/>
          <p:nvPr/>
        </p:nvSpPr>
        <p:spPr>
          <a:xfrm>
            <a:off x="1000125" y="1133475"/>
            <a:ext cx="4838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去表格化：把</a:t>
            </a:r>
            <a:r>
              <a:rPr lang="en-US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填表</a:t>
            </a:r>
            <a:r>
              <a:rPr lang="en-US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变成对话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9" name="文本框 878" descr="{&quot;isTemplate&quot;:true,&quot;type&quot;:&quot;text&quot;}"/>
          <p:cNvSpPr txBox="1"/>
          <p:nvPr/>
        </p:nvSpPr>
        <p:spPr>
          <a:xfrm>
            <a:off x="1000125" y="1419225"/>
            <a:ext cx="48387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左侧提问气泡、右侧回答记录、下方大按钮组；决策树驱动，选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无高血压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就自动跳过后续用药问题。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0" name="圆角矩形 879"/>
          <p:cNvSpPr/>
          <p:nvPr/>
        </p:nvSpPr>
        <p:spPr>
          <a:xfrm>
            <a:off x="381000" y="2362200"/>
            <a:ext cx="5600700" cy="1257300"/>
          </a:xfrm>
          <a:prstGeom prst="roundRect">
            <a:avLst>
              <a:gd name="adj" fmla="val 757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81" name="圆角矩形 880"/>
          <p:cNvSpPr/>
          <p:nvPr/>
        </p:nvSpPr>
        <p:spPr>
          <a:xfrm>
            <a:off x="523875" y="25050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882" name="文本框 881" descr="{&quot;isTemplate&quot;:true,&quot;type&quot;:&quot;text&quot;}"/>
          <p:cNvSpPr txBox="1"/>
          <p:nvPr/>
        </p:nvSpPr>
        <p:spPr>
          <a:xfrm>
            <a:off x="638175" y="2571750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3" name="文本框 882" descr="{&quot;isTemplate&quot;:true,&quot;type&quot;:&quot;text&quot;}"/>
          <p:cNvSpPr txBox="1"/>
          <p:nvPr/>
        </p:nvSpPr>
        <p:spPr>
          <a:xfrm>
            <a:off x="1000125" y="2505075"/>
            <a:ext cx="4838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适老化：为老年受试者而设计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4" name="文本框 883" descr="{&quot;isTemplate&quot;:true,&quot;type&quot;:&quot;text&quot;}"/>
          <p:cNvSpPr txBox="1"/>
          <p:nvPr/>
        </p:nvSpPr>
        <p:spPr>
          <a:xfrm>
            <a:off x="1000125" y="2790825"/>
            <a:ext cx="48387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大按钮、大字号、高对比、防误触；每题支持语音朗读；动效在系统偏好降低动画时自动关闭。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5" name="圆角矩形 884"/>
          <p:cNvSpPr/>
          <p:nvPr/>
        </p:nvSpPr>
        <p:spPr>
          <a:xfrm>
            <a:off x="381000" y="3733800"/>
            <a:ext cx="5600700" cy="1257300"/>
          </a:xfrm>
          <a:prstGeom prst="roundRect">
            <a:avLst>
              <a:gd name="adj" fmla="val 757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86" name="圆角矩形 885"/>
          <p:cNvSpPr/>
          <p:nvPr/>
        </p:nvSpPr>
        <p:spPr>
          <a:xfrm>
            <a:off x="523875" y="38766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887" name="文本框 886" descr="{&quot;isTemplate&quot;:true,&quot;type&quot;:&quot;text&quot;}"/>
          <p:cNvSpPr txBox="1"/>
          <p:nvPr/>
        </p:nvSpPr>
        <p:spPr>
          <a:xfrm>
            <a:off x="638175" y="3943350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8" name="文本框 887" descr="{&quot;isTemplate&quot;:true,&quot;type&quot;:&quot;text&quot;}"/>
          <p:cNvSpPr txBox="1"/>
          <p:nvPr/>
        </p:nvSpPr>
        <p:spPr>
          <a:xfrm>
            <a:off x="1000125" y="3876675"/>
            <a:ext cx="4838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离线优先</a:t>
            </a:r>
            <a:r>
              <a:rPr lang="en-US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云端可选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9" name="文本框 888" descr="{&quot;isTemplate&quot;:true,&quot;type&quot;:&quot;text&quot;}"/>
          <p:cNvSpPr txBox="1"/>
          <p:nvPr/>
        </p:nvSpPr>
        <p:spPr>
          <a:xfrm>
            <a:off x="1000125" y="4162425"/>
            <a:ext cx="48387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病房网络不稳，每答一题即落本地草稿，断网可填、重进续聊；联网后同步至云端，也可从云端拉回。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0" name="圆角矩形 889"/>
          <p:cNvSpPr/>
          <p:nvPr/>
        </p:nvSpPr>
        <p:spPr>
          <a:xfrm>
            <a:off x="381000" y="5105400"/>
            <a:ext cx="5600700" cy="1257300"/>
          </a:xfrm>
          <a:prstGeom prst="roundRect">
            <a:avLst>
              <a:gd name="adj" fmla="val 757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91" name="圆角矩形 890"/>
          <p:cNvSpPr/>
          <p:nvPr/>
        </p:nvSpPr>
        <p:spPr>
          <a:xfrm>
            <a:off x="523875" y="524827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892" name="文本框 891" descr="{&quot;isTemplate&quot;:true,&quot;type&quot;:&quot;text&quot;}"/>
          <p:cNvSpPr txBox="1"/>
          <p:nvPr/>
        </p:nvSpPr>
        <p:spPr>
          <a:xfrm>
            <a:off x="638175" y="5314950"/>
            <a:ext cx="1143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3" name="文本框 892" descr="{&quot;isTemplate&quot;:true,&quot;type&quot;:&quot;text&quot;}"/>
          <p:cNvSpPr txBox="1"/>
          <p:nvPr/>
        </p:nvSpPr>
        <p:spPr>
          <a:xfrm>
            <a:off x="1000125" y="5248275"/>
            <a:ext cx="4838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智能辅助，但不越权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4" name="文本框 893" descr="{&quot;isTemplate&quot;:true,&quot;type&quot;:&quot;text&quot;}"/>
          <p:cNvSpPr txBox="1"/>
          <p:nvPr/>
        </p:nvSpPr>
        <p:spPr>
          <a:xfrm>
            <a:off x="1000125" y="5534025"/>
            <a:ext cx="4838700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完成后自动计分，输出总分、各维度小计与红黄绿灯分级；受试者侧只给泛化完成提示，不下诊断结论。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5" name="圆角矩形 894"/>
          <p:cNvSpPr/>
          <p:nvPr/>
        </p:nvSpPr>
        <p:spPr>
          <a:xfrm>
            <a:off x="6477000" y="990600"/>
            <a:ext cx="5334000" cy="4962525"/>
          </a:xfrm>
          <a:prstGeom prst="roundRect">
            <a:avLst>
              <a:gd name="adj" fmla="val 191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896" name="图片 8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7000" y="990600"/>
            <a:ext cx="5334000" cy="4962525"/>
          </a:xfrm>
          <a:custGeom>
            <a:avLst/>
            <a:gdLst/>
            <a:ahLst/>
            <a:cxnLst/>
            <a:pathLst>
              <a:path w="560" h="521">
                <a:moveTo>
                  <a:pt x="550" y="0"/>
                </a:moveTo>
                <a:cubicBezTo>
                  <a:pt x="556" y="0"/>
                  <a:pt x="560" y="5"/>
                  <a:pt x="560" y="10"/>
                </a:cubicBezTo>
                <a:lnTo>
                  <a:pt x="560" y="511"/>
                </a:lnTo>
                <a:cubicBezTo>
                  <a:pt x="560" y="517"/>
                  <a:pt x="556" y="521"/>
                  <a:pt x="550" y="521"/>
                </a:cubicBezTo>
                <a:lnTo>
                  <a:pt x="10" y="521"/>
                </a:lnTo>
                <a:cubicBezTo>
                  <a:pt x="4" y="521"/>
                  <a:pt x="0" y="517"/>
                  <a:pt x="0" y="511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550" y="0"/>
                </a:lnTo>
                <a:close/>
              </a:path>
            </a:pathLst>
          </a:custGeom>
        </p:spPr>
      </p:pic>
      <p:sp>
        <p:nvSpPr>
          <p:cNvPr id="897" name="文本框 896" descr="{&quot;isTemplate&quot;:true,&quot;type&quot;:&quot;text&quot;}"/>
          <p:cNvSpPr txBox="1"/>
          <p:nvPr/>
        </p:nvSpPr>
        <p:spPr>
          <a:xfrm>
            <a:off x="6477000" y="6076950"/>
            <a:ext cx="32956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受试者端实拍：整屏一道题干</a:t>
            </a: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两个大按钮</a:t>
            </a: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语音读题</a:t>
            </a:r>
            <a:endParaRPr lang="zh-CN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8" name="文本框 897" descr="{&quot;isTemplate&quot;:true,&quot;type&quot;:&quot;text&quot;}"/>
          <p:cNvSpPr txBox="1"/>
          <p:nvPr/>
        </p:nvSpPr>
        <p:spPr>
          <a:xfrm>
            <a:off x="381000" y="6477000"/>
            <a:ext cx="4429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截图取自本地运行实例；依据：需求文档设计理念与三端业务流程定稿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 descr="&lt;Slide style={{ width: 1280, height: 720, background: '#FFFFFF', padding: 0, position: 'relative', fontFamily: 'Microsoft YaHei' }}&gt;&#13;&#10;    &lt;Box style={{ position: 'absolute', top: 0, left: 0, width: 1280, height: 84, background: '#1F497D' }} /&gt;&#13;&#10;    &lt;Box style={{ position: 'absolute', top: 0, left: 0, width: 1280, height: 84, flexDirection: 'row', alignItems: 'center', justifyContent: 'space-between', paddingLeft: 40, paddingRight: 40 }}&gt;&#13;&#10;        &lt;Box style={{ flexDirection: 'row', alignItems: 'center', gap: 14 }}&gt;&#13;&#10;            &lt;Box style={{ width: 6, height: 34, background: '#4F81BD', borderRadius: 3 }} /&gt;&#13;&#10;            &lt;Text style={{ fontSize: 32, fontWeight: 'bold', color: '#FFFFFF' }}&gt;业务主流程：八段闭环&lt;/Text&gt;&#13;&#10;        &lt;/Box&gt;&#13;&#10;        &lt;Text style={{ fontSize: 16, color: '#9FC2E8' }}&gt;02 · 需求与产品设计&lt;/Text&gt;&#13;&#10;    &lt;/Box&gt;&#13;&#10;&#13;&#10;    &lt;Box style={{ position: 'absolute', top: 104, left: 40, width: 724, background: '#F7F9FC', borderRadius: 12, border: '1px solid #D6DCE5', padding: 20, flexDirection: 'column', gap: 10 }}&gt;&#13;&#10;        &lt;Text style={{ fontSize: 17, color: '#4F81BD', fontWeight: 'bold' }}&gt;采集与计算&lt;/Text&gt;&#13;&#10;        &lt;Box style={{ flexDirection: 'row', gap: 12 }}&gt;&#13;&#10;            &lt;Box style={{ width: 158, height: 94, background: '#FFFFFF', borderRadius: 8, border: '1px solid #4F81BD', padding: 12, flexDirection: 'column', gap: 6 }}&gt;&#13;&#10;                &lt;Text style={{ fontSize: 19, fontWeight: 'bold', color: '#1F497D' }}&gt;建档&lt;/Text&gt;&#13;&#10;                &lt;Text style={{ fontSize: 14, color: '#4A5568', lineHeight: 1.4 }}&gt;填写基础信息&lt;/Text&gt;&#13;&#10;            &lt;/Box&gt;&#13;&#10;            &lt;Box style={{ width: 158, height: 94, background: '#FFFFFF', borderRadius: 8, border: '1px solid #4F81BD', padding: 12, flexDirection: 'column', gap: 6 }}&gt;&#13;&#10;                &lt;Text style={{ fontSize: 19, fontWeight: 'bold', color: '#1F497D' }}&gt;评估&lt;/Text&gt;&#13;&#10;                &lt;Text style={{ fontSize: 14, color: '#4A5568', lineHeight: 1.4 }}&gt;三端分别作答&lt;/Text&gt;&#13;&#10;            &lt;/Box&gt;&#13;&#10;            &lt;Box style={{ width: 158, height: 94, background: '#FFFFFF', borderRadius: 8, border: '1px solid #4F81BD', padding: 12, flexDirection: 'column', gap: 6 }}&gt;&#13;&#10;                &lt;Text style={{ fontSize: 19, fontWeight: 'bold', color: '#1F497D' }}&gt;计分&lt;/Text&gt;&#13;&#10;                &lt;Text style={{ fontSize: 14, color: '#4A5568', lineHeight: 1.4 }}&gt;总分与维度小计&lt;/Text&gt;&#13;&#10;            &lt;/Box&gt;&#13;&#10;            &lt;Box style={{ width: 158, height: 94, background: '#FFFFFF', borderRadius: 8, border: '1px solid #4F81BD', padding: 12, flexDirection: 'column', gap: 6 }}&gt;&#13;&#10;                &lt;Text style={{ fontSize: 19, fontWeight: 'bold', color: '#1F497D' }}&gt;综合报告&lt;/Text&gt;&#13;&#10;                &lt;Text style={{ fontSize: 14, color: '#4A5568', lineHeight: 1.4 }}&gt;聚合量表与提示&lt;/Text&gt;&#13;&#10;            &lt;/Box&gt;&#13;&#10;        &lt;/Box&gt;&#13;&#10;&#13;&#10;        &lt;Box style={{ flexDirection: 'row', justifyContent: 'flex-end', paddingRight: 60 }}&gt;&#13;&#10;            &lt;FAIcon name='arrow-down' style={{ fill: '#4F81BD', width: 24, height: 24 }} /&gt;&#13;&#10;        &lt;/Box&gt;&#13;&#10;&#13;&#10;        &lt;Text style={{ fontSize: 17, color: '#4F81BD', fontWeight: 'bold' }}&gt;研判与交付&lt;/Text&gt;&#13;&#10;        &lt;Box style={{ flexDirection: 'row', gap: 12 }}&gt;&#13;&#10;            &lt;Box style={{ width: 158, height: 94, background: '#E8EFF8', borderRadius: 8, border: '1px solid #1F497D', padding: 12, flexDirection: 'column', gap: 6 }}&gt;&#13;&#10;                &lt;Text style={{ fontSize: 19, fontWeight: 'bold', color: '#1F497D' }}&gt;AI 研判&lt;/Text&gt;&#13;&#10;                &lt;Text style={{ fontSize: 14, color: '#4A5568', lineHeight: 1.4 }}&gt;生成三段式意见&lt;/Text&gt;&#13;&#10;            &lt;/Box&gt;&#13;&#10;            &lt;Box style={{ width: 158, height: 94, background: '#E8EFF8', borderRadius: 8, border: '1px solid #1F497D', padding: 12, flexDirection: 'column', gap: 6 }}&gt;&#13;&#10;                &lt;Text style={{ fontSize: 19, fontWeight: 'bold', color: '#1F497D' }}&gt;医生签字&lt;/Text&gt;&#13;&#10;                &lt;Text style={{ fontSize: 14, color: '#4A5568', lineHeight: 1.4 }}&gt;签名后才生效&lt;/Text&gt;&#13;&#10;            &lt;/Box&gt;&#13;&#10;            &lt;Box style={{ width: 158, height: 94, background: '#E8EFF8', borderRadius: 8, border: '1px solid #1F497D', padding: 12, flexDirection: 'column', gap: 6 }}&gt;&#13;&#10;                &lt;Text style={{ fontSize: 19, fontWeight: 'bold', color: '#1F497D' }}&gt;随访医嘱&lt;/Text&gt;&#13;&#10;                &lt;Text style={{ fontSize: 14, color: '#4A5568', lineHeight: 1.4 }}&gt;医嘱与复查时间&lt;/Text&gt;&#13;&#10;            &lt;/Box&gt;&#13;&#10;            &lt;Box style={{ width: 158, height: 94, background: '#E8EFF8', borderRadius: 8, border: '1px solid #1F497D', padding: 12, flexDirection: 'column', gap: 6 }}&gt;&#13;&#10;                &lt;Text style={{ fontSize: 19, fontWeight: 'bold', color: '#1F497D' }}&gt;导出&lt;/Text&gt;&#13;&#10;                &lt;Text style={{ fontSize: 14, color: '#4A5568', lineHeight: 1.4 }}&gt;单人 / 队列 Excel&lt;/Text&gt;&#13;&#10;            &lt;/Box&gt;&#13;&#10;        &lt;/Box&gt;&#13;&#10;&#13;&#10;        &lt;Box style={{ marginTop: 6, background: '#FFFFFF', borderRadius: 8, border: '1px solid #D6DCE5', borderLeft: '5px solid #1F497D', padding: 14, flexDirection: 'column', gap: 6 }}&gt;&#13;&#10;            &lt;Text style={{ fontSize: 18, fontWeight: 'bold', color: '#1F497D' }}&gt;闭环的关键在后半段&lt;/Text&gt;&#13;&#10;            &lt;Text style={{ fontSize: 16, color: '#4A5568', lineHeight: 1.65 }}&gt;&#13;&#10;                前四段是常规数据流；后四段决定了这套系统能不能进临床场景——AI 的输出先落待审核队列，经医生核对并电子签名后才写回正式诊断，再按授权同步给受试者与家属。整条链路里，&quot;谁签字&quot;永远是最后一道闸门。&#13;&#10;            &lt;/Text&gt;&#13;&#10;        &lt;/Box&gt;&#13;&#10;    &lt;/Box&gt;&#13;&#10;&#13;&#10;    &lt;Box style={{ position: 'absolute', top: 104, left: 784, width: 456, height: 546, flexDirection: 'column', gap: 16 }}&gt;&#13;&#10;        &lt;Box style={{ flex: 1, background: '#F0F5FC', borderRadius: 10, border: '1px solid #D6DCE5', padding: 18, flexDirection: 'column', justifyContent: 'space-between' }}&gt;&#13;&#10;            &lt;Text style={{ fontSize: 16, color: '#4F81BD', fontWeight: 'bold' }}&gt;前四段&lt;/Text&gt;&#13;&#10;            &lt;Text style={{ fontSize: 22, fontWeight: 'bold', color: '#1F497D' }}&gt;数据采集与计算&lt;/Text&gt;&#13;&#10;            &lt;Text style={{ fontSize: 16, color: '#4A5568', lineHeight: 1.65 }}&gt;全程自动，唯一的&quot;人工输入&quot;来自三端受试者与医生的作答本身。&lt;/Text&gt;&#13;&#10;        &lt;/Box&gt;&#13;&#10;        &lt;Box style={{ flex: 1, background: '#E8EFF8', borderRadius: 10, border: '2px solid #1F497D', padding: 18, flexDirection: 'column', justifyContent: 'space-between' }}&gt;&#13;&#10;            &lt;Text style={{ fontSize: 16, color: '#D9534F', fontWeight: 'bold' }}&gt;中三段&lt;/Text&gt;&#13;&#10;            &lt;Text style={{ fontSize: 22, fontWeight: 'bold', color: '#1F497D' }}&gt;AI 生成 ≠ 临床结论&lt;/Text&gt;&#13;&#10;            &lt;Text style={{ fontSize: 16, color: '#1A2230', lineHeight: 1.65, fontWeight: 'bold' }}&gt;只有状态为 approved 的内容才允许写入正式诊断，pending_review 一律按未生效处理。&lt;/Text&gt;&#13;&#10;        &lt;/Box&gt;&#13;&#10;        &lt;Box style={{ flex: 1, background: '#F0F5FC', borderRadius: 10, border: '1px solid #D6DCE5', padding: 18, flexDirection: 'column', justifyContent: 'space-between' }}&gt;&#13;&#10;            &lt;Text style={{ fontSize: 16, color: '#4F81BD', fontWeight: 'bold' }}&gt;末一段&lt;/Text&gt;&#13;&#10;            &lt;Text style={{ fontSize: 22, fontWeight: 'bold', color: '#1F497D' }}&gt;科研数据出口&lt;/Text&gt;&#13;&#10;            &lt;Text style={{ fontSize: 16, color: '#4A5568', lineHeight: 1.65 }}&gt;导出层与页面层的状态判定必须完全一致，否则错误会安静地流进研究数据集。&lt;/Text&gt;&#13;&#10;        &lt;/Box&gt;&#13;&#10;    &lt;/Box&gt;&#13;&#10;&#13;&#10;    &lt;Box style={{ position: 'absolute', bottom: 26, left: 40, width: 1200, flexDirection: 'row', justifyContent: 'space-between' }}&gt;&#13;&#10;        &lt;Text style={{ fontSize: 15, color: '#8B97A8' }}&gt;依据：三端业务流程定稿与需求文档验收标准&lt;/Text&gt;&#13;&#10;        &lt;Text style={{ fontSize: 15, color: '#1F497D' }}&gt;10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9" name="矩形 18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20" name="圆角矩形 19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571500" y="219075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业务主流程：八段闭环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10429875" y="30480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需求与产品设计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81000" y="990600"/>
            <a:ext cx="6896100" cy="4781550"/>
          </a:xfrm>
          <a:prstGeom prst="roundRect">
            <a:avLst>
              <a:gd name="adj" fmla="val 239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571500" y="1181100"/>
            <a:ext cx="6515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采集与计算</a:t>
            </a:r>
            <a:endParaRPr lang="zh-CN" sz="127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71500" y="1476375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685800" y="1590675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建档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85800" y="1866900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填写基础信息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2190750" y="1476375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29" name="文本框 28" descr="{&quot;isTemplate&quot;:true,&quot;type&quot;:&quot;text&quot;}"/>
          <p:cNvSpPr txBox="1"/>
          <p:nvPr/>
        </p:nvSpPr>
        <p:spPr>
          <a:xfrm>
            <a:off x="2305050" y="1590675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评估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2305050" y="1866900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三端分别作答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3810000" y="1476375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3924300" y="1590675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计分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3924300" y="1866900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总分与维度小计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429250" y="1476375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5543550" y="1590675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综合报告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5543550" y="1866900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聚合量表与提示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6500" y="2466975"/>
            <a:ext cx="228600" cy="228600"/>
          </a:xfrm>
          <a:prstGeom prst="rect">
            <a:avLst/>
          </a:prstGeom>
        </p:spPr>
      </p:pic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571500" y="2790825"/>
            <a:ext cx="6515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研判与交付</a:t>
            </a:r>
            <a:endParaRPr lang="zh-CN" sz="127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571500" y="3086100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E8EFF8"/>
          </a:solidFill>
          <a:ln w="127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685800" y="3200400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研判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685800" y="3476625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生成三段式意见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2190750" y="3086100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E8EFF8"/>
          </a:solidFill>
          <a:ln w="127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2305050" y="3200400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医生签字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2305050" y="3476625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签名后才生效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3810000" y="3086100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E8EFF8"/>
          </a:solidFill>
          <a:ln w="127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3924300" y="3200400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随访医嘱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3924300" y="3476625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医嘱与复查时间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5429250" y="3086100"/>
            <a:ext cx="1504950" cy="895350"/>
          </a:xfrm>
          <a:prstGeom prst="roundRect">
            <a:avLst>
              <a:gd name="adj" fmla="val 8511"/>
            </a:avLst>
          </a:prstGeom>
          <a:solidFill>
            <a:srgbClr val="E8EFF8"/>
          </a:solidFill>
          <a:ln w="127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5543550" y="3200400"/>
            <a:ext cx="12763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导出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 descr="{&quot;isTemplate&quot;:true,&quot;type&quot;:&quot;text&quot;}"/>
          <p:cNvSpPr txBox="1"/>
          <p:nvPr/>
        </p:nvSpPr>
        <p:spPr>
          <a:xfrm>
            <a:off x="5543550" y="3476625"/>
            <a:ext cx="1276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单人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队列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Excel</a:t>
            </a:r>
            <a:endParaRPr lang="en-US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圆角矩形 50"/>
          <p:cNvSpPr/>
          <p:nvPr/>
        </p:nvSpPr>
        <p:spPr>
          <a:xfrm>
            <a:off x="619125" y="4133850"/>
            <a:ext cx="6515100" cy="1447800"/>
          </a:xfrm>
          <a:prstGeom prst="roundRect">
            <a:avLst>
              <a:gd name="adj" fmla="val 5263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52" name="任意多边形 51"/>
          <p:cNvSpPr/>
          <p:nvPr/>
        </p:nvSpPr>
        <p:spPr>
          <a:xfrm>
            <a:off x="619125" y="4133850"/>
            <a:ext cx="6515100" cy="1447800"/>
          </a:xfrm>
          <a:custGeom>
            <a:avLst/>
            <a:gdLst/>
            <a:ahLst/>
            <a:cxnLst/>
            <a:pathLst>
              <a:path w="684" h="152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149"/>
                </a:lnTo>
                <a:cubicBezTo>
                  <a:pt x="5" y="151"/>
                  <a:pt x="6" y="152"/>
                  <a:pt x="8" y="152"/>
                </a:cubicBezTo>
                <a:cubicBezTo>
                  <a:pt x="3" y="152"/>
                  <a:pt x="0" y="148"/>
                  <a:pt x="0" y="144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F497D"/>
          </a:solidFill>
        </p:spPr>
        <p:txBody>
          <a:bodyPr/>
          <a:p/>
        </p:txBody>
      </p:sp>
      <p:sp>
        <p:nvSpPr>
          <p:cNvPr id="53" name="文本框 52" descr="{&quot;isTemplate&quot;:true,&quot;type&quot;:&quot;text&quot;}"/>
          <p:cNvSpPr txBox="1"/>
          <p:nvPr/>
        </p:nvSpPr>
        <p:spPr>
          <a:xfrm>
            <a:off x="752475" y="4267200"/>
            <a:ext cx="62007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闭环的关键在后半段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752475" y="4533900"/>
            <a:ext cx="6200775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前四段是常规数据流；后四段决定了这套系统能不能进临床场景——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的输出先落待审核队列，经医生核对并电子签名后才写回正式诊断，再按授权同步给受试者与家属。整条链路里，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谁签字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永远是最后一道闸门。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7467600" y="990600"/>
            <a:ext cx="4343400" cy="1628775"/>
          </a:xfrm>
          <a:prstGeom prst="roundRect">
            <a:avLst>
              <a:gd name="adj" fmla="val 584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7639050" y="1162050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前四段</a:t>
            </a:r>
            <a:endParaRPr lang="zh-CN" sz="12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7639050" y="1466850"/>
            <a:ext cx="4000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数据采集与计算</a:t>
            </a:r>
            <a:endParaRPr lang="zh-CN" sz="16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7639050" y="1838325"/>
            <a:ext cx="40005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全程自动，唯一的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人工输入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来自三端受试者与医生的作答本身。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圆角矩形 58"/>
          <p:cNvSpPr/>
          <p:nvPr/>
        </p:nvSpPr>
        <p:spPr>
          <a:xfrm>
            <a:off x="7467600" y="2771775"/>
            <a:ext cx="4343400" cy="1638300"/>
          </a:xfrm>
          <a:prstGeom prst="roundRect">
            <a:avLst>
              <a:gd name="adj" fmla="val 5814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7639050" y="2943225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中三段</a:t>
            </a:r>
            <a:endParaRPr lang="zh-CN" sz="1200" b="1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7639050" y="3257550"/>
            <a:ext cx="4000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6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生成</a:t>
            </a:r>
            <a:r>
              <a:rPr lang="en-US" sz="16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≠ </a:t>
            </a:r>
            <a:r>
              <a:rPr lang="zh-CN" sz="16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临床结论</a:t>
            </a:r>
            <a:endParaRPr lang="zh-CN" sz="16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7639050" y="3629025"/>
            <a:ext cx="40005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只有状态为</a:t>
            </a:r>
            <a:r>
              <a:rPr lang="en-US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approved </a:t>
            </a: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的内容才允许写入正式诊断，</a:t>
            </a:r>
            <a:r>
              <a:rPr lang="en-US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pending_review </a:t>
            </a: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一律按未生效处理。</a:t>
            </a:r>
            <a:endParaRPr lang="zh-CN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圆角矩形 62"/>
          <p:cNvSpPr/>
          <p:nvPr/>
        </p:nvSpPr>
        <p:spPr>
          <a:xfrm>
            <a:off x="7467600" y="4562475"/>
            <a:ext cx="4343400" cy="1628775"/>
          </a:xfrm>
          <a:prstGeom prst="roundRect">
            <a:avLst>
              <a:gd name="adj" fmla="val 584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639050" y="4733925"/>
            <a:ext cx="400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末一段</a:t>
            </a:r>
            <a:endParaRPr lang="zh-CN" sz="12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7639050" y="5038725"/>
            <a:ext cx="40005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科研数据出口</a:t>
            </a:r>
            <a:endParaRPr lang="zh-CN" sz="16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 descr="{&quot;isTemplate&quot;:true,&quot;type&quot;:&quot;text&quot;}"/>
          <p:cNvSpPr txBox="1"/>
          <p:nvPr/>
        </p:nvSpPr>
        <p:spPr>
          <a:xfrm>
            <a:off x="7639050" y="5410200"/>
            <a:ext cx="400050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导出层与页面层的状态判定必须完全一致，否则错误会安静地流进研究数据集。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381000" y="6438900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依据：三端业务流程定稿与需求文档验收标准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量表体系与归属矩阵&lt;/Text&gt;&#10;        &lt;/Box&gt;&#10;        &lt;Text style={{ fontSize: 16, color: '#9FC2E8' }}&gt;02 · 需求与产品设计&lt;/Text&gt;&#10;    &lt;/Box&gt;&#10;&#10;    &lt;Box style={{ position: 'absolute', top: 100, left: 40, width: 1200, flexDirection: 'column', gap: 12 }}&gt;&#10;        &lt;Table&#10;            style={{ width: 1200, height: 546 }}&#10;            defaultTextStyle={{ fontSize: 18, textAlign: 'left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    padding: 12,&#10;            }}&#10;            cells={[&#10;                [&#10;                    { text: '量表', textStyle: { bold: true, color: '#FFFFFF', fontSize: 19 }, cellStyle: { background: { color: '#1F497D' } } },&#10;                    { text: '填写者', textStyle: { bold: true, color: '#FFFFFF', fontSize: 19 }, cellStyle: { background: { color: '#1F497D' } } },&#10;                    { text: '计分方式', textStyle: { bold: true, color: '#FFFFFF', fontSize: 19 }, cellStyle: { background: { color: '#1F497D' } } },&#10;                    { text: '分级阈值与结论', textStyle: { bold: true, color: '#FFFFFF', fontSize: 19 }, cellStyle: { background: { color: '#1F497D' } } },&#10;                ],&#10;                [&#10;                    { text: 'SCD-Q9', textStyle: { bold: true } },&#10;                    '受试者自评',&#10;                    '9 题 + 6 道情景题，满分 15',&#10;                    '阈值 ≥5 提示主诉阳性',&#10;                ],&#10;                [&#10;                    { text: 'MMSE / MoCA-B', textStyle: { bold: true }, cellStyle: { background: { color: '#F7F9FC' } } },&#10;                    { text: '医生主试', cellStyle: { background: { color: '#F7F9FC' } } },&#10;                    { text: '30 分制，按教育年限分档切点', cellStyle: { background: { color: '#F7F9FC' } } },&#10;                    { text: '文盲 17/19 · 中学 20/22 · 大学 24', cellStyle: { background: { color: '#F7F9FC' } } },&#10;                ],&#10;                [&#10;                    { text: 'AVLT-H / VFT', textStyle: { bold: true } },&#10;                    '医生主试',&#10;                    '三次学习累计 + 延迟回忆 + 再认；60 秒正确词数',&#10;                    '另记 15 秒分段计数作趋势',&#10;                ],&#10;                [&#10;                    { text: 'HAMD-17 / HAMA-14', textStyle: { bold: true }, cellStyle: { background: { color: '#F7F9FC' } } },&#10;                    { text: '医生主试', cellStyle: { background: { color: '#F7F9FC' } } },&#10;                    { text: '主试锚点评分，满分 68 / 56', cellStyle: { background: { color: '#F7F9FC' } } },&#10;                    { text: '≥7 可能 · ≥17 / ≥14 肯定 · ≥24 / ≥21 明显', cellStyle: { background: { color: '#F7F9FC' } } },&#10;                ],&#10;                [&#10;                    { text: 'FAQ-10 / NPI-12', textStyle: { bold: true } },&#10;                    '家属知情者',&#10;                    '10 项四级求和 30 分；12 域 频率 × 严重度 144 分',&#10;                    'FAQ ≥5 功能受损；NPI ≥13 红灯',&#10;                ],&#10;                [&#10;                    { text: 'CDR / PSQI', textStyle: { bold: true }, cellStyle: { background: { color: '#F7F9FC' } } },&#10;                    { text: '家属观察 + 医生评级', cellStyle: { background: { color: '#F7F9FC' } } },&#10;                    { text: '6 域 → Global 与 CDR-SB；7 因子', cellStyle: { background: { color: '#F7F9FC' } } },&#10;                    { text: 'CDR Global 0 / 0.5 / 1 / 2 / 3', cellStyle: { background: { color: '#F7F9FC' } } },&#10;                ],&#10;            ]}&#10;        /&gt;&#10;    &lt;/Box&gt;&#10;&#10;    &lt;Box style={{ position: 'absolute', bottom: 22, left: 40, width: 1200, flexDirection: 'row', justifyContent: 'space-between' }}&gt;&#10;        &lt;Text style={{ fontSize: 15, color: '#8B97A8' }}&gt;依据：系统量表配置层定义&lt;/Text&gt;&#10;        &lt;Text style={{ fontSize: 15, color: '#1F497D' }}&gt;11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 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1" name="矩形 70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72" name="圆角矩形 71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571500" y="21907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量表体系与归属矩阵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10429875" y="304800"/>
            <a:ext cx="1381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02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需求与产品设计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5" name="表格 74"/>
          <p:cNvGraphicFramePr/>
          <p:nvPr/>
        </p:nvGraphicFramePr>
        <p:xfrm>
          <a:off x="381000" y="952500"/>
          <a:ext cx="11430000" cy="5200651"/>
        </p:xfrm>
        <a:graphic>
          <a:graphicData uri="http://schemas.openxmlformats.org/drawingml/2006/table">
            <a:tbl>
              <a:tblPr/>
              <a:tblGrid>
                <a:gridCol w="2056697"/>
                <a:gridCol w="1744188"/>
                <a:gridCol w="4088002"/>
                <a:gridCol w="3541112"/>
              </a:tblGrid>
              <a:tr h="77844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量表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填写者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计分方式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分级阈值与结论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7370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SCD-Q9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受试者自评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 题 + 6 道情景题，满分 15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阈值 ≥5 提示主诉阳性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70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MMSE / MoCA-B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医生主试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 分制，按教育年限分档切点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文盲 17/19 · 中学 20/22 · 大学 24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7370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AVLT-H / VFT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医生主试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三次学习累计 + 延迟回忆 + 再认；60 秒正确词数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另记 15 秒分段计数作趋势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70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HAMD-17 / HAMA-14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医生主试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主试锚点评分，满分 68 / 56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≥7 可能 · ≥17 / ≥14 肯定 · ≥24 / ≥21 明显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7370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FAQ-10 / NPI-12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家属知情者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 项四级求和 30 分；12 域 频率 × 严重度 144 分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FAQ ≥5 功能受损；NPI ≥13 红灯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3703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CDR / PSQI</a:t>
                      </a:r>
                      <a:endParaRPr sz="135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家属观察 + 医生评级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 域 → Global 与 CDR-SB；7 因子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CDR Global 0 / 0.5 / 1 / 2 / 3</a:t>
                      </a:r>
                      <a:endParaRPr sz="13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381000" y="6477000"/>
            <a:ext cx="1714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依据：系统量表配置层定义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 descr="&lt;Slide style={{ width: 1280, height: 720, background: '#F7F9FC', padding: 0, position: 'relative', fontFamily: 'Microsoft YaHei' }}&gt;&#10;    &lt;Box style={{ position: 'absolute', top: 0, left: 0, width: 1280, height: 10, background: '#1F497D' }} /&gt;&#10;    &lt;Box style={{ position: 'absolute', top: 150, left: 96, width: 420 }}&gt;&#10;        &lt;Text style={{ fontSize: 210, fontWeight: 'bold', color: '#DCE7F5', lineHeight: 1 }}&gt;03&lt;/Text&gt;&#10;    &lt;/Box&gt;&#10;    &lt;Box style={{ position: 'absolute', top: 250, left: 480, width: 720, flexDirection: 'column', gap: 20 }}&gt;&#10;        &lt;Text style={{ fontSize: 52, fontWeight: 'bold', color: '#1F497D', lineHeight: 1.2 }}&gt;系统架构与技术实现&lt;/Text&gt;&#10;        &lt;Box style={{ width: 88, height: 6, background: '#4F81BD' }} /&gt;&#10;        &lt;Box style={{ flexDirection: 'column', gap: 14, marginTop: 14 }}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四层架构与每个技术选型背后的取舍&lt;/Text&gt;&#10;            &lt;/Box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四张数据表与十六个接口，怎么把契约定死&lt;/Text&gt;&#10;            &lt;/Box&gt;&#10;        &lt;/Box&gt;&#10;    &lt;/Box&gt;&#10;    &lt;Box style={{ position: 'absolute', bottom: 26, left: 40, width: 1200, flexDirection: 'row', justifyContent: 'space-between' }}&gt;&#10;        &lt;Text style={{ fontSize: 15, color: '#8B97A8' }}&gt;认知障碍早期诊断临床数据采集系统&lt;/Text&gt;&#10;        &lt;Text style={{ fontSize: 15, color: '#1F497D' }}&gt;12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80" name="矩形 7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914400" y="1428750"/>
            <a:ext cx="40005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5750" b="1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4572000" y="2381250"/>
            <a:ext cx="6858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  <a:endParaRPr lang="zh-CN" sz="39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572000" y="3286125"/>
            <a:ext cx="838200" cy="571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总体架构：四层分层&lt;/Text&gt;&#10;        &lt;/Box&gt;&#10;        &lt;Text style={{ fontSize: 16, color: '#9FC2E8' }}&gt;03 · 系统架构与技术实现&lt;/Text&gt;&#10;    &lt;/Box&gt;&#10;&#10;    &lt;Box style={{ position: 'absolute', top: 100, left: 40, width: 1200, flexDirection: 'column', gap: 10 }}&gt;&#10;        &lt;Box style={{ height: 70, background: '#E8EFF8', borderRadius: 10, border: '2px solid #1F497D', flexDirection: 'row', alignItems: 'center', paddingLeft: 20, paddingRight: 20, gap: 20 }}&gt;&#10;            &lt;Box style={{ width: 132 }}&gt;&#10;                &lt;Text style={{ fontSize: 20, fontWeight: 'bold', color: '#1F497D' }}&gt;展示层&lt;/Text&gt;&#10;                &lt;Text style={{ fontSize: 14, color: '#4F81BD' }}&gt;浏览器端&lt;/Text&gt;&#10;            &lt;/Box&gt;&#10;            &lt;Box style={{ height: 40, width: 1, background: '#B5D4F4' }} /&gt;&#10;            &lt;Text style={{ fontSize: 17, color: '#1A2230', lineHeight: 1.5, flex: 1 }}&gt;&#10;                受试者端 · 家属端 · 医生工作台 三条彼此独立的前端通道；React 19 + TypeScript + Vite + Tailwind&#10;            &lt;/Text&gt;&#10;        &lt;/Box&gt;&#10;&#10;        &lt;Box style={{ height: 70, background: '#F0F5FC', borderRadius: 10, border: '1px solid #4F81BD', flexDirection: 'row', alignItems: 'center', paddingLeft: 20, paddingRight: 20, gap: 20 }}&gt;&#10;            &lt;Box style={{ width: 132 }}&gt;&#10;                &lt;Text style={{ fontSize: 20, fontWeight: 'bold', color: '#1F497D' }}&gt;应用服务层&lt;/Text&gt;&#10;                &lt;Text style={{ fontSize: 14, color: '#4F81BD' }}&gt;Express&lt;/Text&gt;&#10;            &lt;/Box&gt;&#10;            &lt;Box style={{ height: 40, width: 1, background: '#D6DCE5' }} /&gt;&#10;            &lt;Text style={{ fontSize: 17, color: '#1A2230', lineHeight: 1.5, flex: 1 }}&gt;&#10;                十六个 REST 接口，全部走参数化查询；统一 {&quot;{success, data}&quot;} 响应信封，错误码分层可辨&#10;            &lt;/Text&gt;&#10;        &lt;/Box&gt;&#10;&#10;        &lt;Box style={{ height: 70, background: '#F0F5FC', borderRadius: 10, border: '1px solid #4F81BD', flexDirection: 'row', alignItems: 'center', paddingLeft: 20, paddingRight: 20, gap: 20 }}&gt;&#10;            &lt;Box style={{ width: 132 }}&gt;&#10;                &lt;Text style={{ fontSize: 20, fontWeight: 'bold', color: '#1F497D' }}&gt;持久化层&lt;/Text&gt;&#10;                &lt;Text style={{ fontSize: 14, color: '#4F81BD' }}&gt;LibSQL / Turso&lt;/Text&gt;&#10;            &lt;/Box&gt;&#10;            &lt;Box style={{ height: 40, width: 1, background: '#D6DCE5' }} /&gt;&#10;            &lt;Text style={{ fontSize: 17, color: '#1A2230', lineHeight: 1.5, flex: 1 }}&gt;&#10;                云端关系型数据库四张表：patients · assessments · drafts · ai_consultations&#10;            &lt;/Text&gt;&#10;        &lt;/Box&gt;&#10;&#10;        &lt;Box style={{ height: 70, background: '#F0F5FC', borderRadius: 10, border: '1px dashed #8B97A8', flexDirection: 'row', alignItems: 'center', paddingLeft: 20, paddingRight: 20, gap: 20 }}&gt;&#10;            &lt;Box style={{ width: 132 }}&gt;&#10;                &lt;Text style={{ fontSize: 20, fontWeight: 'bold', color: '#4A5568' }}&gt;智能服务层&lt;/Text&gt;&#10;                &lt;Text style={{ fontSize: 14, color: '#8B97A8' }}&gt;旁挂 · 可选&lt;/Text&gt;&#10;            &lt;/Box&gt;&#10;            &lt;Box style={{ height: 40, width: 1, background: '#D6DCE5' }} /&gt;&#10;            &lt;Text style={{ fontSize: 17, color: '#4A5568', lineHeight: 1.5, flex: 1 }}&gt;&#10;                Gemini：病历 OCR 结构化提取与临床研判；未配置密钥时自动降级为规则引擎&#10;            &lt;/Text&gt;&#10;        &lt;/Box&gt;&#10;&#10;        &lt;Box style={{ flexDirection: 'row', gap: 16, marginTop: 8 }}&gt;&#10;            &lt;Box style={{ flex: 1, background: '#F7F9FC', borderRadius: 10, border: '1px solid #D6DCE5', padding: 16, flexDirection: 'column', gap: 8 }}&gt;&#10;                &lt;Text style={{ fontSize: 18, fontWeight: 'bold', color: '#1F497D' }}&gt;降级不是噱头&lt;/Text&gt;&#10;                &lt;Text style={{ fontSize: 16, color: '#4A5568', lineHeight: 1.65 }}&gt;核心量表与三端流程完全不依赖外部 AI，智能服务只做辅助。&lt;/Text&gt;&#10;            &lt;/Box&gt;&#10;            &lt;Box style={{ flex: 1, background: '#F7F9FC', borderRadius: 10, border: '1px solid #D6DCE5', padding: 16, flexDirection: 'column', gap: 8 }}&gt;&#10;                &lt;Text style={{ fontSize: 18, fontWeight: 'bold', color: '#1F497D' }}&gt;离线可用不等于离线为准&lt;/Text&gt;&#10;                &lt;Text style={{ fontSize: 16, color: '#4A5568', lineHeight: 1.65 }}&gt;本地只负责断网草稿与恢复，云端才是最终数据源。&lt;/Text&gt;&#10;            &lt;/Box&gt;&#10;            &lt;Box style={{ flex: 1, background: '#F7F9FC', borderRadius: 10, border: '1px solid #D6DCE5', padding: 16, flexDirection: 'column', gap: 8 }}&gt;&#10;                &lt;Text style={{ fontSize: 18, fontWeight: 'bold', color: '#1F497D' }}&gt;一致性靠契约&lt;/Text&gt;&#10;                &lt;Text style={{ fontSize: 16, color: '#4A5568', lineHeight: 1.65 }}&gt;null 语义、状态机与响应信封写在同一份接口文档里。&lt;/Text&gt;&#10;            &lt;/Box&gt;&#10;        &lt;/Box&gt;&#10;    &lt;/Box&gt;&#10;&#10;    &lt;Box style={{ position: 'absolute', bottom: 22, left: 40, width: 1200, flexDirection: 'row', justifyContent: 'space-between' }}&gt;&#10;        &lt;Text style={{ fontSize: 15, color: '#8B97A8' }}&gt;依据：接口与数据表定义文档&lt;/Text&gt;&#10;        &lt;Text style={{ fontSize: 15, color: '#1F497D' }}&gt;13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92" name="矩形 91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93" name="圆角矩形 92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571500" y="21907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总体架构：四层分层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381000" y="952500"/>
            <a:ext cx="11430000" cy="666750"/>
          </a:xfrm>
          <a:prstGeom prst="roundRect">
            <a:avLst>
              <a:gd name="adj" fmla="val 14286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571500" y="1095375"/>
            <a:ext cx="1257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展示层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571500" y="1323975"/>
            <a:ext cx="125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浏览器端</a:t>
            </a:r>
            <a:endParaRPr lang="zh-CN" sz="105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2019300" y="1095375"/>
            <a:ext cx="9525" cy="381000"/>
          </a:xfrm>
          <a:prstGeom prst="rect">
            <a:avLst/>
          </a:prstGeom>
          <a:solidFill>
            <a:srgbClr val="B5D4F4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2219325" y="1143000"/>
            <a:ext cx="94011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受试者端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家属端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医生工作台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三条彼此独立的前端通道；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React 19 + TypeScript + Vite + Tailwind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圆角矩形 100"/>
          <p:cNvSpPr/>
          <p:nvPr/>
        </p:nvSpPr>
        <p:spPr>
          <a:xfrm>
            <a:off x="381000" y="1714500"/>
            <a:ext cx="11430000" cy="66675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571500" y="1857375"/>
            <a:ext cx="1257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应用服务层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571500" y="2085975"/>
            <a:ext cx="125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Express</a:t>
            </a:r>
            <a:endParaRPr lang="en-US" sz="105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2019300" y="1857375"/>
            <a:ext cx="9525" cy="381000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2219325" y="1905000"/>
            <a:ext cx="94011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十八个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REST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接口，全部走参数化查询；统一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{success, data}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响应信封，错误码分层可辨</a:t>
            </a:r>
            <a:endParaRPr lang="zh-CN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圆角矩形 105"/>
          <p:cNvSpPr/>
          <p:nvPr/>
        </p:nvSpPr>
        <p:spPr>
          <a:xfrm>
            <a:off x="381000" y="2476500"/>
            <a:ext cx="11430000" cy="66675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571500" y="2619375"/>
            <a:ext cx="1257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持久化层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571500" y="2847975"/>
            <a:ext cx="125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LibSQL / Turso</a:t>
            </a:r>
            <a:endParaRPr lang="en-US" sz="105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2019300" y="2619375"/>
            <a:ext cx="9525" cy="381000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2219325" y="2667000"/>
            <a:ext cx="94011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云端关系型数据库四张表：</a:t>
            </a:r>
            <a:r>
              <a:rPr lang="en-US" sz="12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patients · assessments · drafts · ai_consultations</a:t>
            </a:r>
            <a:endParaRPr lang="en-US" sz="12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381000" y="3238500"/>
            <a:ext cx="11430000" cy="66675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 w="12700">
            <a:solidFill>
              <a:srgbClr val="8B97A8"/>
            </a:solidFill>
            <a:prstDash val="dash"/>
          </a:ln>
        </p:spPr>
        <p:txBody>
          <a:bodyPr/>
          <a:p/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571500" y="3381375"/>
            <a:ext cx="1257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智能服务层</a:t>
            </a:r>
            <a:endParaRPr lang="zh-CN" sz="150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571500" y="3609975"/>
            <a:ext cx="1257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旁挂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可选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2019300" y="3381375"/>
            <a:ext cx="9525" cy="381000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2219325" y="3429000"/>
            <a:ext cx="9401175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Gemini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：病历</a:t>
            </a:r>
            <a:r>
              <a:rPr 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结构化提取与临床研判；未配置密钥时自动降级为规则引擎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381000" y="4076700"/>
            <a:ext cx="3705225" cy="1200150"/>
          </a:xfrm>
          <a:prstGeom prst="roundRect">
            <a:avLst>
              <a:gd name="adj" fmla="val 793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533400" y="4229100"/>
            <a:ext cx="34004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降级不是噱头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533400" y="4514850"/>
            <a:ext cx="340042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核心量表与三端流程完全不依赖外部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AI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，智能服务只做辅助。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圆角矩形 118"/>
          <p:cNvSpPr/>
          <p:nvPr/>
        </p:nvSpPr>
        <p:spPr>
          <a:xfrm>
            <a:off x="4238625" y="4076700"/>
            <a:ext cx="3714750" cy="1200150"/>
          </a:xfrm>
          <a:prstGeom prst="roundRect">
            <a:avLst>
              <a:gd name="adj" fmla="val 793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4391025" y="4229100"/>
            <a:ext cx="34099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离线可用不等于离线为准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391025" y="4514850"/>
            <a:ext cx="3409950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本地只负责断网草稿与恢复，云端才是最终数据源。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圆角矩形 121"/>
          <p:cNvSpPr/>
          <p:nvPr/>
        </p:nvSpPr>
        <p:spPr>
          <a:xfrm>
            <a:off x="8105775" y="4076700"/>
            <a:ext cx="3705225" cy="1200150"/>
          </a:xfrm>
          <a:prstGeom prst="roundRect">
            <a:avLst>
              <a:gd name="adj" fmla="val 793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8258175" y="4229100"/>
            <a:ext cx="34004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一致性靠契约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8258175" y="4514850"/>
            <a:ext cx="3400425" cy="6096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null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语义、状态机与响应信封写在同一份接口文档里。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381000" y="6477000"/>
            <a:ext cx="1857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依据：接口与数据表定义文档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" descr="&lt;Slide style={{ width: 1280, height: 720, background: '#FFFFFF', padding: 0, position: 'relative', fontFamily: 'Microsoft YaHei' }}&gt;&#13;&#10;    &lt;Box style={{ position: 'absolute', top: 0, left: 0, width: 1280, height: 84, background: '#1F497D' }} /&gt;&#13;&#10;    &lt;Box style={{ position: 'absolute', top: 0, left: 0, width: 1280, height: 84, flexDirection: 'row', alignItems: 'center', justifyContent: 'space-between', paddingLeft: 40, paddingRight: 40 }}&gt;&#13;&#10;        &lt;Box style={{ flexDirection: 'row', alignItems: 'center', gap: 14 }}&gt;&#13;&#10;            &lt;Box style={{ width: 6, height: 34, background: '#4F81BD', borderRadius: 3 }} /&gt;&#13;&#10;            &lt;Text style={{ fontSize: 32, fontWeight: 'bold', color: '#FFFFFF' }}&gt;技术选型与理由&lt;/Text&gt;&#13;&#10;        &lt;/Box&gt;&#13;&#10;        &lt;Text style={{ fontSize: 16, color: '#9FC2E8' }}&gt;03 · 系统架构与技术实现&lt;/Text&gt;&#13;&#10;    &lt;/Box&gt;&#13;&#10;&#13;&#10;    &lt;Box style={{ position: 'absolute', top: 104, left: 40, width: 740, flexDirection: 'column', gap: 8 }}&gt;&#13;&#10;        &lt;Box style={{ background: '#F0F5FC', borderRadius: 10, border: '1px solid #D6DCE5', padding: 12, flexDirection: 'column', gap: 4 }}&gt;&#13;&#10;            &lt;Box style={{ flexDirection: 'row', alignItems: 'center', gap: 10 }}&gt;&#13;&#10;                &lt;Text style={{ fontSize: 19, fontWeight: 'bold', color: '#1F497D' }}&gt;前端框架&lt;/Text&gt;&#13;&#10;                &lt;Text style={{ fontSize: 16, color: '#4F81BD' }}&gt;React 19 + TypeScript&lt;/Text&gt;&#13;&#10;            &lt;/Box&gt;&#13;&#10;            &lt;Text style={{ fontSize: 16, color: '#4A5568', lineHeight: 1.55 }}&gt;三端共用同一套组件与类型定义，量表字段全量强类型；漏传一个必填项，编译期就会报错。&lt;/Text&gt;&#13;&#10;        &lt;/Box&gt;&#13;&#10;        &lt;Box style={{ background: '#F0F5FC', borderRadius: 10, border: '1px solid #D6DCE5', padding: 12, flexDirection: 'column', gap: 4 }}&gt;&#13;&#10;            &lt;Box style={{ flexDirection: 'row', alignItems: 'center', gap: 10 }}&gt;&#13;&#10;                &lt;Text style={{ fontSize: 19, fontWeight: 'bold', color: '#1F497D' }}&gt;构建工具&lt;/Text&gt;&#13;&#10;                &lt;Text style={{ fontSize: 16, color: '#4F81BD' }}&gt;Vite&lt;/Text&gt;&#13;&#10;            &lt;/Box&gt;&#13;&#10;            &lt;Text style={{ fontSize: 16, color: '#4A5568', lineHeight: 1.55 }}&gt;开发热更新快，生产打包 1700 余个模块约 6 秒，答辩现场改一行也能立刻重跑。&lt;/Text&gt;&#13;&#10;        &lt;/Box&gt;&#13;&#10;        &lt;Box style={{ background: '#F0F5FC', borderRadius: 10, border: '1px solid #D6DCE5', padding: 12, flexDirection: 'column', gap: 4 }}&gt;&#13;&#10;            &lt;Box style={{ flexDirection: 'row', alignItems: 'center', gap: 10 }}&gt;&#13;&#10;                &lt;Text style={{ fontSize: 19, fontWeight: 'bold', color: '#1F497D' }}&gt;后端服务&lt;/Text&gt;&#13;&#10;                &lt;Text style={{ fontSize: 16, color: '#4F81BD' }}&gt;Express + tsx&lt;/Text&gt;&#13;&#10;            &lt;/Box&gt;&#13;&#10;            &lt;Text style={{ fontSize: 16, color: '#4A5568', lineHeight: 1.55 }}&gt;直接用 TypeScript 写服务端，与前端共享类型；不需要额外的编译步骤。&lt;/Text&gt;&#13;&#10;        &lt;/Box&gt;&#13;&#10;        &lt;Box style={{ background: '#E8EFF8', borderRadius: 10, border: '1px solid #1F497D', padding: 12, flexDirection: 'column', gap: 4 }}&gt;&#13;&#10;            &lt;Box style={{ flexDirection: 'row', alignItems: 'center', gap: 10 }}&gt;&#13;&#10;                &lt;Text style={{ fontSize: 19, fontWeight: 'bold', color: '#1F497D' }}&gt;数据持久化&lt;/Text&gt;&#13;&#10;                &lt;Text style={{ fontSize: 16, color: '#4F81BD' }}&gt;LibSQL / Turso&lt;/Text&gt;&#13;&#10;            &lt;/Box&gt;&#13;&#10;            &lt;Text style={{ fontSize: 16, color: '#1A2230', lineHeight: 1.55 }}&gt;云托管且兼容 SQLite 语法，三端在不同设备上共享同一份受试者数据；本地可切换为 file: 离线库。&lt;/Text&gt;&#13;&#10;        &lt;/Box&gt;&#13;&#10;        &lt;Box style={{ background: '#F0F5FC', borderRadius: 10, border: '1px solid #D6DCE5', padding: 12, flexDirection: 'column', gap: 4 }}&gt;&#13;&#10;            &lt;Box style={{ flexDirection: 'row', alignItems: 'center', gap: 10 }}&gt;&#13;&#10;                &lt;Text style={{ fontSize: 19, fontWeight: 'bold', color: '#1F497D' }}&gt;智能服务&lt;/Text&gt;&#13;&#10;                &lt;Text style={{ fontSize: 16, color: '#4F81BD' }}&gt;Gemini 2.5 Flash&lt;/Text&gt;&#13;&#10;            &lt;/Box&gt;&#13;&#10;            &lt;Text style={{ fontSize: 16, color: '#4A5568', lineHeight: 1.55 }}&gt;承担病历 OCR 与临床研判；旁挂式设计，缺密钥时自动降级，主流程不受影响。&lt;/Text&gt;&#13;&#10;        &lt;/Box&gt;&#13;&#10;        &lt;Box style={{ background: '#F0F5FC', borderRadius: 10, border: '1px solid #D6DCE5', padding: 12, flexDirection: 'column', gap: 4 }}&gt;&#13;&#10;            &lt;Box style={{ flexDirection: 'row', alignItems: 'center', gap: 10 }}&gt;&#13;&#10;                &lt;Text style={{ fontSize: 19, fontWeight: 'bold', color: '#1F497D' }}&gt;数据导出&lt;/Text&gt;&#13;&#10;                &lt;Text style={{ fontSize: 16, color: '#4F81BD' }}&gt;xlsx&lt;/Text&gt;&#13;&#10;            &lt;/Box&gt;&#13;&#10;            &lt;Text style={{ fontSize: 16, color: '#4A5568', lineHeight: 1.55 }}&gt;医生与科研人员最熟悉的交付形态是 Excel，而不是再学一套新系统界面。&lt;/Text&gt;&#13;&#10;        &lt;/Box&gt;&#13;&#10;    &lt;/Box&gt;&#13;&#10;&#13;&#10;    &lt;Box style={{ position: 'absolute', top: 104, left: 800, width: 440, height: 546, background: '#1F497D', borderRadius: 12, padding: 26, flexDirection: 'column', justifyContent: 'space-between' }}&gt;&#13;&#10;        &lt;Box style={{ flexDirection: 'column', gap: 14 }}&gt;&#13;&#10;            &lt;FAIcon name='cog' style={{ fill: '#4F81BD', width: 40, height: 40 }} /&gt;&#13;&#10;            &lt;Text style={{ fontSize: 28, fontWeight: 'bold', color: '#FFFFFF', lineHeight: 1.3 }}&gt;选型的三条原则&lt;/Text&gt;&#13;&#10;            &lt;Box style={{ width: 56, height: 4, background: '#4F81BD' }} /&gt;&#13;&#10;        &lt;/Box&gt;&#13;&#10;        &lt;Box style={{ flexDirection: 'column', gap: 18 }}&gt;&#13;&#10;            &lt;Box style={{ flexDirection: 'column', gap: 6 }}&gt;&#13;&#10;                &lt;Text style={{ fontSize: 20, fontWeight: 'bold', color: '#B5D4F4' }}&gt;类型优先&lt;/Text&gt;&#13;&#10;                &lt;Text style={{ fontSize: 16, color: '#DCE7F5', lineHeight: 1.6 }}&gt;能在编译期拦住的错误，绝不留给运行时。&lt;/Text&gt;&#13;&#10;            &lt;/Box&gt;&#13;&#10;            &lt;Box style={{ flexDirection: 'column', gap: 6 }}&gt;&#13;&#10;                &lt;Text style={{ fontSize: 20, fontWeight: 'bold', color: '#B5D4F4' }}&gt;契约优先&lt;/Text&gt;&#13;&#10;                &lt;Text style={{ fontSize: 16, color: '#DCE7F5', lineHeight: 1.6 }}&gt;前后端共用同一份接口与数据表定义，先定契约再写实现。&lt;/Text&gt;&#13;&#10;            &lt;/Box&gt;&#13;&#10;            &lt;Box style={{ flexDirection: 'column', gap: 6 }}&gt;&#13;&#10;                &lt;Text style={{ fontSize: 20, fontWeight: 'bold', color: '#B5D4F4' }}&gt;可降级优先&lt;/Text&gt;&#13;&#10;                &lt;Text style={{ fontSize: 16, color: '#DCE7F5', lineHeight: 1.6 }}&gt;外部依赖全部可摘除，主流程不因缺密钥而中断。&lt;/Text&gt;&#13;&#10;            &lt;/Box&gt;&#13;&#10;        &lt;/Box&gt;&#13;&#10;        &lt;Box style={{ background: '#0E3F8C', borderRadius: 8, padding: 14 }}&gt;&#13;&#10;            &lt;Text style={{ fontSize: 16, color: '#9FC2E8', lineHeight: 1.6 }}&gt;这三条不是口号，后面每一个技术点都能对上号。&lt;/Text&gt;&#13;&#10;        &lt;/Box&gt;&#13;&#10;    &lt;/Box&gt;&#13;&#10;&#13;&#10;    &lt;Box style={{ position: 'absolute', bottom: 22, left: 40, width: 1200, flexDirection: 'row', justifyContent: 'space-between' }}&gt;&#13;&#10;        &lt;Text style={{ fontSize: 15, color: '#8B97A8' }}&gt;依据：package.json 依赖清单与构建记录&lt;/Text&gt;&#13;&#10;        &lt;Text style={{ fontSize: 15, color: '#1F497D' }}&gt;14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9" name="矩形 128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130" name="圆角矩形 129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571500" y="219075"/>
            <a:ext cx="21336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技术选型与理由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" name="圆角矩形 132"/>
          <p:cNvSpPr/>
          <p:nvPr/>
        </p:nvSpPr>
        <p:spPr>
          <a:xfrm>
            <a:off x="381000" y="990600"/>
            <a:ext cx="7048500" cy="771525"/>
          </a:xfrm>
          <a:prstGeom prst="roundRect">
            <a:avLst>
              <a:gd name="adj" fmla="val 123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495300" y="11049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前端框架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文本框 134" descr="{&quot;isTemplate&quot;:true,&quot;type&quot;:&quot;text&quot;}"/>
          <p:cNvSpPr txBox="1"/>
          <p:nvPr/>
        </p:nvSpPr>
        <p:spPr>
          <a:xfrm>
            <a:off x="1314450" y="1123950"/>
            <a:ext cx="15906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React 19 + TypeScript</a:t>
            </a:r>
            <a:endParaRPr lang="en-US" sz="120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495300" y="1362075"/>
            <a:ext cx="68199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三端共用同一套组件与类型定义，量表字段全量强类型；漏传一个必填项，编译期就会报错。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圆角矩形 136"/>
          <p:cNvSpPr/>
          <p:nvPr/>
        </p:nvSpPr>
        <p:spPr>
          <a:xfrm>
            <a:off x="381000" y="1838325"/>
            <a:ext cx="7048500" cy="771525"/>
          </a:xfrm>
          <a:prstGeom prst="roundRect">
            <a:avLst>
              <a:gd name="adj" fmla="val 123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495300" y="1952625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构建工具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1314450" y="1971675"/>
            <a:ext cx="2857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Vite</a:t>
            </a:r>
            <a:endParaRPr lang="en-US" sz="120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495300" y="2209800"/>
            <a:ext cx="68199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开发热更新快，生产打包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1700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余个模块约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秒，答辩现场改一行也能立刻重跑。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圆角矩形 140"/>
          <p:cNvSpPr/>
          <p:nvPr/>
        </p:nvSpPr>
        <p:spPr>
          <a:xfrm>
            <a:off x="381000" y="2686050"/>
            <a:ext cx="7048500" cy="771525"/>
          </a:xfrm>
          <a:prstGeom prst="roundRect">
            <a:avLst>
              <a:gd name="adj" fmla="val 123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495300" y="280035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后端服务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1314450" y="2819400"/>
            <a:ext cx="952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Express + tsx</a:t>
            </a:r>
            <a:endParaRPr lang="en-US" sz="120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495300" y="3057525"/>
            <a:ext cx="68199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直接用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TypeScript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写服务端，与前端共享类型；不需要额外的编译步骤。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圆角矩形 144"/>
          <p:cNvSpPr/>
          <p:nvPr/>
        </p:nvSpPr>
        <p:spPr>
          <a:xfrm>
            <a:off x="381000" y="3533775"/>
            <a:ext cx="7048500" cy="771525"/>
          </a:xfrm>
          <a:prstGeom prst="roundRect">
            <a:avLst>
              <a:gd name="adj" fmla="val 12346"/>
            </a:avLst>
          </a:prstGeom>
          <a:solidFill>
            <a:srgbClr val="E8EFF8"/>
          </a:solidFill>
          <a:ln w="127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495300" y="3648075"/>
            <a:ext cx="9048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数据持久化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1495425" y="3667125"/>
            <a:ext cx="1057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LibSQL / Turso</a:t>
            </a:r>
            <a:endParaRPr lang="en-US" sz="120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495300" y="3905250"/>
            <a:ext cx="68199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云托管且兼容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SQLite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语法，三端在不同设备上共享同一份受试者数据；本地可切换为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file: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离线库。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381000" y="4381500"/>
            <a:ext cx="7048500" cy="771525"/>
          </a:xfrm>
          <a:prstGeom prst="roundRect">
            <a:avLst>
              <a:gd name="adj" fmla="val 123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495300" y="4495800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智能服务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314450" y="4514850"/>
            <a:ext cx="12001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Gemini 2.5 Flash</a:t>
            </a:r>
            <a:endParaRPr lang="en-US" sz="120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495300" y="4752975"/>
            <a:ext cx="68199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承担病历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与临床研判；旁挂式设计，缺密钥时自动降级，主流程不受影响。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圆角矩形 152"/>
          <p:cNvSpPr/>
          <p:nvPr/>
        </p:nvSpPr>
        <p:spPr>
          <a:xfrm>
            <a:off x="381000" y="5229225"/>
            <a:ext cx="7048500" cy="771525"/>
          </a:xfrm>
          <a:prstGeom prst="roundRect">
            <a:avLst>
              <a:gd name="adj" fmla="val 12346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495300" y="5343525"/>
            <a:ext cx="7239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数据导出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314450" y="5362575"/>
            <a:ext cx="2667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xlsx</a:t>
            </a:r>
            <a:endParaRPr lang="en-US" sz="1200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495300" y="5600700"/>
            <a:ext cx="68199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医生与科研人员最熟悉的交付形态是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Excel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，而不是再学一套新系统界面。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圆角矩形 156"/>
          <p:cNvSpPr/>
          <p:nvPr/>
        </p:nvSpPr>
        <p:spPr>
          <a:xfrm>
            <a:off x="7620000" y="990600"/>
            <a:ext cx="4191000" cy="5200650"/>
          </a:xfrm>
          <a:prstGeom prst="roundRect">
            <a:avLst>
              <a:gd name="adj" fmla="val 2727"/>
            </a:avLst>
          </a:prstGeom>
          <a:solidFill>
            <a:srgbClr val="1F497D"/>
          </a:solidFill>
        </p:spPr>
        <p:txBody>
          <a:bodyPr/>
          <a:p/>
        </p:txBody>
      </p:sp>
      <p:pic>
        <p:nvPicPr>
          <p:cNvPr id="158" name="图片 15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1238250"/>
            <a:ext cx="381000" cy="381000"/>
          </a:xfrm>
          <a:prstGeom prst="rect">
            <a:avLst/>
          </a:prstGeom>
        </p:spPr>
      </p:pic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7867650" y="1752600"/>
            <a:ext cx="36957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选型的三条原则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矩形 159"/>
          <p:cNvSpPr/>
          <p:nvPr/>
        </p:nvSpPr>
        <p:spPr>
          <a:xfrm>
            <a:off x="7867650" y="2305050"/>
            <a:ext cx="533400" cy="3810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67650" y="2676525"/>
            <a:ext cx="3695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类型优先</a:t>
            </a:r>
            <a:endParaRPr lang="zh-CN" sz="150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7867650" y="2962275"/>
            <a:ext cx="36957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能在编译期拦住的错误，绝不留给运行时。</a:t>
            </a:r>
            <a:endParaRPr lang="zh-CN" sz="12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7867650" y="3429000"/>
            <a:ext cx="3695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契约优先</a:t>
            </a:r>
            <a:endParaRPr lang="zh-CN" sz="150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67650" y="3714750"/>
            <a:ext cx="36957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前后端共用同一份接口与数据表定义，先定契约再写实现。</a:t>
            </a:r>
            <a:endParaRPr lang="zh-CN" sz="12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7867650" y="4476750"/>
            <a:ext cx="36957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可降级优先</a:t>
            </a:r>
            <a:endParaRPr lang="zh-CN" sz="150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7867650" y="4762500"/>
            <a:ext cx="36957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外部依赖全部可摘除，主流程不因缺密钥而中断。</a:t>
            </a:r>
            <a:endParaRPr lang="zh-CN" sz="12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圆角矩形 166"/>
          <p:cNvSpPr/>
          <p:nvPr/>
        </p:nvSpPr>
        <p:spPr>
          <a:xfrm>
            <a:off x="7867650" y="5381625"/>
            <a:ext cx="3695700" cy="561975"/>
          </a:xfrm>
          <a:prstGeom prst="roundRect">
            <a:avLst>
              <a:gd name="adj" fmla="val 1355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8001000" y="5514975"/>
            <a:ext cx="34290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这三条不是口号，后面每一个技术点都能对上号。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381000" y="6477000"/>
            <a:ext cx="2647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package.json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依赖清单与构建记录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数据模型：四张核心表&lt;/Text&gt;&#10;        &lt;/Box&gt;&#10;        &lt;Text style={{ fontSize: 16, color: '#9FC2E8' }}&gt;03 · 系统架构与技术实现&lt;/Text&gt;&#10;    &lt;/Box&gt;&#10;&#10;    &lt;Box style={{ position: 'absolute', top: 100, left: 40, width: 1200, flexDirection: 'column', gap: 12 }}&gt;&#10;        &lt;Box style={{ flexDirection: 'row', alignItems: 'center', gap: 12 }}&gt;&#10;            &lt;FAIcon name='info-circle' style={{ fill: '#4F81BD', width: 20, height: 20 }} /&gt;&#10;            &lt;Text style={{ fontSize: 18, color: '#4A5568' }}&gt;数据库为 LibSQL / Turso，兼容 SQLite 语法；四张表覆盖建档、草稿、评定与审核签字全链路&lt;/Text&gt;&#10;        &lt;/Box&gt;&#10;&#10;        &lt;Table&#10;            style={{ width: 1200, height: 420 }}&#10;            defaultTextStyle={{ fontSize: 17, textAlign: 'left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    padding: 10,&#10;            }}&#10;            cells={[&#10;                [&#10;                    { text: '数据表', textStyle: { bold: true, color: '#FFFFFF', fontSize: 18 }, cellStyle: { background: { color: '#1F497D' } } },&#10;                    { text: '主键与关联', textStyle: { bold: true, color: '#FFFFFF', fontSize: 18 }, cellStyle: { background: { color: '#1F497D' } } },&#10;                    { text: '职责与关键设计', textStyle: { bold: true, color: '#FFFFFF', fontSize: 18 }, cellStyle: { background: { color: '#1F497D' } } },&#10;                ],&#10;                [&#10;                    { text: 'patients', textStyle: { bold: true } },&#10;                    { text: 'id（主键）', textStyle: { bold: true, color: '#4F81BD' } },&#10;                    '受试者主档案：人口学信息、既往史、生物标志物与完整档案镜像',&#10;                ],&#10;                [&#10;                    { text: 'assessments', textStyle: { bold: true }, cellStyle: { background: { color: '#F7F9FC' } } },&#10;                    { text: 'id · patient_id（外键）', textStyle: { bold: true, color: '#4F81BD' }, cellStyle: { background: { color: '#F7F9FC' } } },&#10;                    { text: '量表评定明细：逐题答案、总分、灯色、维度小计；未完成或跳过时 score 必须为 NULL', cellStyle: { background: { color: '#F7F9FC' } } },&#10;                ],&#10;                [&#10;                    { text: 'drafts', textStyle: { bold: true, color: '#D9534F' } },&#10;                    { text: '(patient_id, role, flow_id) 联合主键', textStyle: { bold: true, color: '#D9534F' } },&#10;                    { text: '多端多流程草稿：同一受试者不同角色、不同量表流程的草稿互不覆盖' },&#10;                ],&#10;                [&#10;                    { text: 'ai_consultations', textStyle: { bold: true }, cellStyle: { background: { color: '#F7F9FC' } } },&#10;                    { text: 'id · patient_id（外键）', textStyle: { bold: true, color: '#4F81BD' }, cellStyle: { background: { color: '#F7F9FC' } } },&#10;                    { text: 'AI 研判与医生签字：pending_review → approved，签字意见写回患者档案', cellStyle: { background: { color: '#F7F9FC' } } },&#10;                ],&#10;            ]}&#10;        /&gt;&#10;&#10;        &lt;Box style={{ background: '#E8EFF8', borderRadius: 8, padding: 14, borderLeft: '5px solid #D9534F' }}&gt;&#10;            &lt;Text style={{ fontSize: 17, color: '#1F497D', lineHeight: 1.6 }}&gt;&#10;                最关键的一处设计是 drafts 的联合主键：早期版本只用 (patient_id, role)，导致同一角色在跑第二个量表流程时，草稿会直接覆盖前一个流程的作答。加上 flow_id 之后，每个流程各自隔离、独立续填。&#10;            &lt;/Text&gt;&#10;        &lt;/Box&gt;&#10;    &lt;/Box&gt;&#10;&#10;    &lt;Box style={{ position: 'absolute', bottom: 22, left: 40, width: 1200, flexDirection: 'row', justifyContent: 'space-between' }}&gt;&#10;        &lt;Text style={{ fontSize: 15, color: '#8B97A8' }}&gt;依据：接口与数据表定义文档&lt;/Text&gt;&#10;        &lt;Text style={{ fontSize: 15, color: '#1F497D' }}&gt;15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矩形 17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3" name="矩形 17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174" name="圆角矩形 173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571500" y="219075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数据模型：四张核心表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7" name="图片 17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962025"/>
            <a:ext cx="190500" cy="190500"/>
          </a:xfrm>
          <a:prstGeom prst="rect">
            <a:avLst/>
          </a:prstGeom>
        </p:spPr>
      </p:pic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85800" y="952500"/>
            <a:ext cx="71913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数据库为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LibSQL / Turso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，兼容</a:t>
            </a:r>
            <a:r>
              <a:rPr 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SQLite 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语法；四张表覆盖建档、草稿、评定与审核签字全链路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9" name="表格 178"/>
          <p:cNvGraphicFramePr/>
          <p:nvPr/>
        </p:nvGraphicFramePr>
        <p:xfrm>
          <a:off x="381000" y="1276350"/>
          <a:ext cx="11430000" cy="4000501"/>
        </p:xfrm>
        <a:graphic>
          <a:graphicData uri="http://schemas.openxmlformats.org/drawingml/2006/table">
            <a:tbl>
              <a:tblPr/>
              <a:tblGrid>
                <a:gridCol w="1510627"/>
                <a:gridCol w="3025347"/>
                <a:gridCol w="6894026"/>
              </a:tblGrid>
              <a:tr h="8184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数据表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主键与关联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职责与关键设计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7955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patients</a:t>
                      </a:r>
                      <a:endParaRPr sz="12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4F81B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id（主键）</a:t>
                      </a:r>
                      <a:endParaRPr sz="1275" b="1">
                        <a:solidFill>
                          <a:srgbClr val="4F81B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受试者主档案：人口学信息、既往史、生物标志物与完整档案镜像</a:t>
                      </a:r>
                      <a:endParaRPr sz="12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55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assessments</a:t>
                      </a:r>
                      <a:endParaRPr sz="12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4F81B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 · patient_id（外键）</a:t>
                      </a:r>
                      <a:endParaRPr sz="1275" b="1">
                        <a:solidFill>
                          <a:srgbClr val="4F81B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量表评定明细：逐题答案、总分、灯色、维度小计；未完成或跳过时 score 必须为 NULL</a:t>
                      </a:r>
                      <a:endParaRPr sz="12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7955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drafts</a:t>
                      </a:r>
                      <a:endParaRPr sz="1275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(patient_id, role, flow_id) 联合主键</a:t>
                      </a:r>
                      <a:endParaRPr sz="1275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多端多流程草稿：同一受试者不同角色、不同量表流程的草稿互不覆盖</a:t>
                      </a:r>
                      <a:endParaRPr sz="12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550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ai_consultations</a:t>
                      </a:r>
                      <a:endParaRPr sz="12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4F81B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 · patient_id（外键）</a:t>
                      </a:r>
                      <a:endParaRPr sz="1275" b="1">
                        <a:solidFill>
                          <a:srgbClr val="4F81B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AI 研判与医生签字：pending_review → approved，签字意见写回患者档案</a:t>
                      </a:r>
                      <a:endParaRPr sz="12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80" name="圆角矩形 179"/>
          <p:cNvSpPr/>
          <p:nvPr/>
        </p:nvSpPr>
        <p:spPr>
          <a:xfrm>
            <a:off x="428625" y="5391150"/>
            <a:ext cx="11430000" cy="895350"/>
          </a:xfrm>
          <a:prstGeom prst="roundRect">
            <a:avLst>
              <a:gd name="adj" fmla="val 8511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81" name="任意多边形 180"/>
          <p:cNvSpPr/>
          <p:nvPr/>
        </p:nvSpPr>
        <p:spPr>
          <a:xfrm>
            <a:off x="428625" y="5391150"/>
            <a:ext cx="11430000" cy="895350"/>
          </a:xfrm>
          <a:custGeom>
            <a:avLst/>
            <a:gdLst/>
            <a:ahLst/>
            <a:cxnLst/>
            <a:pathLst>
              <a:path w="1200" h="94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91"/>
                </a:lnTo>
                <a:cubicBezTo>
                  <a:pt x="5" y="93"/>
                  <a:pt x="6" y="94"/>
                  <a:pt x="8" y="94"/>
                </a:cubicBezTo>
                <a:cubicBezTo>
                  <a:pt x="3" y="94"/>
                  <a:pt x="0" y="90"/>
                  <a:pt x="0" y="8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182" name="文本框 181" descr="{&quot;isTemplate&quot;:true,&quot;type&quot;:&quot;text&quot;}"/>
          <p:cNvSpPr txBox="1"/>
          <p:nvPr/>
        </p:nvSpPr>
        <p:spPr>
          <a:xfrm>
            <a:off x="561975" y="5524500"/>
            <a:ext cx="11115675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最关键的一处设计是</a:t>
            </a:r>
            <a:r>
              <a:rPr lang="en-US" sz="1275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drafts </a:t>
            </a:r>
            <a:r>
              <a:rPr lang="zh-CN" sz="1275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的联合主键：早期版本只用</a:t>
            </a:r>
            <a:r>
              <a:rPr lang="en-US" sz="1275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(patient_id, role)</a:t>
            </a:r>
            <a:r>
              <a:rPr lang="zh-CN" sz="1275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，导致同一角色在跑第二个量表流程时，草稿会直接覆盖前一个流程的作答。加上</a:t>
            </a:r>
            <a:r>
              <a:rPr lang="en-US" sz="1275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flow_id </a:t>
            </a:r>
            <a:r>
              <a:rPr lang="zh-CN" sz="1275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之后，每个流程各自隔离、独立续填。</a:t>
            </a:r>
            <a:endParaRPr lang="zh-CN" sz="1275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381000" y="6477000"/>
            <a:ext cx="18573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依据：接口与数据表定义文档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接口体系：按业务域组织&lt;/Text&gt;&#10;        &lt;/Box&gt;&#10;        &lt;Text style={{ fontSize: 16, color: '#9FC2E8' }}&gt;03 · 系统架构与技术实现&lt;/Text&gt;&#10;    &lt;/Box&gt;&#10;&#10;    &lt;Box style={{ position: 'absolute', top: 104, left: 40, width: 296, height: 546, background: '#1F497D', borderRadius: 12, padding: 24, flexDirection: 'column', justifyContent: 'space-between' }}&gt;&#10;        &lt;Box style={{ flexDirection: 'column', gap: 12 }}&gt;&#10;            &lt;Text style={{ fontSize: 16, color: '#9FC2E8', letterSpacing: 1 }}&gt;接口域数量&lt;/Text&gt;&#10;            &lt;Box style={{ flexDirection: 'row', alignItems: 'flex-end', gap: 10 }}&gt;&#10;                &lt;Text style={{ fontSize: 92, fontWeight: 'bold', color: '#FFFFFF', lineHeight: 1 }}&gt;6&lt;/Text&gt;&#10;                &lt;Text style={{ fontSize: 20, color: '#B5D4F4', marginBottom: 12 }}&gt;个业务域&lt;/Text&gt;&#10;            &lt;/Box&gt;&#10;        &lt;/Box&gt;&#10;        &lt;Box style={{ flexDirection: 'column', gap: 14 }}&gt;&#10;            &lt;Box style={{ width: 52, height: 4, background: '#4F81BD' }} /&gt;&#10;            &lt;Text style={{ fontSize: 18, color: '#DCE7F5', lineHeight: 1.7 }}&gt;&#10;                所有响应统一为 success 与 data 两段式信封，前端只需处理一种结构。&#10;            &lt;/Text&gt;&#10;        &lt;/Box&gt;&#10;        &lt;Box style={{ background: '#0E3F8C', borderRadius: 8, padding: 14, flexDirection: 'column', gap: 8 }}&gt;&#10;            &lt;Box style={{ flexDirection: 'row', alignItems: 'center', gap: 8 }}&gt;&#10;                &lt;FAIcon name='shield' style={{ fill: '#9FE1CB', width: 18, height: 18 }} /&gt;&#10;                &lt;Text style={{ fontSize: 16, color: '#9FE1CB', fontWeight: 'bold' }}&gt;注入防护&lt;/Text&gt;&#10;            &lt;/Box&gt;&#10;            &lt;Text style={{ fontSize: 15, color: '#DCE7F5', lineHeight: 1.6 }}&gt;&#10;                查询全部走参数化绑定，注入串实测无法生效，全表未被泄露。&#10;            &lt;/Text&gt;&#10;        &lt;/Box&gt;&#10;    &lt;/Box&gt;&#10;&#10;    &lt;Box style={{ position: 'absolute', top: 104, left: 356, width: 884, flexDirection: 'column', gap: 10 }}&gt;&#10;        &lt;Box style={{ background: '#F0F5FC', borderRadius: 10, border: '1px solid #D6DCE5', padding: 12, flexDirection: 'column', gap: 4 }}&gt;&#10;            &lt;Box style={{ flexDirection: 'row', alignItems: 'center', gap: 10 }}&gt;&#10;                &lt;Text style={{ fontSize: 18, fontWeight: 'bold', color: '#1F497D' }}&gt;系统与数据库状态&lt;/Text&gt;&#10;                &lt;Text style={{ fontSize: 15, color: '#4F81BD' }}&gt;2 个端点&lt;/Text&gt;&#10;            &lt;/Box&gt;&#10;            &lt;Text style={{ fontSize: 15, color: '#4A5568', lineHeight: 1.55 }}&gt;GET /api/health 服务存活检测 · GET /api/v1/db/status 云端连接状态、往返延迟与总量统计&lt;/Text&gt;&#10;        &lt;/Box&gt;&#10;&#10;        &lt;Box style={{ background: '#F0F5FC', borderRadius: 10, border: '1px solid #D6DCE5', padding: 12, flexDirection: 'column', gap: 4 }}&gt;&#10;            &lt;Box style={{ flexDirection: 'row', alignItems: 'center', gap: 10 }}&gt;&#10;                &lt;Text style={{ fontSize: 18, fontWeight: 'bold', color: '#1F497D' }}&gt;受试者档案管理&lt;/Text&gt;&#10;                &lt;Text style={{ fontSize: 15, color: '#4F81BD' }}&gt;6 个端点&lt;/Text&gt;&#10;            &lt;/Box&gt;&#10;            &lt;Text style={{ fontSize: 15, color: '#4A5568', lineHeight: 1.55 }}&gt;队列检索（按姓名 / 研究编号）· 详情读取 · 新建（201）· 增量更新 · 删除并级联清理 · 预设队列播种&lt;/Text&gt;&#10;        &lt;/Box&gt;&#10;&#10;        &lt;Box style={{ background: '#F0F5FC', borderRadius: 10, border: '1px solid #D6DCE5', padding: 12, flexDirection: 'column', gap: 4 }}&gt;&#10;            &lt;Box style={{ flexDirection: 'row', alignItems: 'center', gap: 10 }}&gt;&#10;                &lt;Text style={{ fontSize: 18, fontWeight: 'bold', color: '#1F497D' }}&gt;量表评定与多流程草稿&lt;/Text&gt;&#10;                &lt;Text style={{ fontSize: 15, color: '#4F81BD' }}&gt;3 个端点&lt;/Text&gt;&#10;            &lt;/Box&gt;&#10;            &lt;Text style={{ fontSize: 15, color: '#4A5568', lineHeight: 1.55 }}&gt;POST /patients/:id/assessments 提交评定 · GET / PUT /patients/:id/drafts/:role/:flowId 按角色与流程读写草稿&lt;/Text&gt;&#10;        &lt;/Box&gt;&#10;&#10;        &lt;Box style={{ background: '#E8EFF8', borderRadius: 10, border: '1px solid #1F497D', padding: 12, flexDirection: 'column', gap: 4 }}&gt;&#10;            &lt;Box style={{ flexDirection: 'row', alignItems: 'center', gap: 10 }}&gt;&#10;                &lt;Text style={{ fontSize: 18, fontWeight: 'bold', color: '#1F497D' }}&gt;AI 研判与医生审核签字&lt;/Text&gt;&#10;                &lt;Text style={{ fontSize: 15, color: '#4F81BD' }}&gt;6 个端点&lt;/Text&gt;&#10;            &lt;/Box&gt;&#10;            &lt;Text style={{ fontSize: 15, color: '#1A2230', lineHeight: 1.55 }}&gt;量表综合分析 · 临床推理 · 绘图智能打分 · 待审核列表（单患者去重）· 提交研判入队 · 医生签字并写回正式诊断&lt;/Text&gt;&#10;        &lt;/Box&gt;&#10;&#10;        &lt;Box style={{ background: '#F0F5FC', borderRadius: 10, border: '1px solid #D6DCE5', padding: 12, flexDirection: 'column', gap: 4 }}&gt;&#10;            &lt;Box style={{ flexDirection: 'row', alignItems: 'center', gap: 10 }}&gt;&#10;                &lt;Text style={{ fontSize: 18, fontWeight: 'bold', color: '#1F497D' }}&gt;文档 OCR 结构化&lt;/Text&gt;&#10;                &lt;Text style={{ fontSize: 15, color: '#4F81BD' }}&gt;3 个端点&lt;/Text&gt;&#10;            &lt;/Box&gt;&#10;            &lt;Text style={{ fontSize: 15, color: '#4A5568', lineHeight: 1.55 }}&gt;病历图像 / 文本结构化提取 · 内置示例病例解析 · 示例病例列表，三者共用同一套人工确认流程&lt;/Text&gt;&#10;        &lt;/Box&gt;&#10;&#10;        &lt;Box style={{ background: '#F7F9FC', borderRadius: 10, border: '1px solid #D6DCE5', padding: 12, flexDirection: 'column', gap: 4 }}&gt;&#10;            &lt;Box style={{ flexDirection: 'row', alignItems: 'center', gap: 10 }}&gt;&#10;                &lt;Text style={{ fontSize: 18, fontWeight: 'bold', color: '#1F497D' }}&gt;错误处理约定&lt;/Text&gt;&#10;                &lt;Text style={{ fontSize: 15, color: '#4F81BD' }}&gt;统一语义&lt;/Text&gt;&#10;            &lt;/Box&gt;&#10;            &lt;Text style={{ fontSize: 15, color: '#4A5568', lineHeight: 1.55 }}&gt;资源不存在返回 404 且 success 为 false；草稿缺失返回 200 与 data 为 null（而非 500）——前端无需区分&quot;没有草稿&quot;和&quot;出错了&quot;两种情况&lt;/Text&gt;&#10;        &lt;/Box&gt;&#10;    &lt;/Box&gt;&#10;&#10;    &lt;Box style={{ position: 'absolute', bottom: 22, left: 40, width: 1200, flexDirection: 'row', justifyContent: 'space-between' }}&gt;&#10;        &lt;Text style={{ fontSize: 15, color: '#8B97A8' }}&gt;依据：接口与数据表定义文档 · 接口与临床数据技术契约&lt;/Text&gt;&#10;        &lt;Text style={{ fontSize: 15, color: '#1F497D' }}&gt;16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矩形 18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87" name="矩形 186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188" name="圆角矩形 187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189" name="文本框 188" descr="{&quot;isTemplate&quot;:true,&quot;type&quot;:&quot;text&quot;}"/>
          <p:cNvSpPr txBox="1"/>
          <p:nvPr/>
        </p:nvSpPr>
        <p:spPr>
          <a:xfrm>
            <a:off x="571500" y="219075"/>
            <a:ext cx="33528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接口体系：按业务域组织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圆角矩形 190"/>
          <p:cNvSpPr/>
          <p:nvPr/>
        </p:nvSpPr>
        <p:spPr>
          <a:xfrm>
            <a:off x="381000" y="990600"/>
            <a:ext cx="2819400" cy="5200650"/>
          </a:xfrm>
          <a:prstGeom prst="roundRect">
            <a:avLst>
              <a:gd name="adj" fmla="val 4054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609600" y="1219200"/>
            <a:ext cx="2362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接口域数量</a:t>
            </a:r>
            <a:endParaRPr lang="zh-CN" sz="1200" spc="75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609600" y="1524000"/>
            <a:ext cx="542925" cy="1057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6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247775" y="2238375"/>
            <a:ext cx="762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个业务域</a:t>
            </a:r>
            <a:endParaRPr lang="zh-CN" sz="1500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" name="矩形 194"/>
          <p:cNvSpPr/>
          <p:nvPr/>
        </p:nvSpPr>
        <p:spPr>
          <a:xfrm>
            <a:off x="609600" y="3114675"/>
            <a:ext cx="495300" cy="3810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09600" y="3286125"/>
            <a:ext cx="2362200" cy="10572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所有响应统一为</a:t>
            </a:r>
            <a:r>
              <a:rPr lang="en-US" sz="13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 success </a:t>
            </a:r>
            <a:r>
              <a:rPr lang="zh-CN" sz="13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3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3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两段式信封，前端只需处理一种结构。</a:t>
            </a:r>
            <a:endParaRPr lang="zh-CN" sz="135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7" name="圆角矩形 196"/>
          <p:cNvSpPr/>
          <p:nvPr/>
        </p:nvSpPr>
        <p:spPr>
          <a:xfrm>
            <a:off x="609600" y="4876800"/>
            <a:ext cx="2362200" cy="1085850"/>
          </a:xfrm>
          <a:prstGeom prst="roundRect">
            <a:avLst>
              <a:gd name="adj" fmla="val 7018"/>
            </a:avLst>
          </a:prstGeom>
          <a:solidFill>
            <a:srgbClr val="0E3F8C"/>
          </a:solidFill>
        </p:spPr>
        <p:txBody>
          <a:bodyPr/>
          <a:p/>
        </p:txBody>
      </p:sp>
      <p:pic>
        <p:nvPicPr>
          <p:cNvPr id="198" name="图片 19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2950" y="5019675"/>
            <a:ext cx="171450" cy="171450"/>
          </a:xfrm>
          <a:prstGeom prst="rect">
            <a:avLst/>
          </a:prstGeom>
        </p:spPr>
      </p:pic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90600" y="501015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9FE1CB"/>
                </a:solidFill>
                <a:latin typeface="微软雅黑" panose="020B0503020204020204" charset="-122"/>
                <a:ea typeface="微软雅黑" panose="020B0503020204020204" charset="-122"/>
              </a:rPr>
              <a:t>注入防护</a:t>
            </a:r>
            <a:endParaRPr lang="zh-CN" sz="1200" b="1">
              <a:solidFill>
                <a:srgbClr val="9FE1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742950" y="5276850"/>
            <a:ext cx="2095500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查询全部走参数化绑定，注入串实测无法生效，全表未被泄露。</a:t>
            </a:r>
            <a:endParaRPr lang="zh-CN" sz="112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1" name="圆角矩形 200"/>
          <p:cNvSpPr/>
          <p:nvPr/>
        </p:nvSpPr>
        <p:spPr>
          <a:xfrm>
            <a:off x="3390900" y="990600"/>
            <a:ext cx="84201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3505200" y="1104900"/>
            <a:ext cx="13716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系统与数据库状态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972050" y="1123950"/>
            <a:ext cx="561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个端点</a:t>
            </a:r>
            <a:endParaRPr lang="zh-CN" sz="1125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3505200" y="1352550"/>
            <a:ext cx="8191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GET /api/health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服务存活检测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GET /api/v1/db/status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云端连接状态、往返延迟与总量统计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/>
        </p:nvSpPr>
        <p:spPr>
          <a:xfrm>
            <a:off x="3390900" y="1828800"/>
            <a:ext cx="84201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3505200" y="1943100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受试者档案管理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800600" y="1962150"/>
            <a:ext cx="561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个端点</a:t>
            </a:r>
            <a:endParaRPr lang="zh-CN" sz="1125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3505200" y="2190750"/>
            <a:ext cx="8191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队列检索（按姓名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研究编号）·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详情读取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新建（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201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）·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增量更新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删除并级联清理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预设队列播种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9" name="圆角矩形 208"/>
          <p:cNvSpPr/>
          <p:nvPr/>
        </p:nvSpPr>
        <p:spPr>
          <a:xfrm>
            <a:off x="3390900" y="2667000"/>
            <a:ext cx="84201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3505200" y="2781300"/>
            <a:ext cx="17145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量表评定与多流程草稿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5314950" y="2800350"/>
            <a:ext cx="561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3 </a:t>
            </a:r>
            <a:r>
              <a:rPr lang="zh-CN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个端点</a:t>
            </a:r>
            <a:endParaRPr lang="zh-CN" sz="1125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3505200" y="3028950"/>
            <a:ext cx="8191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POST /patients/:id/assessments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提交评定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GET / PUT /patients/:id/drafts/:role/:flowId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按角色与流程读写草稿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3390900" y="3505200"/>
            <a:ext cx="8420100" cy="742950"/>
          </a:xfrm>
          <a:prstGeom prst="roundRect">
            <a:avLst>
              <a:gd name="adj" fmla="val 12821"/>
            </a:avLst>
          </a:prstGeom>
          <a:solidFill>
            <a:srgbClr val="E8EFF8"/>
          </a:solidFill>
          <a:ln w="127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3505200" y="3619500"/>
            <a:ext cx="17811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研判与医生审核签字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5381625" y="3638550"/>
            <a:ext cx="561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6 </a:t>
            </a:r>
            <a:r>
              <a:rPr lang="zh-CN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个端点</a:t>
            </a:r>
            <a:endParaRPr lang="zh-CN" sz="1125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3505200" y="3867150"/>
            <a:ext cx="8191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量表综合分析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临床推理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绘图智能打分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待审核列表（单患者去重）·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提交研判入队</a:t>
            </a:r>
            <a:r>
              <a:rPr lang="en-US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医生签字并写回正式诊断</a:t>
            </a:r>
            <a:endParaRPr lang="zh-CN" sz="112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7" name="圆角矩形 216"/>
          <p:cNvSpPr/>
          <p:nvPr/>
        </p:nvSpPr>
        <p:spPr>
          <a:xfrm>
            <a:off x="3390900" y="4343400"/>
            <a:ext cx="8420100" cy="742950"/>
          </a:xfrm>
          <a:prstGeom prst="roundRect">
            <a:avLst>
              <a:gd name="adj" fmla="val 128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3505200" y="4457700"/>
            <a:ext cx="13430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文档</a:t>
            </a:r>
            <a:r>
              <a:rPr lang="en-US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结构化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4943475" y="4476750"/>
            <a:ext cx="561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1 </a:t>
            </a:r>
            <a:r>
              <a:rPr lang="zh-CN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个端点</a:t>
            </a:r>
            <a:endParaRPr lang="zh-CN" sz="1125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05200" y="4705350"/>
            <a:ext cx="81915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病历图像 / PDF / 文本结构化提取；配置密钥时调用大模型，未配置则降级为规则解析；识别结果须经医生逐项核对后才写入档案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1" name="圆角矩形 220"/>
          <p:cNvSpPr/>
          <p:nvPr/>
        </p:nvSpPr>
        <p:spPr>
          <a:xfrm>
            <a:off x="3390900" y="5181600"/>
            <a:ext cx="8420100" cy="1009650"/>
          </a:xfrm>
          <a:prstGeom prst="roundRect">
            <a:avLst>
              <a:gd name="adj" fmla="val 943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3505200" y="5295900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错误处理约定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3" name="文本框 222" descr="{&quot;isTemplate&quot;:true,&quot;type&quot;:&quot;text&quot;}"/>
          <p:cNvSpPr txBox="1"/>
          <p:nvPr/>
        </p:nvSpPr>
        <p:spPr>
          <a:xfrm>
            <a:off x="4629150" y="5314950"/>
            <a:ext cx="571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统一语义</a:t>
            </a:r>
            <a:endParaRPr lang="zh-CN" sz="1125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3505200" y="5543550"/>
            <a:ext cx="8191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资源不存在返回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404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且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success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false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；草稿缺失返回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200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data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null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（而非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500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）——前端无需区分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没有草稿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出错了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两种情况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381000" y="6477000"/>
            <a:ext cx="3552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依据：接口与数据表定义文档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接口与临床数据技术契约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7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三端解耦与访问守卫&lt;/Text&gt;&#10;        &lt;/Box&gt;&#10;        &lt;Text style={{ fontSize: 16, color: '#9FC2E8' }}&gt;03 · 系统架构与技术实现&lt;/Text&gt;&#10;    &lt;/Box&gt;&#10;&#10;    &lt;Box style={{ position: 'absolute', top: 104, left: 40, width: 740, flexDirection: 'column', gap: 14 }}&gt;&#10;        &lt;Box style={{ background: '#F0F5FC', borderRadius: 10, border: '1px solid #4F81BD', padding: 16, flexDirection: 'row', gap: 14 }}&gt;&#10;            &lt;Box style={{ width: 34, height: 34, borderRadius: 17, background: '#1F497D', justifyContent: 'center', alignItems: 'center' }}&gt;&#10;                &lt;Text style={{ fontSize: 17, fontWeight: 'bold', color: '#FFFFFF' }}&gt;1&lt;/Text&gt;&#10;            &lt;/Box&gt;&#10;            &lt;Box style={{ flexDirection: 'column', gap: 5, flex: 1 }}&gt;&#10;                &lt;Text style={{ fontSize: 20, fontWeight: 'bold', color: '#1F497D' }}&gt;进入医生端&lt;/Text&gt;&#10;                &lt;Text style={{ fontSize: 16, color: '#4A5568', lineHeight: 1.6 }}&gt;不读取上一次的受试者，也不用队列第一人兜底。&lt;/Text&gt;&#10;            &lt;/Box&gt;&#10;        &lt;/Box&gt;&#10;&#10;        &lt;Box style={{ background: '#F0F5FC', borderRadius: 10, border: '1px solid #4F81BD', padding: 16, flexDirection: 'row', gap: 14 }}&gt;&#10;            &lt;Box style={{ width: 34, height: 34, borderRadius: 17, background: '#1F497D', justifyContent: 'center', alignItems: 'center' }}&gt;&#10;                &lt;Text style={{ fontSize: 17, fontWeight: 'bold', color: '#FFFFFF' }}&gt;2&lt;/Text&gt;&#10;            &lt;/Box&gt;&#10;            &lt;Box style={{ flexDirection: 'column', gap: 5, flex: 1 }}&gt;&#10;                &lt;Text style={{ fontSize: 20, fontWeight: 'bold', color: '#1F497D' }}&gt;首屏固定为受试者队列&lt;/Text&gt;&#10;                &lt;Text style={{ fontSize: 16, color: '#4A5568', lineHeight: 1.6 }}&gt;当前受试者标识 activePatientId 的初始值被强制设为 null。&lt;/Text&gt;&#10;            &lt;/Box&gt;&#10;        &lt;/Box&gt;&#10;&#10;        &lt;Box style={{ background: '#E8EFF8', borderRadius: 10, border: '2px solid #1F497D', padding: 16, flexDirection: 'row', gap: 14 }}&gt;&#10;            &lt;Box style={{ width: 34, height: 34, borderRadius: 17, background: '#D9534F', justifyContent: 'center', alignItems: 'center' }}&gt;&#10;                &lt;Text style={{ fontSize: 17, fontWeight: 'bold', color: '#FFFFFF' }}&gt;3&lt;/Text&gt;&#10;            &lt;/Box&gt;&#10;            &lt;Box style={{ flexDirection: 'column', gap: 5, flex: 1 }}&gt;&#10;                &lt;Text style={{ fontSize: 20, fontWeight: 'bold', color: '#1F497D' }}&gt;未选择受试者时一律拦截&lt;/Text&gt;&#10;                &lt;Text style={{ fontSize: 16, color: '#1A2230', lineHeight: 1.6 }}&gt;量表评定、综合报告、文档上传、AI 研判四个入口全部拦住，页面统一提示&quot;请选择受试者&quot;——而不是显示某个示例姓名。&lt;/Text&gt;&#10;            &lt;/Box&gt;&#10;        &lt;/Box&gt;&#10;&#10;        &lt;Box style={{ background: '#F0F5FC', borderRadius: 10, border: '1px solid #4F81BD', padding: 16, flexDirection: 'row', gap: 14 }}&gt;&#10;            &lt;Box style={{ width: 34, height: 34, borderRadius: 17, background: '#1F497D', justifyContent: 'center', alignItems: 'center' }}&gt;&#10;                &lt;Text style={{ fontSize: 17, fontWeight: 'bold', color: '#FFFFFF' }}&gt;4&lt;/Text&gt;&#10;            &lt;/Box&gt;&#10;            &lt;Box style={{ flexDirection: 'column', gap: 5, flex: 1 }}&gt;&#10;                &lt;Text style={{ fontSize: 20, fontWeight: 'bold', color: '#1F497D' }}&gt;选择后建立工作上下文&lt;/Text&gt;&#10;                &lt;Text style={{ fontSize: 16, color: '#4A5568', lineHeight: 1.6 }}&gt;所有专业操作写入该 patient_id；一旦返回队列，当前工作上下文立即清除，&quot;最近查看&quot;只能作列表提示，不能自动选中。&lt;/Text&gt;&#10;            &lt;/Box&gt;&#10;        &lt;/Box&gt;&#10;    &lt;/Box&gt;&#10;&#10;    &lt;Box style={{ position: 'absolute', top: 104, left: 800, width: 440, height: 546, background: '#1F497D', borderRadius: 12, padding: 26, flexDirection: 'column', justifyContent: 'space-between' }}&gt;&#10;        &lt;Box style={{ flexDirection: 'column', gap: 14 }}&gt;&#10;            &lt;FAIcon name='lock' style={{ fill: '#4F81BD', width: 38, height: 38 }} /&gt;&#10;            &lt;Text style={{ fontSize: 27, fontWeight: 'bold', color: '#FFFFFF', lineHeight: 1.3 }}&gt;草稿按角色硬隔离&lt;/Text&gt;&#10;            &lt;Box style={{ width: 56, height: 4, background: '#4F81BD' }} /&gt;&#10;        &lt;/Box&gt;&#10;        &lt;Box style={{ flexDirection: 'column', gap: 14 }}&gt;&#10;            &lt;Box style={{ flexDirection: 'row', justifyContent: 'space-between', alignItems: 'center' }}&gt;&#10;                &lt;Text style={{ fontSize: 17, color: '#DCE7F5' }}&gt;受试者草稿&lt;/Text&gt;&#10;                &lt;Text style={{ fontSize: 17, color: '#B5D4F4', fontWeight: 'bold' }}&gt;仅 patient&lt;/Text&gt;&#10;            &lt;/Box&gt;&#10;            &lt;Box style={{ height: 1, background: '#2C5A9E' }} /&gt;&#10;            &lt;Box style={{ flexDirection: 'row', justifyContent: 'space-between', alignItems: 'center' }}&gt;&#10;                &lt;Text style={{ fontSize: 17, color: '#DCE7F5' }}&gt;家属草稿&lt;/Text&gt;&#10;                &lt;Text style={{ fontSize: 17, color: '#B5D4F4', fontWeight: 'bold' }}&gt;仅 informant&lt;/Text&gt;&#10;            &lt;/Box&gt;&#10;            &lt;Box style={{ height: 1, background: '#2C5A9E' }} /&gt;&#10;            &lt;Box style={{ flexDirection: 'row', justifyContent: 'space-between', alignItems: 'center' }}&gt;&#10;                &lt;Text style={{ fontSize: 17, color: '#DCE7F5' }}&gt;医生草稿&lt;/Text&gt;&#10;                &lt;Text style={{ fontSize: 17, color: '#B5D4F4', fontWeight: 'bold' }}&gt;仅 examiner&lt;/Text&gt;&#10;            &lt;/Box&gt;&#10;        &lt;/Box&gt;&#10;        &lt;Box style={{ background: '#0E3F8C', borderRadius: 8, padding: 14 }}&gt;&#10;            &lt;Text style={{ fontSize: 16, color: '#DCE7F5', lineHeight: 1.65 }}&gt;&#10;                任何一端都不能继承另一端的当前题号、未提交答案或页面位置——跨端&quot;串流程&quot;在结构上就不成立。&#10;            &lt;/Text&gt;&#10;        &lt;/Box&gt;&#10;    &lt;/Box&gt;&#10;&#10;    &lt;Box style={{ position: 'absolute', bottom: 22, left: 40, width: 1200, flexDirection: 'row', justifyContent: 'space-between' }}&gt;&#10;        &lt;Text style={{ fontSize: 15, color: '#8B97A8' }}&gt;依据：三端业务流程定稿与实现差距核查记录&lt;/Text&gt;&#10;        &lt;Text style={{ fontSize: 15, color: '#1F497D' }}&gt;17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矩形 2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29" name="矩形 228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230" name="圆角矩形 229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231" name="文本框 230" descr="{&quot;isTemplate&quot;:true,&quot;type&quot;:&quot;text&quot;}"/>
          <p:cNvSpPr txBox="1"/>
          <p:nvPr/>
        </p:nvSpPr>
        <p:spPr>
          <a:xfrm>
            <a:off x="571500" y="21907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三端解耦与访问守卫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03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系统架构与技术实现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3" name="圆角矩形 232"/>
          <p:cNvSpPr/>
          <p:nvPr/>
        </p:nvSpPr>
        <p:spPr>
          <a:xfrm>
            <a:off x="381000" y="990600"/>
            <a:ext cx="7048500" cy="876300"/>
          </a:xfrm>
          <a:prstGeom prst="roundRect">
            <a:avLst>
              <a:gd name="adj" fmla="val 10870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234" name="圆角矩形 233"/>
          <p:cNvSpPr/>
          <p:nvPr/>
        </p:nvSpPr>
        <p:spPr>
          <a:xfrm>
            <a:off x="533400" y="11430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647700" y="120967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990600" y="1143000"/>
            <a:ext cx="6286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进入医生端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文本框 236" descr="{&quot;isTemplate&quot;:true,&quot;type&quot;:&quot;text&quot;}"/>
          <p:cNvSpPr txBox="1"/>
          <p:nvPr/>
        </p:nvSpPr>
        <p:spPr>
          <a:xfrm>
            <a:off x="990600" y="1419225"/>
            <a:ext cx="6286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不读取上一次的受试者，也不用队列第一人兜底。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8" name="圆角矩形 237"/>
          <p:cNvSpPr/>
          <p:nvPr/>
        </p:nvSpPr>
        <p:spPr>
          <a:xfrm>
            <a:off x="381000" y="2000250"/>
            <a:ext cx="7048500" cy="876300"/>
          </a:xfrm>
          <a:prstGeom prst="roundRect">
            <a:avLst>
              <a:gd name="adj" fmla="val 10870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239" name="圆角矩形 238"/>
          <p:cNvSpPr/>
          <p:nvPr/>
        </p:nvSpPr>
        <p:spPr>
          <a:xfrm>
            <a:off x="533400" y="21526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647700" y="221932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990600" y="2152650"/>
            <a:ext cx="6286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首屏固定为受试者队列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990600" y="2428875"/>
            <a:ext cx="6286500" cy="2952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当前受试者标识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activePatientId 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的初始值被强制设为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null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3" name="圆角矩形 242"/>
          <p:cNvSpPr/>
          <p:nvPr/>
        </p:nvSpPr>
        <p:spPr>
          <a:xfrm>
            <a:off x="381000" y="3009900"/>
            <a:ext cx="7048500" cy="1171575"/>
          </a:xfrm>
          <a:prstGeom prst="roundRect">
            <a:avLst>
              <a:gd name="adj" fmla="val 8130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244" name="圆角矩形 243"/>
          <p:cNvSpPr/>
          <p:nvPr/>
        </p:nvSpPr>
        <p:spPr>
          <a:xfrm>
            <a:off x="533400" y="31623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647700" y="3228975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90600" y="3162300"/>
            <a:ext cx="6286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未选择受试者时一律拦截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990600" y="3438525"/>
            <a:ext cx="6286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量表评定、综合报告、文档上传、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研判四个入口全部拦住，页面统一提示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请选择受试者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而不是显示某个示例姓名。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8" name="圆角矩形 247"/>
          <p:cNvSpPr/>
          <p:nvPr/>
        </p:nvSpPr>
        <p:spPr>
          <a:xfrm>
            <a:off x="381000" y="4314825"/>
            <a:ext cx="7048500" cy="1171575"/>
          </a:xfrm>
          <a:prstGeom prst="roundRect">
            <a:avLst>
              <a:gd name="adj" fmla="val 8130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249" name="圆角矩形 248"/>
          <p:cNvSpPr/>
          <p:nvPr/>
        </p:nvSpPr>
        <p:spPr>
          <a:xfrm>
            <a:off x="533400" y="44672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647700" y="4533900"/>
            <a:ext cx="1047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990600" y="4467225"/>
            <a:ext cx="6286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选择后建立工作上下文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990600" y="4743450"/>
            <a:ext cx="62865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所有专业操作写入该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patient_id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；一旦返回队列，当前工作上下文立即清除，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最近查看</a:t>
            </a:r>
            <a:r>
              <a:rPr lang="en-US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只能作列表提示，不能自动选中。</a:t>
            </a:r>
            <a:endParaRPr lang="zh-CN" sz="12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3" name="圆角矩形 252"/>
          <p:cNvSpPr/>
          <p:nvPr/>
        </p:nvSpPr>
        <p:spPr>
          <a:xfrm>
            <a:off x="7620000" y="990600"/>
            <a:ext cx="4191000" cy="5200650"/>
          </a:xfrm>
          <a:prstGeom prst="roundRect">
            <a:avLst>
              <a:gd name="adj" fmla="val 2727"/>
            </a:avLst>
          </a:prstGeom>
          <a:solidFill>
            <a:srgbClr val="1F497D"/>
          </a:solidFill>
        </p:spPr>
        <p:txBody>
          <a:bodyPr/>
          <a:p/>
        </p:txBody>
      </p:sp>
      <p:pic>
        <p:nvPicPr>
          <p:cNvPr id="254" name="图片 25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1238250"/>
            <a:ext cx="361950" cy="361950"/>
          </a:xfrm>
          <a:prstGeom prst="rect">
            <a:avLst/>
          </a:prstGeom>
        </p:spPr>
      </p:pic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7867650" y="1733550"/>
            <a:ext cx="3695700" cy="4095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草稿按角色硬隔离</a:t>
            </a:r>
            <a:endParaRPr lang="zh-CN"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矩形 255"/>
          <p:cNvSpPr/>
          <p:nvPr/>
        </p:nvSpPr>
        <p:spPr>
          <a:xfrm>
            <a:off x="7867650" y="2276475"/>
            <a:ext cx="533400" cy="3810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7867650" y="2962275"/>
            <a:ext cx="809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受试者草稿</a:t>
            </a:r>
            <a:endParaRPr lang="zh-CN" sz="127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10763250" y="2962275"/>
            <a:ext cx="8001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lang="en-US" sz="1275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 patient</a:t>
            </a:r>
            <a:endParaRPr lang="en-US" sz="1275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7867650" y="3295650"/>
            <a:ext cx="3695700" cy="9525"/>
          </a:xfrm>
          <a:prstGeom prst="rect">
            <a:avLst/>
          </a:prstGeom>
          <a:solidFill>
            <a:srgbClr val="2C5A9E"/>
          </a:solidFill>
        </p:spPr>
        <p:txBody>
          <a:bodyPr/>
          <a:p/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7867650" y="343852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家属草稿</a:t>
            </a:r>
            <a:endParaRPr lang="zh-CN" sz="127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10534650" y="3438525"/>
            <a:ext cx="1028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lang="en-US" sz="1275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 informant</a:t>
            </a:r>
            <a:endParaRPr lang="en-US" sz="1275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7867650" y="3771900"/>
            <a:ext cx="3695700" cy="9525"/>
          </a:xfrm>
          <a:prstGeom prst="rect">
            <a:avLst/>
          </a:prstGeom>
          <a:solidFill>
            <a:srgbClr val="2C5A9E"/>
          </a:solidFill>
        </p:spPr>
        <p:txBody>
          <a:bodyPr/>
          <a:p/>
        </p:txBody>
      </p:sp>
      <p:sp>
        <p:nvSpPr>
          <p:cNvPr id="263" name="文本框 262" descr="{&quot;isTemplate&quot;:true,&quot;type&quot;:&quot;text&quot;}"/>
          <p:cNvSpPr txBox="1"/>
          <p:nvPr/>
        </p:nvSpPr>
        <p:spPr>
          <a:xfrm>
            <a:off x="7867650" y="3914775"/>
            <a:ext cx="6477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医生草稿</a:t>
            </a:r>
            <a:endParaRPr lang="zh-CN" sz="127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10591800" y="3914775"/>
            <a:ext cx="9715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仅</a:t>
            </a:r>
            <a:r>
              <a:rPr lang="en-US" sz="1275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 examiner</a:t>
            </a:r>
            <a:endParaRPr lang="en-US" sz="1275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/>
        </p:nvSpPr>
        <p:spPr>
          <a:xfrm>
            <a:off x="7867650" y="4762500"/>
            <a:ext cx="3695700" cy="1181100"/>
          </a:xfrm>
          <a:prstGeom prst="roundRect">
            <a:avLst>
              <a:gd name="adj" fmla="val 6452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8001000" y="4895850"/>
            <a:ext cx="3429000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任何一端都不能继承另一端的当前题号、未提交答案或页面位置——跨端</a:t>
            </a:r>
            <a:r>
              <a:rPr lang="en-US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串流程</a:t>
            </a:r>
            <a:r>
              <a:rPr lang="en-US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在结构上就不成立。</a:t>
            </a:r>
            <a:endParaRPr lang="zh-CN" sz="12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7" name="文本框 266" descr="{&quot;isTemplate&quot;:true,&quot;type&quot;:&quot;text&quot;}"/>
          <p:cNvSpPr txBox="1"/>
          <p:nvPr/>
        </p:nvSpPr>
        <p:spPr>
          <a:xfrm>
            <a:off x="381000" y="6477000"/>
            <a:ext cx="28575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依据：三端业务流程定稿与实现差距核查记录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" descr="&lt;Slide style={{ width: 1280, height: 720, background: '#F7F9FC', padding: 0, position: 'relative', fontFamily: 'Microsoft YaHei' }}&gt;&#10;    &lt;Box style={{ position: 'absolute', top: 0, left: 0, width: 1280, height: 10, background: '#1F497D' }} /&gt;&#10;    &lt;Box style={{ position: 'absolute', top: 150, left: 96, width: 420 }}&gt;&#10;        &lt;Text style={{ fontSize: 210, fontWeight: 'bold', color: '#DCE7F5', lineHeight: 1 }}&gt;04&lt;/Text&gt;&#10;    &lt;/Box&gt;&#10;    &lt;Box style={{ position: 'absolute', top: 250, left: 480, width: 720, flexDirection: 'column', gap: 20 }}&gt;&#10;        &lt;Text style={{ fontSize: 52, fontWeight: 'bold', color: '#1F497D', lineHeight: 1.2 }}&gt;核心功能与实现亮点&lt;/Text&gt;&#10;        &lt;Box style={{ width: 88, height: 6, background: '#4F81BD' }} /&gt;&#10;        &lt;Box style={{ flexDirection: 'column', gap: 14, marginTop: 14 }}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评估引擎怎么做到加量表不改代码&lt;/Text&gt;&#10;            &lt;/Box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数据可信度红线如何贯穿页面、导出与 AI 三层&lt;/Text&gt;&#10;            &lt;/Box&gt;&#10;        &lt;/Box&gt;&#10;    &lt;/Box&gt;&#10;    &lt;Box style={{ position: 'absolute', bottom: 26, left: 40, width: 1200, flexDirection: 'row', justifyContent: 'space-between' }}&gt;&#10;        &lt;Text style={{ fontSize: 15, color: '#8B97A8' }}&gt;认知障碍早期诊断临床数据采集系统&lt;/Text&gt;&#10;        &lt;Text style={{ fontSize: 15, color: '#1F497D' }}&gt;18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矩形 26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271" name="矩形 270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914400" y="1428750"/>
            <a:ext cx="40005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5750" b="1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4572000" y="2381250"/>
            <a:ext cx="6858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39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4" name="矩形 273"/>
          <p:cNvSpPr/>
          <p:nvPr/>
        </p:nvSpPr>
        <p:spPr>
          <a:xfrm>
            <a:off x="4572000" y="3286125"/>
            <a:ext cx="838200" cy="571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1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对话式评估引擎&lt;/Text&gt;&#10;        &lt;/Box&gt;&#10;        &lt;Text style={{ fontSize: 16, color: '#9FC2E8' }}&gt;04 · 核心功能与实现亮点&lt;/Text&gt;&#10;    &lt;/Box&gt;&#10;&#10;    &lt;Box style={{ position: 'absolute', top: 100, left: 40, width: 1200, height: 377, borderRadius: 10, border: '1px solid #D6DCE5', overflow: 'hidden' }}&gt;&#10;        &lt;Image src='assets/mmse.png' style={{ width: 1200, height: 377, objectFit: 'cover' }} /&gt;&#10;    &lt;/Box&gt;&#10;&#10;    &lt;Box style={{ position: 'absolute', top: 483, left: 40, width: 1200, height: 26, flexDirection: 'row', alignItems: 'center', justifyContent: 'space-between' }}&gt;&#10;        &lt;Text style={{ fontSize: 16, color: '#4F81BD', fontWeight: 'bold' }}&gt;运行实拍：同一套渲染器生成的 MMSE 页面，右上角实时显示&quot;已录入 28 / 30 项&quot;&lt;/Text&gt;&#10;        &lt;Text style={{ fontSize: 15, color: '#8B97A8' }}&gt;时间与地点定向力 · 即刻三词记忆&lt;/Text&gt;&#10;    &lt;/Box&gt;&#10;&#10;    &lt;Box style={{ position: 'absolute', top: 520, left: 40, width: 392, height: 150, background: '#F0F5FC', borderRadius: 10, border: '1px solid #4F81BD', padding: 15, flexDirection: 'column', gap: 8 }}&gt;&#10;        &lt;Box style={{ flexDirection: 'row', alignItems: 'center', gap: 10 }}&gt;&#10;            &lt;Text style={{ fontSize: 14, color: '#FFFFFF', fontWeight: 'bold', background: '#1F497D', padding: 3 }}&gt;配置层&lt;/Text&gt;&#10;            &lt;Text style={{ fontSize: 18, fontWeight: 'bold', color: '#1F497D' }}&gt;定义与引擎解耦&lt;/Text&gt;&#10;        &lt;/Box&gt;&#10;        &lt;Text style={{ fontSize: 13, color: '#4A5568', lineHeight: 1.6 }}&gt;&#10;            11 个量表的题目话术、选项权重、维度归属、分级阈值与主试评分锚点，全部以配置形式声明，不写进引擎逻辑。&#10;        &lt;/Text&gt;&#10;    &lt;/Box&gt;&#10;&#10;    &lt;Box style={{ position: 'absolute', top: 520, left: 444, width: 392, height: 150, background: '#F0F5FC', borderRadius: 10, border: '1px solid #4F81BD', padding: 15, flexDirection: 'column', gap: 8 }}&gt;&#10;        &lt;Box style={{ flexDirection: 'row', alignItems: 'center', gap: 10 }}&gt;&#10;            &lt;Text style={{ fontSize: 14, color: '#FFFFFF', fontWeight: 'bold', background: '#1F497D', padding: 3 }}&gt;引擎层&lt;/Text&gt;&#10;            &lt;Text style={{ fontSize: 18, fontWeight: 'bold', color: '#1F497D' }}&gt;通用渲染状态机&lt;/Text&gt;&#10;        &lt;/Box&gt;&#10;        &lt;Text style={{ fontSize: 13, color: '#4A5568', lineHeight: 1.6 }}&gt;&#10;            单选、数字输入、表情尺、倒计时、AVLT 词表防泄题面板、再认九宫格，均由同一套渲染器按配置生成。&#10;        &lt;/Text&gt;&#10;    &lt;/Box&gt;&#10;&#10;    &lt;Box style={{ position: 'absolute', top: 520, left: 848, width: 392, height: 150, background: '#E8EFF8', borderRadius: 10, border: '2px solid #1F497D', padding: 15, flexDirection: 'column', gap: 8 }}&gt;&#10;        &lt;Box style={{ flexDirection: 'row', alignItems: 'center', gap: 10 }}&gt;&#10;            &lt;Text style={{ fontSize: 14, color: '#FFFFFF', fontWeight: 'bold', background: '#1F497D', padding: 3 }}&gt;计算层&lt;/Text&gt;&#10;            &lt;Text style={{ fontSize: 18, fontWeight: 'bold', color: '#1F497D' }}&gt;计分口径唯一&lt;/Text&gt;&#10;        &lt;/Box&gt;&#10;        &lt;Text style={{ fontSize: 13, color: '#1A2230', lineHeight: 1.6 }}&gt;&#10;            页面展示、综合报告与 Excel 导出共用同一份计算结果——系统里只有一个计分入口。&#10;        &lt;/Text&gt;&#10;    &lt;/Box&gt;&#10;&#10;    &lt;Box style={{ position: 'absolute', bottom: 22, left: 40, width: 1200, flexDirection: 'row', justifyContent: 'space-between' }}&gt;&#10;        &lt;Text style={{ fontSize: 15, color: '#8B97A8' }}&gt;截图取自本地运行实例；依据：量表配置与通用计分器实现&lt;/Text&gt;&#10;        &lt;Text style={{ fontSize: 15, color: '#1F497D' }}&gt;19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矩形 2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83" name="矩形 282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284" name="圆角矩形 283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571500" y="219075"/>
            <a:ext cx="21336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对话式评估引擎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381000" y="952500"/>
            <a:ext cx="11430000" cy="3590925"/>
          </a:xfrm>
          <a:prstGeom prst="roundRect">
            <a:avLst>
              <a:gd name="adj" fmla="val 2653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88" name="图片 2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952500"/>
            <a:ext cx="11430000" cy="3590925"/>
          </a:xfrm>
          <a:custGeom>
            <a:avLst/>
            <a:gdLst/>
            <a:ahLst/>
            <a:cxnLst/>
            <a:pathLst>
              <a:path w="1200" h="377">
                <a:moveTo>
                  <a:pt x="1190" y="0"/>
                </a:moveTo>
                <a:cubicBezTo>
                  <a:pt x="1196" y="0"/>
                  <a:pt x="1200" y="5"/>
                  <a:pt x="1200" y="10"/>
                </a:cubicBezTo>
                <a:lnTo>
                  <a:pt x="1200" y="367"/>
                </a:lnTo>
                <a:cubicBezTo>
                  <a:pt x="1200" y="373"/>
                  <a:pt x="1196" y="377"/>
                  <a:pt x="1190" y="377"/>
                </a:cubicBezTo>
                <a:lnTo>
                  <a:pt x="10" y="377"/>
                </a:lnTo>
                <a:cubicBezTo>
                  <a:pt x="4" y="377"/>
                  <a:pt x="0" y="373"/>
                  <a:pt x="0" y="367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190" y="0"/>
                </a:lnTo>
                <a:close/>
              </a:path>
            </a:pathLst>
          </a:custGeom>
        </p:spPr>
      </p:pic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381000" y="4629150"/>
            <a:ext cx="5638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运行实拍：同一套渲染器生成的</a:t>
            </a:r>
            <a:r>
              <a:rPr lang="en-US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 MMSE </a:t>
            </a:r>
            <a:r>
              <a:rPr lang="zh-CN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页面，右上角实时显示</a:t>
            </a:r>
            <a:r>
              <a:rPr lang="en-US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已录入</a:t>
            </a:r>
            <a:r>
              <a:rPr lang="en-US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 28 / 30 </a:t>
            </a:r>
            <a:r>
              <a:rPr lang="zh-CN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项</a:t>
            </a:r>
            <a:r>
              <a:rPr lang="en-US" sz="120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20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文本框 289" descr="{&quot;isTemplate&quot;:true,&quot;type&quot;:&quot;text&quot;}"/>
          <p:cNvSpPr txBox="1"/>
          <p:nvPr/>
        </p:nvSpPr>
        <p:spPr>
          <a:xfrm>
            <a:off x="9686925" y="4638675"/>
            <a:ext cx="2124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时间与地点定向力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即刻三词记忆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/>
        </p:nvSpPr>
        <p:spPr>
          <a:xfrm>
            <a:off x="381000" y="4953000"/>
            <a:ext cx="3733800" cy="1428750"/>
          </a:xfrm>
          <a:prstGeom prst="roundRect">
            <a:avLst>
              <a:gd name="adj" fmla="val 666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292" name="矩形 291"/>
          <p:cNvSpPr/>
          <p:nvPr/>
        </p:nvSpPr>
        <p:spPr>
          <a:xfrm>
            <a:off x="523875" y="5095875"/>
            <a:ext cx="457200" cy="219075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23875" y="5095875"/>
            <a:ext cx="457200" cy="219075"/>
          </a:xfrm>
          <a:prstGeom prst="rect">
            <a:avLst/>
          </a:prstGeom>
        </p:spPr>
        <p:txBody>
          <a:bodyPr wrap="none" lIns="21431" tIns="21431" rIns="21431" bIns="21431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highlight>
                  <a:srgbClr val="1F497D"/>
                </a:highlight>
                <a:latin typeface="微软雅黑" panose="020B0503020204020204" charset="-122"/>
                <a:ea typeface="微软雅黑" panose="020B0503020204020204" charset="-122"/>
              </a:rPr>
              <a:t>配置层</a:t>
            </a:r>
            <a:endParaRPr lang="zh-CN" sz="1050" b="1">
              <a:solidFill>
                <a:srgbClr val="FFFFFF"/>
              </a:solidFill>
              <a:highlight>
                <a:srgbClr val="1F497D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1076325" y="5105400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定义与引擎解耦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523875" y="5391150"/>
            <a:ext cx="344805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11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个量表的题目话术、选项权重、维度归属、分级阈值与主试评分锚点，全部以配置形式声明，不写进引擎逻辑。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6" name="圆角矩形 295"/>
          <p:cNvSpPr/>
          <p:nvPr/>
        </p:nvSpPr>
        <p:spPr>
          <a:xfrm>
            <a:off x="4229100" y="4953000"/>
            <a:ext cx="3733800" cy="1428750"/>
          </a:xfrm>
          <a:prstGeom prst="roundRect">
            <a:avLst>
              <a:gd name="adj" fmla="val 666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297" name="矩形 296"/>
          <p:cNvSpPr/>
          <p:nvPr/>
        </p:nvSpPr>
        <p:spPr>
          <a:xfrm>
            <a:off x="4371975" y="5095875"/>
            <a:ext cx="457200" cy="219075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4371975" y="5095875"/>
            <a:ext cx="457200" cy="219075"/>
          </a:xfrm>
          <a:prstGeom prst="rect">
            <a:avLst/>
          </a:prstGeom>
        </p:spPr>
        <p:txBody>
          <a:bodyPr wrap="none" lIns="21431" tIns="21431" rIns="21431" bIns="21431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highlight>
                  <a:srgbClr val="1F497D"/>
                </a:highlight>
                <a:latin typeface="微软雅黑" panose="020B0503020204020204" charset="-122"/>
                <a:ea typeface="微软雅黑" panose="020B0503020204020204" charset="-122"/>
              </a:rPr>
              <a:t>引擎层</a:t>
            </a:r>
            <a:endParaRPr lang="zh-CN" sz="1050" b="1">
              <a:solidFill>
                <a:srgbClr val="FFFFFF"/>
              </a:solidFill>
              <a:highlight>
                <a:srgbClr val="1F497D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4924425" y="5105400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通用渲染状态机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0" name="文本框 299" descr="{&quot;isTemplate&quot;:true,&quot;type&quot;:&quot;text&quot;}"/>
          <p:cNvSpPr txBox="1"/>
          <p:nvPr/>
        </p:nvSpPr>
        <p:spPr>
          <a:xfrm>
            <a:off x="4371975" y="5391150"/>
            <a:ext cx="344805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单选、数字输入、表情尺、倒计时、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AVLT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词表防泄题面板、再认九宫格，均由同一套渲染器按配置生成。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" name="圆角矩形 300"/>
          <p:cNvSpPr/>
          <p:nvPr/>
        </p:nvSpPr>
        <p:spPr>
          <a:xfrm>
            <a:off x="8077200" y="4953000"/>
            <a:ext cx="3733800" cy="1428750"/>
          </a:xfrm>
          <a:prstGeom prst="roundRect">
            <a:avLst>
              <a:gd name="adj" fmla="val 6667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302" name="矩形 301"/>
          <p:cNvSpPr/>
          <p:nvPr/>
        </p:nvSpPr>
        <p:spPr>
          <a:xfrm>
            <a:off x="8220075" y="5095875"/>
            <a:ext cx="457200" cy="219075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303" name="文本框 302" descr="{&quot;isTemplate&quot;:true,&quot;type&quot;:&quot;text&quot;}"/>
          <p:cNvSpPr txBox="1"/>
          <p:nvPr/>
        </p:nvSpPr>
        <p:spPr>
          <a:xfrm>
            <a:off x="8220075" y="5095875"/>
            <a:ext cx="457200" cy="219075"/>
          </a:xfrm>
          <a:prstGeom prst="rect">
            <a:avLst/>
          </a:prstGeom>
        </p:spPr>
        <p:txBody>
          <a:bodyPr wrap="none" lIns="21431" tIns="21431" rIns="21431" bIns="21431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highlight>
                  <a:srgbClr val="1F497D"/>
                </a:highlight>
                <a:latin typeface="微软雅黑" panose="020B0503020204020204" charset="-122"/>
                <a:ea typeface="微软雅黑" panose="020B0503020204020204" charset="-122"/>
              </a:rPr>
              <a:t>计算层</a:t>
            </a:r>
            <a:endParaRPr lang="zh-CN" sz="1050" b="1">
              <a:solidFill>
                <a:srgbClr val="FFFFFF"/>
              </a:solidFill>
              <a:highlight>
                <a:srgbClr val="1F497D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8772525" y="5105400"/>
            <a:ext cx="1028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计分口径唯一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8220075" y="5391150"/>
            <a:ext cx="3448050" cy="476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页面展示、综合报告与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Excel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导出共用同一份计算结果——系统里只有一个计分入口。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381000" y="6477000"/>
            <a:ext cx="3714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截图取自本地运行实例；依据：量表配置与通用计分器实现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3" name="" descr="&lt;Slide style={{ width: 1280, height: 720, background: '#FFFFFF', padding: 0, position: 'relative', fontFamily: 'Microsoft YaHei' }}&gt;&#13;&#10;    &lt;Box style={{ position: 'absolute', top: 0, left: 0, width: 1280, height: 84, background: '#1F497D' }} /&gt;&#13;&#10;    &lt;Box style={{ position: 'absolute', top: 0, left: 0, width: 1280, height: 84, flexDirection: 'row', alignItems: 'center', justifyContent: 'space-between', paddingLeft: 40, paddingRight: 40 }}&gt;&#13;&#10;        &lt;Box style={{ flexDirection: 'row', alignItems: 'center', gap: 14 }}&gt;&#13;&#10;            &lt;Box style={{ width: 6, height: 34, background: '#4F81BD', borderRadius: 3 }} /&gt;&#13;&#10;            &lt;Text style={{ fontSize: 32, fontWeight: 'bold', color: '#FFFFFF' }}&gt;量表计分与红黄绿灯&lt;/Text&gt;&#13;&#10;        &lt;/Box&gt;&#13;&#10;        &lt;Text style={{ fontSize: 16, color: '#9FC2E8' }}&gt;04 · 核心功能与实现亮点&lt;/Text&gt;&#13;&#10;    &lt;/Box&gt;&#13;&#10;&#13;&#10;    &lt;Box style={{ position: 'absolute', top: 100, left: 40, width: 1200, flexDirection: 'row', gap: 6, alignItems: 'center' }}&gt;&#13;&#10;        &lt;Box style={{ flex: 1, height: 118, background: '#F0F5FC', borderRadius: 10, border: '1px solid #4F81BD', padding: 13, flexDirection: 'column', gap: 5 }}&gt;&#13;&#10;            &lt;Text style={{ fontSize: 14, fontWeight: 'bold', color: '#4F81BD' }}&gt;01&lt;/Text&gt;&#13;&#10;            &lt;Text style={{ fontSize: 19, fontWeight: 'bold', color: '#1F497D' }}&gt;作答录入&lt;/Text&gt;&#13;&#10;            &lt;Text style={{ fontSize: 13, color: '#4A5568', lineHeight: 1.45 }}&gt;三端按归属录入，每题即时落草稿&lt;/Text&gt;&#13;&#10;        &lt;/Box&gt;&#13;&#10;        &lt;FAIcon name='arrow-right' style={{ fill: '#4F81BD', width: 18, height: 18, marginTop: 50 }} /&gt;&#13;&#10;        &lt;Box style={{ flex: 1, height: 118, background: '#F0F5FC', borderRadius: 10, border: '1px solid #4F81BD', padding: 13, flexDirection: 'column', gap: 5 }}&gt;&#13;&#10;            &lt;Text style={{ fontSize: 14, fontWeight: 'bold', color: '#4F81BD' }}&gt;02&lt;/Text&gt;&#13;&#10;            &lt;Text style={{ fontSize: 19, fontWeight: 'bold', color: '#1F497D' }}&gt;状态判定&lt;/Text&gt;&#13;&#10;            &lt;Text style={{ fontSize: 13, color: '#4A5568', lineHeight: 1.45 }}&gt;未开始 · 进行中 · 已完成 · 已跳过&lt;/Text&gt;&#13;&#10;        &lt;/Box&gt;&#13;&#10;        &lt;FAIcon name='arrow-right' style={{ fill: '#4F81BD', width: 18, height: 18, marginTop: 50 }} /&gt;&#13;&#10;        &lt;Box style={{ flex: 1, height: 118, background: '#F0F5FC', borderRadius: 10, border: '1px solid #4F81BD', padding: 13, flexDirection: 'column', gap: 5 }}&gt;&#13;&#10;            &lt;Text style={{ fontSize: 14, fontWeight: 'bold', color: '#4F81BD' }}&gt;03&lt;/Text&gt;&#13;&#10;            &lt;Text style={{ fontSize: 19, fontWeight: 'bold', color: '#1F497D' }}&gt;通用计分器&lt;/Text&gt;&#13;&#10;            &lt;Text style={{ fontSize: 13, color: '#4A5568', lineHeight: 1.45 }}&gt;求和 · 主项加维度 · 自定义规则&lt;/Text&gt;&#13;&#10;        &lt;/Box&gt;&#13;&#10;        &lt;FAIcon name='arrow-right' style={{ fill: '#4F81BD', width: 18, height: 18, marginTop: 50 }} /&gt;&#13;&#10;        &lt;Box style={{ flex: 1, height: 118, background: '#F0F5FC', borderRadius: 10, border: '1px solid #4F81BD', padding: 13, flexDirection: 'column', gap: 5 }}&gt;&#13;&#10;            &lt;Text style={{ fontSize: 14, fontWeight: 'bold', color: '#4F81BD' }}&gt;04&lt;/Text&gt;&#13;&#10;            &lt;Text style={{ fontSize: 19, fontWeight: 'bold', color: '#1F497D' }}&gt;阈值匹配&lt;/Text&gt;&#13;&#10;            &lt;Text style={{ fontSize: 13, color: '#4A5568', lineHeight: 1.45 }}&gt;按配置的分段阈值判定灯色&lt;/Text&gt;&#13;&#10;        &lt;/Box&gt;&#13;&#10;        &lt;FAIcon name='arrow-right' style={{ fill: '#4F81BD', width: 18, height: 18, marginTop: 50 }} /&gt;&#13;&#10;        &lt;Box style={{ flex: 1, height: 118, background: '#E8EFF8', borderRadius: 10, border: '2px solid #1F497D', padding: 13, flexDirection: 'column', gap: 5 }}&gt;&#13;&#10;            &lt;Text style={{ fontSize: 14, fontWeight: 'bold', color: '#4F81BD' }}&gt;05&lt;/Text&gt;&#13;&#10;            &lt;Text style={{ fontSize: 19, fontWeight: 'bold', color: '#1F497D' }}&gt;分级输出&lt;/Text&gt;&#13;&#10;            &lt;Text style={{ fontSize: 13, color: '#1A2230', lineHeight: 1.45 }}&gt;输出绿灯 / 黄灯 / 红灯与结论文案&lt;/Text&gt;&#13;&#10;        &lt;/Box&gt;&#13;&#10;    &lt;/Box&gt;&#13;&#10;&#13;&#10;    &lt;Box style={{ position: 'absolute', top: 232, left: 40, width: 1200, flexDirection: 'row', gap: 12 }}&gt;&#13;&#10;        &lt;Box style={{ flex: 1, height: 74, background: '#FFFFFF', borderRadius: 10, border: '1px solid #D6DCE5', padding: 12, flexDirection: 'row', gap: 10 }}&gt;&#13;&#10;            &lt;Box style={{ width: 6, height: 50, background: '#639922', borderRadius: 3 }} /&gt;&#13;&#10;            &lt;Box style={{ flex: 1, flexDirection: 'column', gap: 3 }}&gt;&#13;&#10;                &lt;Text style={{ fontSize: 17, fontWeight: 'bold', color: '#1F497D' }}&gt;绿灯 · 未达提示阈值&lt;/Text&gt;&#13;&#10;                &lt;Text style={{ fontSize: 13, color: '#4A5568', lineHeight: 1.4 }}&gt;未触发该量表配置的预警阈值&lt;/Text&gt;&#13;&#10;            &lt;/Box&gt;&#13;&#10;        &lt;/Box&gt;&#13;&#10;        &lt;Box style={{ flex: 1, height: 74, background: '#FFFFFF', borderRadius: 10, border: '1px solid #D6DCE5', padding: 12, flexDirection: 'row', gap: 10 }}&gt;&#13;&#10;            &lt;Box style={{ width: 6, height: 50, background: '#BA7517', borderRadius: 3 }} /&gt;&#13;&#10;            &lt;Box style={{ flex: 1, flexDirection: 'column', gap: 3 }}&gt;&#13;&#10;                &lt;Text style={{ fontSize: 17, fontWeight: 'bold', color: '#1F497D' }}&gt;黄灯 · 达到可疑阈值&lt;/Text&gt;&#13;&#10;                &lt;Text style={{ fontSize: 13, color: '#4A5568', lineHeight: 1.4 }}&gt;提示关注，结合量表与病史综合判断&lt;/Text&gt;&#13;&#10;            &lt;/Box&gt;&#13;&#10;        &lt;/Box&gt;&#13;&#10;        &lt;Box style={{ flex: 1, height: 74, background: '#FFFFFF', borderRadius: 10, border: '1px solid #D6DCE5', padding: 12, flexDirection: 'row', gap: 10 }}&gt;&#13;&#10;            &lt;Box style={{ width: 6, height: 50, background: '#D9534F', borderRadius: 3 }} /&gt;&#13;&#10;            &lt;Box style={{ flex: 1, flexDirection: 'column', gap: 3 }}&gt;&#13;&#10;                &lt;Text style={{ fontSize: 17, fontWeight: 'bold', color: '#1F497D' }}&gt;红灯 · 达到明显异常&lt;/Text&gt;&#13;&#10;                &lt;Text style={{ fontSize: 13, color: '#4A5568', lineHeight: 1.4 }}&gt;优先关注，进入医生研判与待审核&lt;/Text&gt;&#13;&#10;            &lt;/Box&gt;&#13;&#10;        &lt;/Box&gt;&#13;&#10;    &lt;/Box&gt;&#13;&#10;&#13;&#10;    &lt;Box style={{ position: 'absolute', top: 318, left: 40, width: 1200, height: 344, borderRadius: 10, border: '1px solid #D6DCE5', overflow: 'hidden' }}&gt;&#13;&#10;        &lt;Image src='assets/cdr.png' style={{ width: 1200, height: 344, objectFit: 'cover' }} /&gt;&#13;&#10;    &lt;/Box&gt;&#13;&#10;&#13;&#10;    &lt;Box style={{ position: 'absolute', bottom: 22, left: 40, width: 1200, flexDirection: 'row', justifyContent: 'space-between' }}&gt;&#13;&#10;        &lt;Text style={{ fontSize: 15, color: '#8B97A8' }}&gt;截图取自本地运行实例：CDR 并非求和——按华盛顿大学 ADRC 规则由 6 个域推出 Global 评级，同时给出 CDR-SB&lt;/Text&gt;&#13;&#10;        &lt;Text style={{ fontSize: 15, color: '#1F497D' }}&gt;20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矩形 3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45" name="矩形 344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346" name="圆角矩形 345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571500" y="219075"/>
            <a:ext cx="27432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量表计分与红黄绿灯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圆角矩形 348"/>
          <p:cNvSpPr/>
          <p:nvPr/>
        </p:nvSpPr>
        <p:spPr>
          <a:xfrm>
            <a:off x="381000" y="952500"/>
            <a:ext cx="2057400" cy="1123950"/>
          </a:xfrm>
          <a:prstGeom prst="roundRect">
            <a:avLst>
              <a:gd name="adj" fmla="val 8475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504825" y="1076325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504825" y="12858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作答录入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504825" y="1552575"/>
            <a:ext cx="18097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三端按归属录入，每题即时落草稿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3" name="图片 3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1666875"/>
            <a:ext cx="171450" cy="171450"/>
          </a:xfrm>
          <a:prstGeom prst="rect">
            <a:avLst/>
          </a:prstGeom>
        </p:spPr>
      </p:pic>
      <p:sp>
        <p:nvSpPr>
          <p:cNvPr id="354" name="圆角矩形 353"/>
          <p:cNvSpPr/>
          <p:nvPr/>
        </p:nvSpPr>
        <p:spPr>
          <a:xfrm>
            <a:off x="2724150" y="952500"/>
            <a:ext cx="2057400" cy="1123950"/>
          </a:xfrm>
          <a:prstGeom prst="roundRect">
            <a:avLst>
              <a:gd name="adj" fmla="val 8475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2847975" y="1076325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2847975" y="12858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状态判定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2847975" y="15525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未开始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进行中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已跳过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58" name="图片 3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0" y="1666875"/>
            <a:ext cx="171450" cy="171450"/>
          </a:xfrm>
          <a:prstGeom prst="rect">
            <a:avLst/>
          </a:prstGeom>
        </p:spPr>
      </p:pic>
      <p:sp>
        <p:nvSpPr>
          <p:cNvPr id="359" name="圆角矩形 358"/>
          <p:cNvSpPr/>
          <p:nvPr/>
        </p:nvSpPr>
        <p:spPr>
          <a:xfrm>
            <a:off x="5067300" y="952500"/>
            <a:ext cx="2057400" cy="1123950"/>
          </a:xfrm>
          <a:prstGeom prst="roundRect">
            <a:avLst>
              <a:gd name="adj" fmla="val 8475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5191125" y="1076325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文本框 360" descr="{&quot;isTemplate&quot;:true,&quot;type&quot;:&quot;text&quot;}"/>
          <p:cNvSpPr txBox="1"/>
          <p:nvPr/>
        </p:nvSpPr>
        <p:spPr>
          <a:xfrm>
            <a:off x="5191125" y="12858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通用计分器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5191125" y="15525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求和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主项加维度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自定义规则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3" name="图片 36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0" y="1666875"/>
            <a:ext cx="171450" cy="171450"/>
          </a:xfrm>
          <a:prstGeom prst="rect">
            <a:avLst/>
          </a:prstGeom>
        </p:spPr>
      </p:pic>
      <p:sp>
        <p:nvSpPr>
          <p:cNvPr id="364" name="圆角矩形 363"/>
          <p:cNvSpPr/>
          <p:nvPr/>
        </p:nvSpPr>
        <p:spPr>
          <a:xfrm>
            <a:off x="7410450" y="952500"/>
            <a:ext cx="2057400" cy="1123950"/>
          </a:xfrm>
          <a:prstGeom prst="roundRect">
            <a:avLst>
              <a:gd name="adj" fmla="val 8475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7534275" y="1076325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7534275" y="12858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阈值匹配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7534275" y="15525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按配置的分段阈值判定灯色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8" name="图片 3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0" y="1666875"/>
            <a:ext cx="171450" cy="171450"/>
          </a:xfrm>
          <a:prstGeom prst="rect">
            <a:avLst/>
          </a:prstGeom>
        </p:spPr>
      </p:pic>
      <p:sp>
        <p:nvSpPr>
          <p:cNvPr id="369" name="圆角矩形 368"/>
          <p:cNvSpPr/>
          <p:nvPr/>
        </p:nvSpPr>
        <p:spPr>
          <a:xfrm>
            <a:off x="9753600" y="952500"/>
            <a:ext cx="2057400" cy="1123950"/>
          </a:xfrm>
          <a:prstGeom prst="roundRect">
            <a:avLst>
              <a:gd name="adj" fmla="val 8475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9877425" y="1076325"/>
            <a:ext cx="1809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9877425" y="1285875"/>
            <a:ext cx="18097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分级输出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9877425" y="1552575"/>
            <a:ext cx="18097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输出绿灯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黄灯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红灯与结论文案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圆角矩形 372"/>
          <p:cNvSpPr/>
          <p:nvPr/>
        </p:nvSpPr>
        <p:spPr>
          <a:xfrm>
            <a:off x="381000" y="2209800"/>
            <a:ext cx="37338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4" name="圆角矩形 373"/>
          <p:cNvSpPr/>
          <p:nvPr/>
        </p:nvSpPr>
        <p:spPr>
          <a:xfrm>
            <a:off x="495300" y="2324100"/>
            <a:ext cx="57150" cy="476250"/>
          </a:xfrm>
          <a:prstGeom prst="roundRect">
            <a:avLst>
              <a:gd name="adj" fmla="val 50000"/>
            </a:avLst>
          </a:prstGeom>
          <a:solidFill>
            <a:srgbClr val="639922"/>
          </a:solidFill>
        </p:spPr>
        <p:txBody>
          <a:bodyPr/>
          <a:p/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647700" y="2324100"/>
            <a:ext cx="3352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绿灯</a:t>
            </a: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未达提示阈值</a:t>
            </a:r>
            <a:endParaRPr lang="zh-CN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647700" y="2552700"/>
            <a:ext cx="3352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未触发该量表配置的预警阈值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圆角矩形 376"/>
          <p:cNvSpPr/>
          <p:nvPr/>
        </p:nvSpPr>
        <p:spPr>
          <a:xfrm>
            <a:off x="4229100" y="2209800"/>
            <a:ext cx="37338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8" name="圆角矩形 377"/>
          <p:cNvSpPr/>
          <p:nvPr/>
        </p:nvSpPr>
        <p:spPr>
          <a:xfrm>
            <a:off x="4343400" y="2324100"/>
            <a:ext cx="57150" cy="476250"/>
          </a:xfrm>
          <a:prstGeom prst="roundRect">
            <a:avLst>
              <a:gd name="adj" fmla="val 50000"/>
            </a:avLst>
          </a:prstGeom>
          <a:solidFill>
            <a:srgbClr val="BA7517"/>
          </a:solidFill>
        </p:spPr>
        <p:txBody>
          <a:bodyPr/>
          <a:p/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4495800" y="2324100"/>
            <a:ext cx="3352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黄灯</a:t>
            </a: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达到可疑阈值</a:t>
            </a:r>
            <a:endParaRPr lang="zh-CN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0" name="文本框 379" descr="{&quot;isTemplate&quot;:true,&quot;type&quot;:&quot;text&quot;}"/>
          <p:cNvSpPr txBox="1"/>
          <p:nvPr/>
        </p:nvSpPr>
        <p:spPr>
          <a:xfrm>
            <a:off x="4495800" y="2552700"/>
            <a:ext cx="3352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提示关注，结合量表与病史综合判断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圆角矩形 380"/>
          <p:cNvSpPr/>
          <p:nvPr/>
        </p:nvSpPr>
        <p:spPr>
          <a:xfrm>
            <a:off x="8077200" y="2209800"/>
            <a:ext cx="373380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2" name="圆角矩形 381"/>
          <p:cNvSpPr/>
          <p:nvPr/>
        </p:nvSpPr>
        <p:spPr>
          <a:xfrm>
            <a:off x="8191500" y="2324100"/>
            <a:ext cx="57150" cy="476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8343900" y="2324100"/>
            <a:ext cx="3352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红灯</a:t>
            </a: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达到明显异常</a:t>
            </a:r>
            <a:endParaRPr lang="zh-CN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4" name="文本框 383" descr="{&quot;isTemplate&quot;:true,&quot;type&quot;:&quot;text&quot;}"/>
          <p:cNvSpPr txBox="1"/>
          <p:nvPr/>
        </p:nvSpPr>
        <p:spPr>
          <a:xfrm>
            <a:off x="8343900" y="2552700"/>
            <a:ext cx="33528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优先关注，进入医生研判与待审核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圆角矩形 384"/>
          <p:cNvSpPr/>
          <p:nvPr/>
        </p:nvSpPr>
        <p:spPr>
          <a:xfrm>
            <a:off x="381000" y="3028950"/>
            <a:ext cx="11430000" cy="3276600"/>
          </a:xfrm>
          <a:prstGeom prst="roundRect">
            <a:avLst>
              <a:gd name="adj" fmla="val 2907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86" name="图片 38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028950"/>
            <a:ext cx="11430000" cy="3276600"/>
          </a:xfrm>
          <a:custGeom>
            <a:avLst/>
            <a:gdLst/>
            <a:ahLst/>
            <a:cxnLst/>
            <a:pathLst>
              <a:path w="1200" h="344">
                <a:moveTo>
                  <a:pt x="1190" y="0"/>
                </a:moveTo>
                <a:cubicBezTo>
                  <a:pt x="1196" y="0"/>
                  <a:pt x="1200" y="5"/>
                  <a:pt x="1200" y="10"/>
                </a:cubicBezTo>
                <a:lnTo>
                  <a:pt x="1200" y="334"/>
                </a:lnTo>
                <a:cubicBezTo>
                  <a:pt x="1200" y="340"/>
                  <a:pt x="1196" y="344"/>
                  <a:pt x="1190" y="344"/>
                </a:cubicBezTo>
                <a:lnTo>
                  <a:pt x="10" y="344"/>
                </a:lnTo>
                <a:cubicBezTo>
                  <a:pt x="4" y="344"/>
                  <a:pt x="0" y="340"/>
                  <a:pt x="0" y="334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190" y="0"/>
                </a:lnTo>
                <a:close/>
              </a:path>
            </a:pathLst>
          </a:custGeom>
        </p:spPr>
      </p:pic>
      <p:sp>
        <p:nvSpPr>
          <p:cNvPr id="387" name="文本框 386" descr="{&quot;isTemplate&quot;:true,&quot;type&quot;:&quot;text&quot;}"/>
          <p:cNvSpPr txBox="1"/>
          <p:nvPr/>
        </p:nvSpPr>
        <p:spPr>
          <a:xfrm>
            <a:off x="381000" y="6477000"/>
            <a:ext cx="74009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截图取自本地运行实例：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CDR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并非求和——按华盛顿大学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ADRC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规则由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个域推出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Global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评级，同时给出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CDR-SB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9" name="" descr="&lt;Slide style={{ width: 1280, height: 720, background: '#FFFFFF', padding: 0, position: 'relative', fontFamily: 'Microsoft YaHei' }}&gt;&#13;&#10;    &lt;Box style={{ position: 'absolute', top: 0, left: 0, width: 1280, height: 84, background: '#1F497D' }} /&gt;&#13;&#10;    &lt;Box style={{ position: 'absolute', top: 0, left: 0, width: 1280, height: 84, flexDirection: 'row', alignItems: 'center', justifyContent: 'space-between', paddingLeft: 40, paddingRight: 40 }}&gt;&#13;&#10;        &lt;Box style={{ flexDirection: 'row', alignItems: 'center', gap: 14 }}&gt;&#13;&#10;            &lt;Box style={{ width: 6, height: 34, background: '#4F81BD', borderRadius: 3 }} /&gt;&#13;&#10;            &lt;Text style={{ fontSize: 32, fontWeight: 'bold', color: '#FFFFFF' }}&gt;数据可信度红线：null 不是 0&lt;/Text&gt;&#13;&#10;        &lt;/Box&gt;&#13;&#10;        &lt;Text style={{ fontSize: 16, color: '#9FC2E8' }}&gt;04 · 核心功能与实现亮点&lt;/Text&gt;&#13;&#10;    &lt;/Box&gt;&#13;&#10;&#13;&#10;    &lt;Box style={{ position: 'absolute', top: 100, left: 40, width: 552, height: 212, background: '#1F497D', borderRadius: 12, padding: 13, flexDirection: 'column', justifyContent: 'center', gap: 4 }}&gt;&#13;&#10;        &lt;Text style={{ fontSize: 14, color: '#9FC2E8' }}&gt;未作答 · 未评估 · 不适用&lt;/Text&gt;&#13;&#10;        &lt;Text style={{ fontSize: 74, fontWeight: 'bold', color: '#FFFFFF', lineHeight: 1.05 }}&gt;null&lt;/Text&gt;&#13;&#10;        &lt;Text style={{ fontSize: 40, fontWeight: 'bold', color: '#FF8A80', lineHeight: 1.1 }}&gt;≠ 0&lt;/Text&gt;&#13;&#10;        &lt;Box style={{ flexDirection: 'row', gap: 8, marginTop: 4 }}&gt;&#13;&#10;            &lt;Box style={{ background: '#0E3F8C', borderRadius: 6, paddingLeft: 12, paddingRight: 12, paddingTop: 5, paddingBottom: 5 }}&gt;&#13;&#10;                &lt;Text style={{ fontSize: 13, color: '#B5D4F4' }}&gt;界面显示 --&lt;/Text&gt;&#13;&#10;            &lt;/Box&gt;&#13;&#10;            &lt;Box style={{ background: '#0E3F8C', borderRadius: 6, paddingLeft: 12, paddingRight: 12, paddingTop: 5, paddingBottom: 5 }}&gt;&#13;&#10;                &lt;Text style={{ fontSize: 13, color: '#FFB4AB' }}&gt;禁止兜底为 0 分&lt;/Text&gt;&#13;&#10;            &lt;/Box&gt;&#13;&#10;        &lt;/Box&gt;&#13;&#10;    &lt;/Box&gt;&#13;&#10;&#13;&#10;    &lt;Box style={{ position: 'absolute', top: 100, left: 612, width: 628, height: 212, background: '#FFFFFF', borderRadius: 10, border: '1px solid #D6DCE5', padding: 13, flexDirection: 'column', gap: 8 }}&gt;&#13;&#10;        &lt;Text style={{ fontSize: 18, fontWeight: 'bold', color: '#1F497D' }}&gt;三层判定必须完全一致&lt;/Text&gt;&#13;&#10;&#13;&#10;        &lt;Box style={{ height: 47, background: '#F7F9FC', borderRadius: 8, border: '1px solid #D6DCE5', paddingLeft: 10, paddingRight: 10, flexDirection: 'row', gap: 9, alignItems: 'center' }}&gt;&#13;&#10;            &lt;Box style={{ width: 22, height: 22, borderRadius: 11, background: '#4F81BD', justifyContent: 'center', alignItems: 'center' }}&gt;&#13;&#10;                &lt;Text style={{ fontSize: 13, fontWeight: 'bold', color: '#FFFFFF' }}&gt;1&lt;/Text&gt;&#13;&#10;            &lt;/Box&gt;&#13;&#10;            &lt;Box style={{ flexDirection: 'column', flex: 1, gap: 1 }}&gt;&#13;&#10;                &lt;Text style={{ fontSize: 15, fontWeight: 'bold', color: '#1F497D' }}&gt;页面层&lt;/Text&gt;&#13;&#10;                &lt;Text style={{ fontSize: 12, color: '#4A5568', lineHeight: 1.35 }}&gt;未作答题项显示为 --，空白档案不点亮任何灯色&lt;/Text&gt;&#13;&#10;            &lt;/Box&gt;&#13;&#10;        &lt;/Box&gt;&#13;&#10;&#13;&#10;        &lt;Box style={{ height: 47, background: '#F7F9FC', borderRadius: 8, border: '1px solid #D6DCE5', paddingLeft: 10, paddingRight: 10, flexDirection: 'row', gap: 9, alignItems: 'center' }}&gt;&#13;&#10;            &lt;Box style={{ width: 22, height: 22, borderRadius: 11, background: '#4F81BD', justifyContent: 'center', alignItems: 'center' }}&gt;&#13;&#10;                &lt;Text style={{ fontSize: 13, fontWeight: 'bold', color: '#FFFFFF' }}&gt;2&lt;/Text&gt;&#13;&#10;            &lt;/Box&gt;&#13;&#10;            &lt;Box style={{ flexDirection: 'column', flex: 1, gap: 1 }}&gt;&#13;&#10;                &lt;Text style={{ fontSize: 15, fontWeight: 'bold', color: '#1F497D' }}&gt;导出层&lt;/Text&gt;&#13;&#10;                &lt;Text style={{ fontSize: 12, color: '#4A5568', lineHeight: 1.35 }}&gt;计算器先判空，空则返回 null，Excel 渲染为 -- 且不套灯色&lt;/Text&gt;&#13;&#10;            &lt;/Box&gt;&#13;&#10;        &lt;/Box&gt;&#13;&#10;&#13;&#10;        &lt;Box style={{ height: 47, background: '#E8EFF8', borderRadius: 8, border: '1px solid #4F81BD', paddingLeft: 10, paddingRight: 10, flexDirection: 'row', gap: 9, alignItems: 'center' }}&gt;&#13;&#10;            &lt;Box style={{ width: 22, height: 22, borderRadius: 11, background: '#1F497D', justifyContent: 'center', alignItems: 'center' }}&gt;&#13;&#10;                &lt;Text style={{ fontSize: 13, fontWeight: 'bold', color: '#FFFFFF' }}&gt;3&lt;/Text&gt;&#13;&#10;            &lt;/Box&gt;&#13;&#10;            &lt;Box style={{ flexDirection: 'column', flex: 1, gap: 1 }}&gt;&#13;&#10;                &lt;Text style={{ fontSize: 15, fontWeight: 'bold', color: '#1F497D' }}&gt;AI 研判层&lt;/Text&gt;&#13;&#10;                &lt;Text style={{ fontSize: 12, color: '#1A2230', lineHeight: 1.35 }}&gt;未评估量表不进入研判描述，不给兜底分数&lt;/Text&gt;&#13;&#10;            &lt;/Box&gt;&#13;&#10;        &lt;/Box&gt;&#13;&#10;    &lt;/Box&gt;&#13;&#10;&#13;&#10;    &lt;Box style={{ position: 'absolute', top: 322, left: 40, width: 1200, height: 320, borderRadius: 10, border: '1px solid #D6DCE5', overflow: 'hidden' }}&gt;&#13;&#10;        &lt;Image src='assets/matrix.png' style={{ width: 1200, height: 320, objectFit: 'cover' }} /&gt;&#13;&#10;    &lt;/Box&gt;&#13;&#10;&#13;&#10;    &lt;Box style={{ position: 'absolute', bottom: 22, left: 40, width: 1200, flexDirection: 'row', justifyContent: 'space-between' }}&gt;&#13;&#10;        &lt;Text style={{ fontSize: 15, color: '#A32D2D', fontWeight: 'bold' }}&gt;上图即真实报告页：AVLT 等未开展量表得分栏是 --、判定栏是&quot;待评定 / 未测&quot;，不是 0 分&lt;/Text&gt;&#13;&#10;        &lt;Text style={{ fontSize: 15, color: '#1F497D' }}&gt;21 / 31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矩形 3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91" name="矩形 390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392" name="圆角矩形 391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571500" y="219075"/>
            <a:ext cx="40005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数据可信度红线：</a:t>
            </a: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null 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</a:t>
            </a: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0</a:t>
            </a:r>
            <a:endParaRPr lang="en-US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5" name="圆角矩形 394"/>
          <p:cNvSpPr/>
          <p:nvPr/>
        </p:nvSpPr>
        <p:spPr>
          <a:xfrm>
            <a:off x="381000" y="952500"/>
            <a:ext cx="5257800" cy="2019300"/>
          </a:xfrm>
          <a:prstGeom prst="roundRect">
            <a:avLst>
              <a:gd name="adj" fmla="val 5660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396" name="文本框 395" descr="{&quot;isTemplate&quot;:true,&quot;type&quot;:&quot;text&quot;}"/>
          <p:cNvSpPr txBox="1"/>
          <p:nvPr/>
        </p:nvSpPr>
        <p:spPr>
          <a:xfrm>
            <a:off x="504825" y="981075"/>
            <a:ext cx="50101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未作答</a:t>
            </a:r>
            <a:r>
              <a:rPr lang="en-US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未评估</a:t>
            </a:r>
            <a:r>
              <a:rPr lang="en-US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不适用</a:t>
            </a:r>
            <a:endParaRPr lang="zh-CN" sz="105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7" name="文本框 396" descr="{&quot;isTemplate&quot;:true,&quot;type&quot;:&quot;text&quot;}"/>
          <p:cNvSpPr txBox="1"/>
          <p:nvPr/>
        </p:nvSpPr>
        <p:spPr>
          <a:xfrm>
            <a:off x="504825" y="1181100"/>
            <a:ext cx="5010150" cy="895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null</a:t>
            </a:r>
            <a:endParaRPr lang="en-US" sz="5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504825" y="2114550"/>
            <a:ext cx="50101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FF8A80"/>
                </a:solidFill>
                <a:latin typeface="微软雅黑" panose="020B0503020204020204" charset="-122"/>
                <a:ea typeface="微软雅黑" panose="020B0503020204020204" charset="-122"/>
              </a:rPr>
              <a:t>≠ 0</a:t>
            </a:r>
            <a:endParaRPr lang="en-US" sz="3000" b="1">
              <a:solidFill>
                <a:srgbClr val="FF8A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9" name="圆角矩形 398"/>
          <p:cNvSpPr/>
          <p:nvPr/>
        </p:nvSpPr>
        <p:spPr>
          <a:xfrm>
            <a:off x="504825" y="2695575"/>
            <a:ext cx="87630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400" name="文本框 399" descr="{&quot;isTemplate&quot;:true,&quot;type&quot;:&quot;text&quot;}"/>
          <p:cNvSpPr txBox="1"/>
          <p:nvPr/>
        </p:nvSpPr>
        <p:spPr>
          <a:xfrm>
            <a:off x="619125" y="2743200"/>
            <a:ext cx="6477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界面显示</a:t>
            </a:r>
            <a:r>
              <a:rPr lang="en-US" sz="975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 --</a:t>
            </a:r>
            <a:endParaRPr lang="en-US" sz="975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1" name="圆角矩形 400"/>
          <p:cNvSpPr/>
          <p:nvPr/>
        </p:nvSpPr>
        <p:spPr>
          <a:xfrm>
            <a:off x="1457325" y="2695575"/>
            <a:ext cx="1123950" cy="247650"/>
          </a:xfrm>
          <a:prstGeom prst="roundRect">
            <a:avLst>
              <a:gd name="adj" fmla="val 23077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1571625" y="2743200"/>
            <a:ext cx="8953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B4AB"/>
                </a:solidFill>
                <a:latin typeface="微软雅黑" panose="020B0503020204020204" charset="-122"/>
                <a:ea typeface="微软雅黑" panose="020B0503020204020204" charset="-122"/>
              </a:rPr>
              <a:t>禁止兜底为</a:t>
            </a:r>
            <a:r>
              <a:rPr lang="en-US" sz="975">
                <a:solidFill>
                  <a:srgbClr val="FFB4AB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975">
                <a:solidFill>
                  <a:srgbClr val="FFB4AB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975">
              <a:solidFill>
                <a:srgbClr val="FFB4A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3" name="圆角矩形 402"/>
          <p:cNvSpPr/>
          <p:nvPr/>
        </p:nvSpPr>
        <p:spPr>
          <a:xfrm>
            <a:off x="5829300" y="952500"/>
            <a:ext cx="5981700" cy="2019300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5953125" y="1076325"/>
            <a:ext cx="57340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三层判定必须完全一致</a:t>
            </a:r>
            <a:endParaRPr lang="zh-CN" sz="135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5" name="圆角矩形 404"/>
          <p:cNvSpPr/>
          <p:nvPr/>
        </p:nvSpPr>
        <p:spPr>
          <a:xfrm>
            <a:off x="5953125" y="1362075"/>
            <a:ext cx="5734050" cy="447675"/>
          </a:xfrm>
          <a:prstGeom prst="roundRect">
            <a:avLst>
              <a:gd name="adj" fmla="val 170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06" name="圆角矩形 405"/>
          <p:cNvSpPr/>
          <p:nvPr/>
        </p:nvSpPr>
        <p:spPr>
          <a:xfrm>
            <a:off x="6048375" y="14859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6115050" y="1514475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6343650" y="1400175"/>
            <a:ext cx="524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页面层</a:t>
            </a:r>
            <a:endParaRPr lang="zh-CN" sz="11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6343650" y="1581150"/>
            <a:ext cx="5248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未作答题项显示为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--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，空白档案不点亮任何灯色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0" name="圆角矩形 409"/>
          <p:cNvSpPr/>
          <p:nvPr/>
        </p:nvSpPr>
        <p:spPr>
          <a:xfrm>
            <a:off x="5953125" y="1885950"/>
            <a:ext cx="5734050" cy="447675"/>
          </a:xfrm>
          <a:prstGeom prst="roundRect">
            <a:avLst>
              <a:gd name="adj" fmla="val 1702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1" name="圆角矩形 410"/>
          <p:cNvSpPr/>
          <p:nvPr/>
        </p:nvSpPr>
        <p:spPr>
          <a:xfrm>
            <a:off x="6048375" y="20097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6115050" y="2038350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6343650" y="1924050"/>
            <a:ext cx="524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导出层</a:t>
            </a:r>
            <a:endParaRPr lang="zh-CN" sz="11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6343650" y="2105025"/>
            <a:ext cx="5248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计算器先判空，空则返回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null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Excel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渲染为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--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且不套灯色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5" name="圆角矩形 414"/>
          <p:cNvSpPr/>
          <p:nvPr/>
        </p:nvSpPr>
        <p:spPr>
          <a:xfrm>
            <a:off x="5953125" y="2409825"/>
            <a:ext cx="5734050" cy="447675"/>
          </a:xfrm>
          <a:prstGeom prst="roundRect">
            <a:avLst>
              <a:gd name="adj" fmla="val 17021"/>
            </a:avLst>
          </a:prstGeom>
          <a:solidFill>
            <a:srgbClr val="E8EFF8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416" name="圆角矩形 415"/>
          <p:cNvSpPr/>
          <p:nvPr/>
        </p:nvSpPr>
        <p:spPr>
          <a:xfrm>
            <a:off x="6048375" y="25336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6115050" y="2562225"/>
            <a:ext cx="857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6343650" y="2447925"/>
            <a:ext cx="524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1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研判层</a:t>
            </a:r>
            <a:endParaRPr lang="zh-CN" sz="11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6343650" y="2628900"/>
            <a:ext cx="5248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9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未评估量表不进入研判描述，不给兜底分数</a:t>
            </a:r>
            <a:endParaRPr lang="zh-CN" sz="9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0" name="圆角矩形 419"/>
          <p:cNvSpPr/>
          <p:nvPr/>
        </p:nvSpPr>
        <p:spPr>
          <a:xfrm>
            <a:off x="381000" y="3067050"/>
            <a:ext cx="11430000" cy="3048000"/>
          </a:xfrm>
          <a:prstGeom prst="roundRect">
            <a:avLst>
              <a:gd name="adj" fmla="val 3125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421" name="图片 4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3067050"/>
            <a:ext cx="11430000" cy="3048000"/>
          </a:xfrm>
          <a:custGeom>
            <a:avLst/>
            <a:gdLst/>
            <a:ahLst/>
            <a:cxnLst/>
            <a:pathLst>
              <a:path w="1200" h="320">
                <a:moveTo>
                  <a:pt x="1190" y="0"/>
                </a:moveTo>
                <a:cubicBezTo>
                  <a:pt x="1196" y="0"/>
                  <a:pt x="1200" y="5"/>
                  <a:pt x="1200" y="10"/>
                </a:cubicBezTo>
                <a:lnTo>
                  <a:pt x="1200" y="310"/>
                </a:lnTo>
                <a:cubicBezTo>
                  <a:pt x="1200" y="316"/>
                  <a:pt x="1196" y="320"/>
                  <a:pt x="1190" y="320"/>
                </a:cubicBezTo>
                <a:lnTo>
                  <a:pt x="10" y="320"/>
                </a:lnTo>
                <a:cubicBezTo>
                  <a:pt x="4" y="320"/>
                  <a:pt x="0" y="316"/>
                  <a:pt x="0" y="310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190" y="0"/>
                </a:lnTo>
                <a:close/>
              </a:path>
            </a:pathLst>
          </a:custGeom>
        </p:spPr>
      </p:pic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381000" y="6477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上图即真实报告页：</a:t>
            </a:r>
            <a:r>
              <a:rPr lang="en-US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AVLT </a:t>
            </a:r>
            <a:r>
              <a:rPr lang="zh-CN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等未开展量表得分栏是</a:t>
            </a:r>
            <a:r>
              <a:rPr lang="en-US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 --</a:t>
            </a:r>
            <a:r>
              <a:rPr lang="zh-CN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、判定栏是</a:t>
            </a:r>
            <a:r>
              <a:rPr lang="en-US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待评定</a:t>
            </a:r>
            <a:r>
              <a:rPr lang="en-US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未测</a:t>
            </a:r>
            <a:r>
              <a:rPr lang="en-US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，不是</a:t>
            </a:r>
            <a:r>
              <a:rPr lang="en-US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 0 </a:t>
            </a:r>
            <a:r>
              <a:rPr lang="zh-CN" sz="1125" b="1">
                <a:solidFill>
                  <a:srgbClr val="A32D2D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sz="1125" b="1">
              <a:solidFill>
                <a:srgbClr val="A32D2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4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云端持久化与多流草稿&lt;/Text&gt;&#10;        &lt;/Box&gt;&#10;        &lt;Text style={{ fontSize: 16, color: '#9FC2E8' }}&gt;04 · 核心功能与实现亮点&lt;/Text&gt;&#10;    &lt;/Box&gt;&#10;&#10;    &lt;Box style={{ position: 'absolute', top: 104, left: 40, width: 1200, flexDirection: 'row', gap: 8, alignItems: 'center' }}&gt;&#10;        &lt;Box style={{ flex: 1, height: 150, background: '#F0F5FC', borderRadius: 10, border: '1px solid #4F81BD', padding: 16, flexDirection: 'column', gap: 8 }}&gt;&#10;            &lt;Text style={{ fontSize: 15, fontWeight: 'bold', color: '#4F81BD' }}&gt;01&lt;/Text&gt;&#10;            &lt;Text style={{ fontSize: 20, fontWeight: 'bold', color: '#1F497D' }}&gt;作答即落草稿&lt;/Text&gt;&#10;            &lt;Text style={{ fontSize: 14, color: '#4A5568', lineHeight: 1.5 }}&gt;每题记录进度、部分作答、流程类型与客户端时间&lt;/Text&gt;&#10;        &lt;/Box&gt;&#10;        &lt;FAIcon name='arrow-right' style={{ fill: '#4F81BD', width: 20, height: 20, marginTop: 65 }} /&gt;&#10;        &lt;Box style={{ flex: 1, height: 150, background: '#F0F5FC', borderRadius: 10, border: '1px solid #4F81BD', padding: 16, flexDirection: 'column', gap: 8 }}&gt;&#10;            &lt;Text style={{ fontSize: 15, fontWeight: 'bold', color: '#4F81BD' }}&gt;02&lt;/Text&gt;&#10;            &lt;Text style={{ fontSize: 20, fontWeight: 'bold', color: '#1F497D' }}&gt;三个时机触发保存&lt;/Text&gt;&#10;            &lt;Text style={{ fontSize: 14, color: '#4A5568', lineHeight: 1.5 }}&gt;每答一题、离开页面、网络恢复各写一次&lt;/Text&gt;&#10;        &lt;/Box&gt;&#10;        &lt;FAIcon name='arrow-right' style={{ fill: '#4F81BD', width: 20, height: 20, marginTop: 65 }} /&gt;&#10;        &lt;Box style={{ flex: 1, height: 150, background: '#F0F5FC', borderRadius: 10, border: '1px solid #4F81BD', padding: 16, flexDirection: 'column', gap: 8 }}&gt;&#10;            &lt;Text style={{ fontSize: 15, fontWeight: 'bold', color: '#4F81BD' }}&gt;03&lt;/Text&gt;&#10;            &lt;Text style={{ fontSize: 20, fontWeight: 'bold', color: '#1F497D' }}&gt;联网写入云端&lt;/Text&gt;&#10;            &lt;Text style={{ fontSize: 14, color: '#4A5568', lineHeight: 1.5 }}&gt;同步失败保留本地副本并提示重试，不假装成功&lt;/Text&gt;&#10;        &lt;/Box&gt;&#10;        &lt;FAIcon name='arrow-right' style={{ fill: '#4F81BD', width: 20, height: 20, marginTop: 65 }} /&gt;&#10;        &lt;Box style={{ flex: 1, height: 150, background: '#E8EFF8', borderRadius: 10, border: '2px solid #1F497D', padding: 16, flexDirection: 'column', gap: 8 }}&gt;&#10;            &lt;Text style={{ fontSize: 15, fontWeight: 'bold', color: '#4F81BD' }}&gt;04&lt;/Text&gt;&#10;            &lt;Text style={{ fontSize: 20, fontWeight: 'bold', color: '#1F497D' }}&gt;换设备可恢复&lt;/Text&gt;&#10;            &lt;Text style={{ fontSize: 14, color: '#1A2230', lineHeight: 1.5 }}&gt;按角色与流程从云端还原题号与已作答内容&lt;/Text&gt;&#10;        &lt;/Box&gt;&#10;    &lt;/Box&gt;&#10;&#10;    &lt;Box style={{ position: 'absolute', top: 270, left: 40, width: 700, flexDirection: 'column', gap: 10 }}&gt;&#10;        &lt;Text style={{ fontSize: 20, fontWeight: 'bold', color: '#1F497D' }}&gt;草稿表为什么用联合主键&lt;/Text&gt;&#10;&#10;        &lt;Table&#10;            style={{ width: 700, height: 290 }}&#10;            defaultTextStyle={{ fontSize: 17, textAlign: 'left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    padding: 10,&#10;            }}&#10;            cells={[&#10;                [&#10;                    { text: '联合主键组成', textStyle: { bold: true, color: '#FFFFFF', fontSize: 18 }, cellStyle: { background: { color: '#1F497D' } } },&#10;                    { text: '示例取值', textStyle: { bold: true, color: '#FFFFFF', fontSize: 18 }, cellStyle: { background: { color: '#1F497D' } } },&#10;                    { text: '这一列锁定什么', textStyle: { bold: true, color: '#FFFFFF', fontSize: 18 }, cellStyle: { background: { color: '#1F497D' } } },&#10;                ],&#10;                [&#10;                    { text: 'patient_id', textStyle: { bold: true } },&#10;                    { text: 'P-2026-013', textStyle: { bold: true, color: '#4F81BD' } },&#10;                    '锁定是哪一位受试者',&#10;                ],&#10;                [&#10;                    { text: 'role', textStyle: { bold: true }, cellStyle: { background: { color: '#F7F9FC' } } },&#10;                    { text: '受试者 / 家属 / 医生', textStyle: { bold: true, color: '#4F81BD' }, cellStyle: { background: { color: '#F7F9FC' } } },&#10;                    { text: '锁定由哪一端填写', cellStyle: { background: { color: '#F7F9FC' } } },&#10;                ],&#10;                [&#10;                    { text: 'flow_id', textStyle: { bold: true, color: '#D9534F' } },&#10;                    { text: 'SCD-Q9 / MMSE-30 / CDR', textStyle: { bold: true, color: '#D9534F' } },&#10;                    '锁定跑的是哪个量表流程',&#10;                ],&#10;            ]}&#10;        /&gt;&#10;&#10;        &lt;Box style={{ background: '#E8EFF8', borderRadius: 8, padding: 12, borderLeft: '5px solid #4F81BD' }}&gt;&#10;            &lt;Text style={{ fontSize: 16, color: '#1F497D', lineHeight: 1.5 }}&gt;&#10;                三列组合唯一，同一角色跑第二个量表流程时不会覆盖第一个流程的作答。&#10;            &lt;/Text&gt;&#10;        &lt;/Box&gt;&#10;    &lt;/Box&gt;&#10;&#10;    &lt;Box style={{ position: 'absolute', top: 270, left: 756, width: 484, height: 390, background: '#1F497D', borderRadius: 12, padding: 22, flexDirection: 'column', gap: 18 }}&gt;&#10;        &lt;Box style={{ flexDirection: 'column', gap: 12 }}&gt;&#10;            &lt;Text style={{ fontSize: 24, fontWeight: 'bold', color: '#FFFFFF' }}&gt;三条不可妥协的约束&lt;/Text&gt;&#10;            &lt;Box style={{ width: 52, height: 4, background: '#4F81BD' }} /&gt;&#10;        &lt;/Box&gt;&#10;        &lt;Box style={{ flexDirection: 'column', gap: 5 }}&gt;&#10;            &lt;Text style={{ fontSize: 18, fontWeight: 'bold', color: '#B5D4F4' }}&gt;本地不是最终数据源&lt;/Text&gt;&#10;            &lt;Text style={{ fontSize: 15, color: '#DCE7F5', lineHeight: 1.55 }}&gt;本地只承担断网草稿与恢复，权威数据在云端。&lt;/Text&gt;&#10;        &lt;/Box&gt;&#10;        &lt;Box style={{ flexDirection: 'column', gap: 5 }}&gt;&#10;            &lt;Text style={{ fontSize: 18, fontWeight: 'bold', color: '#B5D4F4' }}&gt;同步失败不丢数据&lt;/Text&gt;&#10;            &lt;Text style={{ fontSize: 15, color: '#DCE7F5', lineHeight: 1.55 }}&gt;保留本地副本并明确提示重试状态，绝不假装已保存成功。&lt;/Text&gt;&#10;        &lt;/Box&gt;&#10;        &lt;Box style={{ flexDirection: 'column', gap: 5 }}&gt;&#10;            &lt;Text style={{ fontSize: 18, fontWeight: 'bold', color: '#B5D4F4' }}&gt;每次写入都可追溯&lt;/Text&gt;&#10;            &lt;Text style={{ fontSize: 15, color: '#DCE7F5', lineHeight: 1.55 }}&gt;每条记录都能确认受试者、来源角色、状态与更新时间。&lt;/Text&gt;&#10;        &lt;/Box&gt;&#10;    &lt;/Box&gt;&#10;&#10;    &lt;Box style={{ position: 'absolute', bottom: 22, left: 40, width: 1200, flexDirection: 'row', justifyContent: 'space-between' }}&gt;&#10;        &lt;Text style={{ fontSize: 15, color: '#8B97A8' }}&gt;依据：三端业务流程定稿的数据保存规则&lt;/Text&gt;&#10;        &lt;Text style={{ fontSize: 15, color: '#1F497D' }}&gt;22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矩形 4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26" name="矩形 425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427" name="圆角矩形 426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28" name="文本框 427" descr="{&quot;isTemplate&quot;:true,&quot;type&quot;:&quot;text&quot;}"/>
          <p:cNvSpPr txBox="1"/>
          <p:nvPr/>
        </p:nvSpPr>
        <p:spPr>
          <a:xfrm>
            <a:off x="571500" y="219075"/>
            <a:ext cx="30480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云端持久化与多流草稿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9" name="文本框 428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" name="圆角矩形 429"/>
          <p:cNvSpPr/>
          <p:nvPr/>
        </p:nvSpPr>
        <p:spPr>
          <a:xfrm>
            <a:off x="381000" y="990600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533400" y="1143000"/>
            <a:ext cx="2295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533400" y="1390650"/>
            <a:ext cx="2295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作答即落草稿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533400" y="1695450"/>
            <a:ext cx="22955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每题记录进度、部分作答、流程类型与客户端时间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4" name="图片 4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7525" y="1924050"/>
            <a:ext cx="190500" cy="190500"/>
          </a:xfrm>
          <a:prstGeom prst="rect">
            <a:avLst/>
          </a:prstGeom>
        </p:spPr>
      </p:pic>
      <p:sp>
        <p:nvSpPr>
          <p:cNvPr id="435" name="圆角矩形 434"/>
          <p:cNvSpPr/>
          <p:nvPr/>
        </p:nvSpPr>
        <p:spPr>
          <a:xfrm>
            <a:off x="3324225" y="990600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436" name="文本框 435" descr="{&quot;isTemplate&quot;:true,&quot;type&quot;:&quot;text&quot;}"/>
          <p:cNvSpPr txBox="1"/>
          <p:nvPr/>
        </p:nvSpPr>
        <p:spPr>
          <a:xfrm>
            <a:off x="3476625" y="1143000"/>
            <a:ext cx="2295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7" name="文本框 436" descr="{&quot;isTemplate&quot;:true,&quot;type&quot;:&quot;text&quot;}"/>
          <p:cNvSpPr txBox="1"/>
          <p:nvPr/>
        </p:nvSpPr>
        <p:spPr>
          <a:xfrm>
            <a:off x="3476625" y="1390650"/>
            <a:ext cx="2295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三个时机触发保存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3476625" y="1695450"/>
            <a:ext cx="22955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每答一题、离开页面、网络恢复各写一次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9" name="图片 4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0750" y="1924050"/>
            <a:ext cx="190500" cy="190500"/>
          </a:xfrm>
          <a:prstGeom prst="rect">
            <a:avLst/>
          </a:prstGeom>
        </p:spPr>
      </p:pic>
      <p:sp>
        <p:nvSpPr>
          <p:cNvPr id="440" name="圆角矩形 439"/>
          <p:cNvSpPr/>
          <p:nvPr/>
        </p:nvSpPr>
        <p:spPr>
          <a:xfrm>
            <a:off x="6267450" y="990600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441" name="文本框 440" descr="{&quot;isTemplate&quot;:true,&quot;type&quot;:&quot;text&quot;}"/>
          <p:cNvSpPr txBox="1"/>
          <p:nvPr/>
        </p:nvSpPr>
        <p:spPr>
          <a:xfrm>
            <a:off x="6419850" y="1143000"/>
            <a:ext cx="2295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6419850" y="1390650"/>
            <a:ext cx="2295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联网写入云端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6419850" y="1695450"/>
            <a:ext cx="22955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同步失败保留本地副本并提示重试，不假装成功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4" name="图片 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975" y="1924050"/>
            <a:ext cx="190500" cy="190500"/>
          </a:xfrm>
          <a:prstGeom prst="rect">
            <a:avLst/>
          </a:prstGeom>
        </p:spPr>
      </p:pic>
      <p:sp>
        <p:nvSpPr>
          <p:cNvPr id="445" name="圆角矩形 444"/>
          <p:cNvSpPr/>
          <p:nvPr/>
        </p:nvSpPr>
        <p:spPr>
          <a:xfrm>
            <a:off x="9210675" y="990600"/>
            <a:ext cx="2600325" cy="1428750"/>
          </a:xfrm>
          <a:prstGeom prst="roundRect">
            <a:avLst>
              <a:gd name="adj" fmla="val 6667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9363075" y="1143000"/>
            <a:ext cx="22955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9363075" y="1390650"/>
            <a:ext cx="22955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换设备可恢复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8" name="文本框 447" descr="{&quot;isTemplate&quot;:true,&quot;type&quot;:&quot;text&quot;}"/>
          <p:cNvSpPr txBox="1"/>
          <p:nvPr/>
        </p:nvSpPr>
        <p:spPr>
          <a:xfrm>
            <a:off x="9363075" y="1695450"/>
            <a:ext cx="2295525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按角色与流程从云端还原题号与已作答内容</a:t>
            </a:r>
            <a:endParaRPr lang="zh-CN" sz="10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9" name="文本框 448" descr="{&quot;isTemplate&quot;:true,&quot;type&quot;:&quot;text&quot;}"/>
          <p:cNvSpPr txBox="1"/>
          <p:nvPr/>
        </p:nvSpPr>
        <p:spPr>
          <a:xfrm>
            <a:off x="381000" y="2571750"/>
            <a:ext cx="6667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草稿表为什么用联合主键</a:t>
            </a:r>
            <a:endParaRPr lang="zh-CN" sz="15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50" name="表格 449"/>
          <p:cNvGraphicFramePr/>
          <p:nvPr/>
        </p:nvGraphicFramePr>
        <p:xfrm>
          <a:off x="381000" y="2895600"/>
          <a:ext cx="6667500" cy="2762251"/>
        </p:xfrm>
        <a:graphic>
          <a:graphicData uri="http://schemas.openxmlformats.org/drawingml/2006/table">
            <a:tbl>
              <a:tblPr/>
              <a:tblGrid>
                <a:gridCol w="1431358"/>
                <a:gridCol w="2843242"/>
                <a:gridCol w="2392900"/>
              </a:tblGrid>
              <a:tr h="705424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联合主键组成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示例取值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这一列锁定什么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68560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patient_id</a:t>
                      </a:r>
                      <a:endParaRPr sz="12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4F81B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P-2026-013</a:t>
                      </a:r>
                      <a:endParaRPr sz="1275" b="1">
                        <a:solidFill>
                          <a:srgbClr val="4F81B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锁定是哪一位受试者</a:t>
                      </a:r>
                      <a:endParaRPr sz="12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8560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role</a:t>
                      </a:r>
                      <a:endParaRPr sz="1275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4F81BD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受试者 / 家属 / 医生</a:t>
                      </a:r>
                      <a:endParaRPr sz="1275" b="1">
                        <a:solidFill>
                          <a:srgbClr val="4F81BD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锁定由哪一端填写</a:t>
                      </a:r>
                      <a:endParaRPr sz="12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68560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flow_id</a:t>
                      </a:r>
                      <a:endParaRPr sz="1275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D9534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SCD-Q9 / MMSE-30 / CDR</a:t>
                      </a:r>
                      <a:endParaRPr sz="1275" b="1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锁定跑的是哪个量表流程</a:t>
                      </a:r>
                      <a:endParaRPr sz="127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51" name="圆角矩形 450"/>
          <p:cNvSpPr/>
          <p:nvPr/>
        </p:nvSpPr>
        <p:spPr>
          <a:xfrm>
            <a:off x="428625" y="5753100"/>
            <a:ext cx="6667500" cy="504825"/>
          </a:xfrm>
          <a:prstGeom prst="roundRect">
            <a:avLst>
              <a:gd name="adj" fmla="val 15094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452" name="任意多边形 451"/>
          <p:cNvSpPr/>
          <p:nvPr/>
        </p:nvSpPr>
        <p:spPr>
          <a:xfrm>
            <a:off x="428625" y="5753100"/>
            <a:ext cx="6667500" cy="504825"/>
          </a:xfrm>
          <a:custGeom>
            <a:avLst/>
            <a:gdLst/>
            <a:ahLst/>
            <a:cxnLst/>
            <a:pathLst>
              <a:path w="700" h="53">
                <a:moveTo>
                  <a:pt x="8" y="0"/>
                </a:moveTo>
                <a:cubicBezTo>
                  <a:pt x="6" y="0"/>
                  <a:pt x="5" y="1"/>
                  <a:pt x="5" y="3"/>
                </a:cubicBezTo>
                <a:lnTo>
                  <a:pt x="5" y="50"/>
                </a:lnTo>
                <a:cubicBezTo>
                  <a:pt x="5" y="52"/>
                  <a:pt x="6" y="53"/>
                  <a:pt x="8" y="53"/>
                </a:cubicBezTo>
                <a:cubicBezTo>
                  <a:pt x="3" y="53"/>
                  <a:pt x="0" y="49"/>
                  <a:pt x="0" y="45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4F81BD"/>
          </a:solidFill>
        </p:spPr>
        <p:txBody>
          <a:bodyPr/>
          <a:p/>
        </p:txBody>
      </p:sp>
      <p:sp>
        <p:nvSpPr>
          <p:cNvPr id="453" name="文本框 452" descr="{&quot;isTemplate&quot;:true,&quot;type&quot;:&quot;text&quot;}"/>
          <p:cNvSpPr txBox="1"/>
          <p:nvPr/>
        </p:nvSpPr>
        <p:spPr>
          <a:xfrm>
            <a:off x="542925" y="5867400"/>
            <a:ext cx="639127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三列组合唯一，同一角色跑第二个量表流程时不会覆盖第一个流程的作答。</a:t>
            </a:r>
            <a:endParaRPr lang="zh-CN" sz="120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4" name="圆角矩形 453"/>
          <p:cNvSpPr/>
          <p:nvPr/>
        </p:nvSpPr>
        <p:spPr>
          <a:xfrm>
            <a:off x="7200900" y="2571750"/>
            <a:ext cx="4610100" cy="3714750"/>
          </a:xfrm>
          <a:prstGeom prst="roundRect">
            <a:avLst>
              <a:gd name="adj" fmla="val 3077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7410450" y="2781300"/>
            <a:ext cx="4191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三条不可妥协的约束</a:t>
            </a:r>
            <a:endParaRPr lang="zh-CN"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6" name="矩形 455"/>
          <p:cNvSpPr/>
          <p:nvPr/>
        </p:nvSpPr>
        <p:spPr>
          <a:xfrm>
            <a:off x="7410450" y="3171825"/>
            <a:ext cx="495300" cy="3810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457" name="文本框 456" descr="{&quot;isTemplate&quot;:true,&quot;type&quot;:&quot;text&quot;}"/>
          <p:cNvSpPr txBox="1"/>
          <p:nvPr/>
        </p:nvSpPr>
        <p:spPr>
          <a:xfrm>
            <a:off x="7410450" y="3381375"/>
            <a:ext cx="419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本地不是最终数据源</a:t>
            </a:r>
            <a:endParaRPr lang="zh-CN" sz="135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8" name="文本框 457" descr="{&quot;isTemplate&quot;:true,&quot;type&quot;:&quot;text&quot;}"/>
          <p:cNvSpPr txBox="1"/>
          <p:nvPr/>
        </p:nvSpPr>
        <p:spPr>
          <a:xfrm>
            <a:off x="7410450" y="3638550"/>
            <a:ext cx="41910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本地只承担断网草稿与恢复，权威数据在云端。</a:t>
            </a:r>
            <a:endParaRPr lang="zh-CN" sz="112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7410450" y="4076700"/>
            <a:ext cx="419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同步失败不丢数据</a:t>
            </a:r>
            <a:endParaRPr lang="zh-CN" sz="135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7410450" y="4333875"/>
            <a:ext cx="41910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保留本地副本并明确提示重试状态，绝不假装已保存成功。</a:t>
            </a:r>
            <a:endParaRPr lang="zh-CN" sz="112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7410450" y="4772025"/>
            <a:ext cx="41910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每次写入都可追溯</a:t>
            </a:r>
            <a:endParaRPr lang="zh-CN" sz="135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2" name="文本框 461" descr="{&quot;isTemplate&quot;:true,&quot;type&quot;:&quot;text&quot;}"/>
          <p:cNvSpPr txBox="1"/>
          <p:nvPr/>
        </p:nvSpPr>
        <p:spPr>
          <a:xfrm>
            <a:off x="7410450" y="5029200"/>
            <a:ext cx="4191000" cy="266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每条记录都能确认受试者、来源角色、状态与更新时间。</a:t>
            </a:r>
            <a:endParaRPr lang="zh-CN" sz="1125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3" name="文本框 462" descr="{&quot;isTemplate&quot;:true,&quot;type&quot;:&quot;text&quot;}"/>
          <p:cNvSpPr txBox="1"/>
          <p:nvPr/>
        </p:nvSpPr>
        <p:spPr>
          <a:xfrm>
            <a:off x="381000" y="6477000"/>
            <a:ext cx="2571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依据：三端业务流程定稿的数据保存规则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5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病历 OCR 结构化回填&lt;/Text&gt;&#10;        &lt;/Box&gt;&#10;        &lt;Text style={{ fontSize: 16, color: '#9FC2E8' }}&gt;04 · 核心功能与实现亮点&lt;/Text&gt;&#10;    &lt;/Box&gt;&#10;&#10;    &lt;Box style={{ position: 'absolute', top: 104, left: 40, width: 560, flexDirection: 'column', gap: 8 }}&gt;&#10;        &lt;Box style={{ height: 86, background: '#F0F5FC', borderRadius: 8, border: '1px solid #D6DCE5', padding: 12, flexDirection: 'row', gap: 10, alignItems: 'center' }}&gt;&#10;            &lt;Box style={{ width: 30, height: 30, borderRadius: 8, background: '#4F81BD', justifyContent: 'center', alignItems: 'center' }}&gt;&#10;                &lt;Text style={{ fontSize: 14, fontWeight: 'bold', color: '#FFFFFF' }}&gt;01&lt;/Text&gt;&#10;            &lt;/Box&gt;&#10;            &lt;Box style={{ flexDirection: 'column', gap: 4, flex: 1 }}&gt;&#10;                &lt;Text style={{ fontSize: 16, fontWeight: 'bold', color: '#1F497D' }}&gt;医生选定受试者后上传文档&lt;/Text&gt;&#10;                &lt;Text style={{ fontSize: 13, color: '#4A5568', lineHeight: 1.4 }}&gt;未选择受试者时，上传入口不可用&lt;/Text&gt;&#10;            &lt;/Box&gt;&#10;        &lt;/Box&gt;&#10;        &lt;Box style={{ height: 86, background: '#F0F5FC', borderRadius: 8, border: '1px solid #D6DCE5', padding: 12, flexDirection: 'row', gap: 10, alignItems: 'center' }}&gt;&#10;            &lt;Box style={{ width: 30, height: 30, borderRadius: 8, background: '#4F81BD', justifyContent: 'center', alignItems: 'center' }}&gt;&#10;                &lt;Text style={{ fontSize: 14, fontWeight: 'bold', color: '#FFFFFF' }}&gt;02&lt;/Text&gt;&#10;            &lt;/Box&gt;&#10;            &lt;Box style={{ flexDirection: 'column', gap: 4, flex: 1 }}&gt;&#10;                &lt;Text style={{ fontSize: 16, fontWeight: 'bold', color: '#1F497D' }}&gt;支持图像、PDF 与纯文本&lt;/Text&gt;&#10;                &lt;Text style={{ fontSize: 13, color: '#4A5568', lineHeight: 1.4 }}&gt;覆盖门诊病历与出院小结两类常见文书&lt;/Text&gt;&#10;            &lt;/Box&gt;&#10;        &lt;/Box&gt;&#10;        &lt;Box style={{ height: 86, background: '#F0F5FC', borderRadius: 8, border: '1px solid #D6DCE5', padding: 12, flexDirection: 'row', gap: 10, alignItems: 'center' }}&gt;&#10;            &lt;Box style={{ width: 30, height: 30, borderRadius: 8, background: '#4F81BD', justifyContent: 'center', alignItems: 'center' }}&gt;&#10;                &lt;Text style={{ fontSize: 14, fontWeight: 'bold', color: '#FFFFFF' }}&gt;03&lt;/Text&gt;&#10;            &lt;/Box&gt;&#10;            &lt;Box style={{ flexDirection: 'column', gap: 4, flex: 1 }}&gt;&#10;                &lt;Text style={{ fontSize: 16, fontWeight: 'bold', color: '#1F497D' }}&gt;后端执行文档识别&lt;/Text&gt;&#10;                &lt;Text style={{ fontSize: 13, color: '#4A5568', lineHeight: 1.4 }}&gt;原始识别结果交给结构化接口处理&lt;/Text&gt;&#10;            &lt;/Box&gt;&#10;        &lt;/Box&gt;&#10;        &lt;Box style={{ height: 86, background: '#F0F5FC', borderRadius: 8, border: '1px solid #D6DCE5', padding: 12, flexDirection: 'row', gap: 10, alignItems: 'center' }}&gt;&#10;            &lt;Box style={{ width: 30, height: 30, borderRadius: 8, background: '#4F81BD', justifyContent: 'center', alignItems: 'center' }}&gt;&#10;                &lt;Text style={{ fontSize: 14, fontWeight: 'bold', color: '#FFFFFF' }}&gt;04&lt;/Text&gt;&#10;            &lt;/Box&gt;&#10;            &lt;Box style={{ flexDirection: 'column', gap: 4, flex: 1 }}&gt;&#10;                &lt;Text style={{ fontSize: 16, fontWeight: 'bold', color: '#1F497D' }}&gt;返回规范 JSON&lt;/Text&gt;&#10;                &lt;Text style={{ fontSize: 13, color: '#4A5568', lineHeight: 1.4 }}&gt;字段与档案一一对应，不做模糊匹配&lt;/Text&gt;&#10;            &lt;/Box&gt;&#10;        &lt;/Box&gt;&#10;        &lt;Box style={{ height: 86, background: '#E8EFF8', borderRadius: 8, border: '2px solid #1F497D', padding: 12, flexDirection: 'row', gap: 10, alignItems: 'center' }}&gt;&#10;            &lt;Box style={{ width: 30, height: 30, borderRadius: 8, background: '#D9534F', justifyContent: 'center', alignItems: 'center' }}&gt;&#10;                &lt;Text style={{ fontSize: 14, fontWeight: 'bold', color: '#FFFFFF' }}&gt;05&lt;/Text&gt;&#10;            &lt;/Box&gt;&#10;            &lt;Box style={{ flexDirection: 'column', gap: 4, flex: 1 }}&gt;&#10;                &lt;Text style={{ fontSize: 16, fontWeight: 'bold', color: '#1F497D' }}&gt;页面并列显示来源与字段&lt;/Text&gt;&#10;                &lt;Text style={{ fontSize: 13, color: '#1A2230', lineHeight: 1.4 }}&gt;医生逐项核对，识别错了可以当场改&lt;/Text&gt;&#10;            &lt;/Box&gt;&#10;        &lt;/Box&gt;&#10;        &lt;Box style={{ height: 86, background: '#E8EFF8', borderRadius: 8, border: '2px solid #1F497D', padding: 12, flexDirection: 'row', gap: 10, alignItems: 'center' }}&gt;&#10;            &lt;Box style={{ width: 30, height: 30, borderRadius: 8, background: '#D9534F', justifyContent: 'center', alignItems: 'center' }}&gt;&#10;                &lt;Text style={{ fontSize: 14, fontWeight: 'bold', color: '#FFFFFF' }}&gt;06&lt;/Text&gt;&#10;            &lt;/Box&gt;&#10;            &lt;Box style={{ flexDirection: 'column', gap: 4, flex: 1 }}&gt;&#10;                &lt;Text style={{ fontSize: 16, fontWeight: 'bold', color: '#1F497D' }}&gt;确认后才写入档案&lt;/Text&gt;&#10;                &lt;Text style={{ fontSize: 13, color: '#1A2230', lineHeight: 1.4 }}&gt;不自动覆盖档案中已有的数据&lt;/Text&gt;&#10;            &lt;/Box&gt;&#10;        &lt;/Box&gt;&#10;    &lt;/Box&gt;&#10;&#10;    &lt;Box style={{ position: 'absolute', top: 104, left: 620, width: 620, height: 410, borderRadius: 10, border: '1px solid #D6DCE5', overflow: 'hidden' }}&gt;&#10;        &lt;Image src='assets/ocr.png' style={{ width: 620, height: 410, objectFit: 'cover' }} /&gt;&#10;    &lt;/Box&gt;&#10;&#10;    &lt;Box style={{ position: 'absolute', top: 520, left: 620, width: 620, height: 26, flexDirection: 'row', alignItems: 'center' }}&gt;&#10;        &lt;Text style={{ fontSize: 14, color: '#4F81BD', fontWeight: 'bold' }}&gt;运行实拍：解析完成后的结构化字段，逐项与档案字段一一对应&lt;/Text&gt;&#10;    &lt;/Box&gt;&#10;&#10;    &lt;Box style={{ position: 'absolute', top: 554, left: 620, width: 620, height: 86, background: '#1F497D', borderRadius: 10, padding: 14, flexDirection: 'column', justifyContent: 'center', gap: 5 }}&gt;&#10;        &lt;Text style={{ fontSize: 14, color: '#9FC2E8' }}&gt;右下角是唯一出口：同步至受试者档案&lt;/Text&gt;&#10;        &lt;Text style={{ fontSize: 14, color: '#DCE7F5', lineHeight: 1.45 }}&gt;识别结果不自动覆盖已有档案——OCR 把打字变成核对，最终确认权始终在人手里。&lt;/Text&gt;&#10;    &lt;/Box&gt;&#10;&#10;    &lt;Box style={{ position: 'absolute', bottom: 22, left: 40, width: 1200, flexDirection: 'row', justifyContent: 'space-between' }}&gt;&#10;        &lt;Text style={{ fontSize: 15, color: '#8B97A8' }}&gt;截图取自本地运行实例；依据：三端业务流程定稿的文档解析流程与 OCR 交付说明&lt;/Text&gt;&#10;        &lt;Text style={{ fontSize: 15, color: '#1F497D' }}&gt;23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矩形 4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67" name="矩形 466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468" name="圆角矩形 467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571500" y="219075"/>
            <a:ext cx="299085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病历</a:t>
            </a: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结构化回填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" name="圆角矩形 470"/>
          <p:cNvSpPr/>
          <p:nvPr/>
        </p:nvSpPr>
        <p:spPr>
          <a:xfrm>
            <a:off x="381000" y="99060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2" name="圆角矩形 471"/>
          <p:cNvSpPr/>
          <p:nvPr/>
        </p:nvSpPr>
        <p:spPr>
          <a:xfrm>
            <a:off x="495300" y="12573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73" name="文本框 472" descr="{&quot;isTemplate&quot;:true,&quot;type&quot;:&quot;text&quot;}"/>
          <p:cNvSpPr txBox="1"/>
          <p:nvPr/>
        </p:nvSpPr>
        <p:spPr>
          <a:xfrm>
            <a:off x="552450" y="1323975"/>
            <a:ext cx="171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876300" y="1181100"/>
            <a:ext cx="472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医生选定受试者后上传文档</a:t>
            </a:r>
            <a:endParaRPr lang="zh-CN" sz="12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876300" y="140970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未选择受试者时，上传入口不可用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6" name="圆角矩形 475"/>
          <p:cNvSpPr/>
          <p:nvPr/>
        </p:nvSpPr>
        <p:spPr>
          <a:xfrm>
            <a:off x="381000" y="188595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7" name="圆角矩形 476"/>
          <p:cNvSpPr/>
          <p:nvPr/>
        </p:nvSpPr>
        <p:spPr>
          <a:xfrm>
            <a:off x="495300" y="21526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552450" y="2219325"/>
            <a:ext cx="171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9" name="文本框 478" descr="{&quot;isTemplate&quot;:true,&quot;type&quot;:&quot;text&quot;}"/>
          <p:cNvSpPr txBox="1"/>
          <p:nvPr/>
        </p:nvSpPr>
        <p:spPr>
          <a:xfrm>
            <a:off x="876300" y="2076450"/>
            <a:ext cx="472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支持图像、</a:t>
            </a:r>
            <a:r>
              <a:rPr lang="en-US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PDF </a:t>
            </a:r>
            <a:r>
              <a:rPr lang="zh-CN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与纯文本</a:t>
            </a:r>
            <a:endParaRPr lang="zh-CN" sz="12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0" name="文本框 479" descr="{&quot;isTemplate&quot;:true,&quot;type&quot;:&quot;text&quot;}"/>
          <p:cNvSpPr txBox="1"/>
          <p:nvPr/>
        </p:nvSpPr>
        <p:spPr>
          <a:xfrm>
            <a:off x="876300" y="230505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覆盖门诊病历与出院小结两类常见文书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1" name="圆角矩形 480"/>
          <p:cNvSpPr/>
          <p:nvPr/>
        </p:nvSpPr>
        <p:spPr>
          <a:xfrm>
            <a:off x="381000" y="278130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2" name="圆角矩形 481"/>
          <p:cNvSpPr/>
          <p:nvPr/>
        </p:nvSpPr>
        <p:spPr>
          <a:xfrm>
            <a:off x="495300" y="30480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83" name="文本框 482" descr="{&quot;isTemplate&quot;:true,&quot;type&quot;:&quot;text&quot;}"/>
          <p:cNvSpPr txBox="1"/>
          <p:nvPr/>
        </p:nvSpPr>
        <p:spPr>
          <a:xfrm>
            <a:off x="552450" y="3114675"/>
            <a:ext cx="171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4" name="文本框 483" descr="{&quot;isTemplate&quot;:true,&quot;type&quot;:&quot;text&quot;}"/>
          <p:cNvSpPr txBox="1"/>
          <p:nvPr/>
        </p:nvSpPr>
        <p:spPr>
          <a:xfrm>
            <a:off x="876300" y="2971800"/>
            <a:ext cx="472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后端执行文档识别</a:t>
            </a:r>
            <a:endParaRPr lang="zh-CN" sz="12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876300" y="320040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原始识别结果交给结构化接口处理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6" name="圆角矩形 485"/>
          <p:cNvSpPr/>
          <p:nvPr/>
        </p:nvSpPr>
        <p:spPr>
          <a:xfrm>
            <a:off x="381000" y="367665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7" name="圆角矩形 486"/>
          <p:cNvSpPr/>
          <p:nvPr/>
        </p:nvSpPr>
        <p:spPr>
          <a:xfrm>
            <a:off x="495300" y="39433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552450" y="4010025"/>
            <a:ext cx="171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876300" y="3867150"/>
            <a:ext cx="472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返回规范</a:t>
            </a:r>
            <a:r>
              <a:rPr lang="en-US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JSON</a:t>
            </a:r>
            <a:endParaRPr lang="en-US" sz="12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 descr="{&quot;isTemplate&quot;:true,&quot;type&quot;:&quot;text&quot;}"/>
          <p:cNvSpPr txBox="1"/>
          <p:nvPr/>
        </p:nvSpPr>
        <p:spPr>
          <a:xfrm>
            <a:off x="876300" y="409575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字段与档案一一对应，不做模糊匹配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1" name="圆角矩形 490"/>
          <p:cNvSpPr/>
          <p:nvPr/>
        </p:nvSpPr>
        <p:spPr>
          <a:xfrm>
            <a:off x="381000" y="457200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492" name="圆角矩形 491"/>
          <p:cNvSpPr/>
          <p:nvPr/>
        </p:nvSpPr>
        <p:spPr>
          <a:xfrm>
            <a:off x="495300" y="48387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493" name="文本框 492" descr="{&quot;isTemplate&quot;:true,&quot;type&quot;:&quot;text&quot;}"/>
          <p:cNvSpPr txBox="1"/>
          <p:nvPr/>
        </p:nvSpPr>
        <p:spPr>
          <a:xfrm>
            <a:off x="552450" y="4905375"/>
            <a:ext cx="171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4" name="文本框 493" descr="{&quot;isTemplate&quot;:true,&quot;type&quot;:&quot;text&quot;}"/>
          <p:cNvSpPr txBox="1"/>
          <p:nvPr/>
        </p:nvSpPr>
        <p:spPr>
          <a:xfrm>
            <a:off x="876300" y="4762500"/>
            <a:ext cx="472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页面并列显示来源与字段</a:t>
            </a:r>
            <a:endParaRPr lang="zh-CN" sz="12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876300" y="499110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医生逐项核对，识别错了可以当场改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6" name="圆角矩形 495"/>
          <p:cNvSpPr/>
          <p:nvPr/>
        </p:nvSpPr>
        <p:spPr>
          <a:xfrm>
            <a:off x="381000" y="5467350"/>
            <a:ext cx="5334000" cy="819150"/>
          </a:xfrm>
          <a:prstGeom prst="roundRect">
            <a:avLst>
              <a:gd name="adj" fmla="val 9302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497" name="圆角矩形 496"/>
          <p:cNvSpPr/>
          <p:nvPr/>
        </p:nvSpPr>
        <p:spPr>
          <a:xfrm>
            <a:off x="495300" y="57340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D9534F"/>
          </a:solidFill>
        </p:spPr>
        <p:txBody>
          <a:bodyPr/>
          <a:p/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552450" y="5800725"/>
            <a:ext cx="171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9" name="文本框 498" descr="{&quot;isTemplate&quot;:true,&quot;type&quot;:&quot;text&quot;}"/>
          <p:cNvSpPr txBox="1"/>
          <p:nvPr/>
        </p:nvSpPr>
        <p:spPr>
          <a:xfrm>
            <a:off x="876300" y="5657850"/>
            <a:ext cx="472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确认后才写入档案</a:t>
            </a:r>
            <a:endParaRPr lang="zh-CN" sz="12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0" name="文本框 499" descr="{&quot;isTemplate&quot;:true,&quot;type&quot;:&quot;text&quot;}"/>
          <p:cNvSpPr txBox="1"/>
          <p:nvPr/>
        </p:nvSpPr>
        <p:spPr>
          <a:xfrm>
            <a:off x="876300" y="5886450"/>
            <a:ext cx="4724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不自动覆盖档案中已有的数据</a:t>
            </a:r>
            <a:endParaRPr lang="zh-CN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1" name="圆角矩形 500"/>
          <p:cNvSpPr/>
          <p:nvPr/>
        </p:nvSpPr>
        <p:spPr>
          <a:xfrm>
            <a:off x="5905500" y="990600"/>
            <a:ext cx="5905500" cy="3905250"/>
          </a:xfrm>
          <a:prstGeom prst="roundRect">
            <a:avLst>
              <a:gd name="adj" fmla="val 2439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02" name="图片 5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0" y="990600"/>
            <a:ext cx="5905500" cy="3905250"/>
          </a:xfrm>
          <a:custGeom>
            <a:avLst/>
            <a:gdLst/>
            <a:ahLst/>
            <a:cxnLst/>
            <a:pathLst>
              <a:path w="620" h="410">
                <a:moveTo>
                  <a:pt x="610" y="0"/>
                </a:moveTo>
                <a:cubicBezTo>
                  <a:pt x="616" y="0"/>
                  <a:pt x="620" y="5"/>
                  <a:pt x="620" y="10"/>
                </a:cubicBezTo>
                <a:lnTo>
                  <a:pt x="620" y="400"/>
                </a:lnTo>
                <a:cubicBezTo>
                  <a:pt x="620" y="406"/>
                  <a:pt x="616" y="410"/>
                  <a:pt x="610" y="410"/>
                </a:cubicBezTo>
                <a:lnTo>
                  <a:pt x="10" y="410"/>
                </a:lnTo>
                <a:cubicBezTo>
                  <a:pt x="4" y="410"/>
                  <a:pt x="0" y="406"/>
                  <a:pt x="0" y="400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</p:spPr>
      </p:pic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5905500" y="5000625"/>
            <a:ext cx="3733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运行实拍：解析完成后的结构化字段，逐项与档案字段一一对应</a:t>
            </a:r>
            <a:endParaRPr lang="zh-CN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4" name="圆角矩形 503"/>
          <p:cNvSpPr/>
          <p:nvPr/>
        </p:nvSpPr>
        <p:spPr>
          <a:xfrm>
            <a:off x="5905500" y="5276850"/>
            <a:ext cx="5905500" cy="819150"/>
          </a:xfrm>
          <a:prstGeom prst="roundRect">
            <a:avLst>
              <a:gd name="adj" fmla="val 11628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505" name="文本框 504" descr="{&quot;isTemplate&quot;:true,&quot;type&quot;:&quot;text&quot;}"/>
          <p:cNvSpPr txBox="1"/>
          <p:nvPr/>
        </p:nvSpPr>
        <p:spPr>
          <a:xfrm>
            <a:off x="6038850" y="5467350"/>
            <a:ext cx="563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右下角是唯一出口：同步至受试者档案</a:t>
            </a:r>
            <a:endParaRPr lang="zh-CN" sz="105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6" name="文本框 505" descr="{&quot;isTemplate&quot;:true,&quot;type&quot;:&quot;text&quot;}"/>
          <p:cNvSpPr txBox="1"/>
          <p:nvPr/>
        </p:nvSpPr>
        <p:spPr>
          <a:xfrm>
            <a:off x="6038850" y="5676900"/>
            <a:ext cx="5638800" cy="238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识别结果不自动覆盖已有档案——</a:t>
            </a:r>
            <a:r>
              <a:rPr lang="en-US" sz="10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OCR </a:t>
            </a:r>
            <a:r>
              <a:rPr lang="zh-CN" sz="105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把打字变成核对，最终确认权始终在人手里。</a:t>
            </a:r>
            <a:endParaRPr lang="zh-CN" sz="105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381000" y="6477000"/>
            <a:ext cx="52482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截图取自本地运行实例；依据：三端业务流程定稿的文档解析流程与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交付说明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9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AI 研判与医生签字闭环&lt;/Text&gt;&#10;        &lt;/Box&gt;&#10;        &lt;Text style={{ fontSize: 16, color: '#9FC2E8' }}&gt;04 · 核心功能与实现亮点&lt;/Text&gt;&#10;    &lt;/Box&gt;&#10;&#10;    &lt;Box style={{ position: 'absolute', top: 100, left: 40, width: 1200, flexDirection: 'row', gap: 6, alignItems: 'center' }}&gt;&#10;        &lt;Box style={{ flex: 1, height: 96, background: '#F0F5FC', borderRadius: 10, border: '1px solid #4F81BD', padding: 12, flexDirection: 'column', gap: 4 }}&gt;&#10;            &lt;Text style={{ fontSize: 17, fontWeight: 'bold', color: '#1F497D' }}&gt;多维数据汇总&lt;/Text&gt;&#10;            &lt;Text style={{ fontSize: 12, color: '#4A5568', lineHeight: 1.4 }}&gt;量表得分 + 生物标志物 + 绘图结果&lt;/Text&gt;&#10;        &lt;/Box&gt;&#10;        &lt;FAIcon name='arrow-right' style={{ fill: '#4F81BD', width: 18, height: 18, marginTop: 39 }} /&gt;&#10;        &lt;Box style={{ flex: 1, height: 96, background: '#F0F5FC', borderRadius: 10, border: '1px solid #4F81BD', padding: 12, flexDirection: 'column', gap: 4 }}&gt;&#10;            &lt;Text style={{ fontSize: 17, fontWeight: 'bold', color: '#1F497D' }}&gt;AI 生成研判&lt;/Text&gt;&#10;            &lt;Text style={{ fontSize: 12, color: '#4A5568', lineHeight: 1.4 }}&gt;三段式意见 + 置信度 + 唯一流水号&lt;/Text&gt;&#10;        &lt;/Box&gt;&#10;        &lt;FAIcon name='arrow-right' style={{ fill: '#4F81BD', width: 18, height: 18, marginTop: 39 }} /&gt;&#10;        &lt;Box style={{ flex: 1, height: 96, background: '#E8EFF8', borderRadius: 10, border: '2px solid #1F497D', padding: 12, flexDirection: 'column', gap: 4 }}&gt;&#10;            &lt;Text style={{ fontSize: 17, fontWeight: 'bold', color: '#1F497D' }}&gt;存入待审核&lt;/Text&gt;&#10;            &lt;Text style={{ fontSize: 12, color: '#4A5568', lineHeight: 1.4 }}&gt;状态 pending_review，推入医生待办&lt;/Text&gt;&#10;        &lt;/Box&gt;&#10;        &lt;FAIcon name='arrow-right' style={{ fill: '#4F81BD', width: 18, height: 18, marginTop: 39 }} /&gt;&#10;        &lt;Box style={{ flex: 1, height: 96, background: '#F0F5FC', borderRadius: 10, border: '1px solid #4F81BD', padding: 12, flexDirection: 'column', gap: 4 }}&gt;&#10;            &lt;Text style={{ fontSize: 17, fontWeight: 'bold', color: '#1F497D' }}&gt;医生审查修改&lt;/Text&gt;&#10;            &lt;Text style={{ fontSize: 12, color: '#4A5568', lineHeight: 1.4 }}&gt;分型、依据与建议均可改写&lt;/Text&gt;&#10;        &lt;/Box&gt;&#10;        &lt;FAIcon name='arrow-right' style={{ fill: '#4F81BD', width: 18, height: 18, marginTop: 39 }} /&gt;&#10;        &lt;Box style={{ flex: 1, height: 96, background: '#1F497D', borderRadius: 10, padding: 12, flexDirection: 'column', gap: 4 }}&gt;&#10;            &lt;Text style={{ fontSize: 17, fontWeight: 'bold', color: '#FFFFFF' }}&gt;签字生效&lt;/Text&gt;&#10;            &lt;Text style={{ fontSize: 12, color: '#DCE7F5', lineHeight: 1.4 }}&gt;approved 后写回正式诊断与随访医嘱&lt;/Text&gt;&#10;        &lt;/Box&gt;&#10;    &lt;/Box&gt;&#10;&#10;    &lt;Box style={{ position: 'absolute', top: 206, left: 40, width: 1200, flexDirection: 'row', gap: 12 }}&gt;&#10;        &lt;Box style={{ flex: 1, height: 84, background: '#F7F9FC', borderRadius: 10, border: '1px solid #D6DCE5', padding: 11, flexDirection: 'column', gap: 3 }}&gt;&#10;            &lt;Text style={{ fontSize: 15, fontWeight: 'bold', color: '#4F81BD' }}&gt;三段式意见齐全&lt;/Text&gt;&#10;            &lt;Text style={{ fontSize: 12, color: '#4A5568', lineHeight: 1.4 }}&gt;结论分型、判断依据、随访建议三段不可缺，每份附唯一流水号&lt;/Text&gt;&#10;        &lt;/Box&gt;&#10;        &lt;Box style={{ flex: 1, height: 84, background: '#F7F9FC', borderRadius: 10, border: '1px solid #D6DCE5', padding: 11, flexDirection: 'column', gap: 3 }}&gt;&#10;            &lt;Text style={{ fontSize: 15, fontWeight: 'bold', color: '#4F81BD' }}&gt;待办严格去重&lt;/Text&gt;&#10;            &lt;Text style={{ fontSize: 12, color: '#4A5568', lineHeight: 1.4 }}&gt;同一受试者只留唯一一条待办，按 patient_id 去重&lt;/Text&gt;&#10;        &lt;/Box&gt;&#10;        &lt;Box style={{ flex: 1, height: 84, background: '#F7F9FC', borderRadius: 10, border: '1px solid #D6DCE5', padding: 11, flexDirection: 'column', gap: 3 }}&gt;&#10;            &lt;Text style={{ fontSize: 15, fontWeight: 'bold', color: '#4F81BD' }}&gt;未签字不外露&lt;/Text&gt;&#10;            &lt;Text style={{ fontSize: 12, color: '#4A5568', lineHeight: 1.4 }}&gt;受试者与家属端只见已签字摘要，未出具时显示&quot;暂未出具 (空)&quot;&lt;/Text&gt;&#10;        &lt;/Box&gt;&#10;    &lt;/Box&gt;&#10;&#10;    &lt;Box style={{ position: 'absolute', top: 300, left: 40, width: 560, height: 342, borderRadius: 10, border: '1px solid #D6DCE5', overflow: 'hidden' }}&gt;&#10;        &lt;Image src='assets/ai_review.png' style={{ width: 560, height: 342, objectFit: 'cover' }} /&gt;&#10;    &lt;/Box&gt;&#10;&#10;    &lt;Box style={{ position: 'absolute', top: 300, left: 610, width: 630, height: 342, borderRadius: 10, border: '1px solid #D6DCE5', overflow: 'hidden' }}&gt;&#10;        &lt;Image src='assets/ai_sign.png' style={{ width: 630, height: 342, objectFit: 'cover' }} /&gt;&#10;    &lt;/Box&gt;&#10;&#10;    &lt;Box style={{ position: 'absolute', top: 648, left: 40, width: 560, height: 26, flexDirection: 'row', alignItems: 'center' }}&gt;&#10;        &lt;Text style={{ fontSize: 14, color: '#4F81BD', fontWeight: 'bold' }}&gt;AI 研判：分型、置信度与三段式意见&lt;/Text&gt;&#10;    &lt;/Box&gt;&#10;    &lt;Box style={{ position: 'absolute', top: 648, left: 610, width: 630, height: 26, flexDirection: 'row', alignItems: 'center' }}&gt;&#10;        &lt;Text style={{ fontSize: 14, color: '#4F81BD', fontWeight: 'bold' }}&gt;医师电子签名并确认生成——签字后才写回正式诊断与随访医嘱&lt;/Text&gt;&#10;    &lt;/Box&gt;&#10;&#10;    &lt;Box style={{ position: 'absolute', bottom: 22, left: 40, width: 1200, flexDirection: 'row', justifyContent: 'space-between' }}&gt;&#10;        &lt;Text style={{ fontSize: 15, color: '#8B97A8' }}&gt;截图取自本地运行实例；依据：三端业务流程定稿的 AI 研判与签字规则&lt;/Text&gt;&#10;        &lt;Text style={{ fontSize: 15, color: '#1F497D' }}&gt;24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矩形 50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11" name="矩形 510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512" name="圆角矩形 511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571500" y="219075"/>
            <a:ext cx="317182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研判与医生签字闭环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10125075" y="304800"/>
            <a:ext cx="1685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04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核心功能与实现亮点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5" name="圆角矩形 514"/>
          <p:cNvSpPr/>
          <p:nvPr/>
        </p:nvSpPr>
        <p:spPr>
          <a:xfrm>
            <a:off x="381000" y="95250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516" name="文本框 515" descr="{&quot;isTemplate&quot;:true,&quot;type&quot;:&quot;text&quot;}"/>
          <p:cNvSpPr txBox="1"/>
          <p:nvPr/>
        </p:nvSpPr>
        <p:spPr>
          <a:xfrm>
            <a:off x="495300" y="10668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多维数据汇总</a:t>
            </a:r>
            <a:endParaRPr lang="zh-CN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7" name="文本框 516" descr="{&quot;isTemplate&quot;:true,&quot;type&quot;:&quot;text&quot;}"/>
          <p:cNvSpPr txBox="1"/>
          <p:nvPr/>
        </p:nvSpPr>
        <p:spPr>
          <a:xfrm>
            <a:off x="495300" y="1304925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量表得分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生物标志物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绘图结果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8" name="图片 5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5550" y="1514475"/>
            <a:ext cx="171450" cy="171450"/>
          </a:xfrm>
          <a:prstGeom prst="rect">
            <a:avLst/>
          </a:prstGeom>
        </p:spPr>
      </p:pic>
      <p:sp>
        <p:nvSpPr>
          <p:cNvPr id="519" name="圆角矩形 518"/>
          <p:cNvSpPr/>
          <p:nvPr/>
        </p:nvSpPr>
        <p:spPr>
          <a:xfrm>
            <a:off x="2724150" y="95250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2838450" y="10668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生成研判</a:t>
            </a:r>
            <a:endParaRPr lang="zh-CN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2838450" y="1304925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三段式意见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置信度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唯一流水号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2" name="图片 5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38700" y="1514475"/>
            <a:ext cx="171450" cy="171450"/>
          </a:xfrm>
          <a:prstGeom prst="rect">
            <a:avLst/>
          </a:prstGeom>
        </p:spPr>
      </p:pic>
      <p:sp>
        <p:nvSpPr>
          <p:cNvPr id="523" name="圆角矩形 522"/>
          <p:cNvSpPr/>
          <p:nvPr/>
        </p:nvSpPr>
        <p:spPr>
          <a:xfrm>
            <a:off x="5067300" y="95250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E8EFF8"/>
          </a:solidFill>
          <a:ln w="25400">
            <a:solidFill>
              <a:srgbClr val="1F497D"/>
            </a:solidFill>
            <a:prstDash val="solid"/>
          </a:ln>
        </p:spPr>
        <p:txBody>
          <a:bodyPr/>
          <a:p/>
        </p:txBody>
      </p:sp>
      <p:sp>
        <p:nvSpPr>
          <p:cNvPr id="524" name="文本框 523" descr="{&quot;isTemplate&quot;:true,&quot;type&quot;:&quot;text&quot;}"/>
          <p:cNvSpPr txBox="1"/>
          <p:nvPr/>
        </p:nvSpPr>
        <p:spPr>
          <a:xfrm>
            <a:off x="5181600" y="10668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存入待审核</a:t>
            </a:r>
            <a:endParaRPr lang="zh-CN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5181600" y="1304925"/>
            <a:ext cx="18288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状态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pending_review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，推入医生待办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6" name="图片 5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0" y="1514475"/>
            <a:ext cx="171450" cy="171450"/>
          </a:xfrm>
          <a:prstGeom prst="rect">
            <a:avLst/>
          </a:prstGeom>
        </p:spPr>
      </p:pic>
      <p:sp>
        <p:nvSpPr>
          <p:cNvPr id="527" name="圆角矩形 526"/>
          <p:cNvSpPr/>
          <p:nvPr/>
        </p:nvSpPr>
        <p:spPr>
          <a:xfrm>
            <a:off x="7410450" y="95250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7524750" y="10668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医生审查修改</a:t>
            </a:r>
            <a:endParaRPr lang="zh-CN" sz="127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7524750" y="1304925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分型、依据与建议均可改写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30" name="图片 5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0" y="1514475"/>
            <a:ext cx="171450" cy="171450"/>
          </a:xfrm>
          <a:prstGeom prst="rect">
            <a:avLst/>
          </a:prstGeom>
        </p:spPr>
      </p:pic>
      <p:sp>
        <p:nvSpPr>
          <p:cNvPr id="531" name="圆角矩形 530"/>
          <p:cNvSpPr/>
          <p:nvPr/>
        </p:nvSpPr>
        <p:spPr>
          <a:xfrm>
            <a:off x="9753600" y="952500"/>
            <a:ext cx="2057400" cy="914400"/>
          </a:xfrm>
          <a:prstGeom prst="roundRect">
            <a:avLst>
              <a:gd name="adj" fmla="val 10417"/>
            </a:avLst>
          </a:prstGeom>
          <a:solidFill>
            <a:srgbClr val="1F497D"/>
          </a:solidFill>
        </p:spPr>
        <p:txBody>
          <a:bodyPr/>
          <a:p/>
        </p:txBody>
      </p:sp>
      <p:sp>
        <p:nvSpPr>
          <p:cNvPr id="532" name="文本框 531" descr="{&quot;isTemplate&quot;:true,&quot;type&quot;:&quot;text&quot;}"/>
          <p:cNvSpPr txBox="1"/>
          <p:nvPr/>
        </p:nvSpPr>
        <p:spPr>
          <a:xfrm>
            <a:off x="9867900" y="1066800"/>
            <a:ext cx="1828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签字生效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3" name="文本框 532" descr="{&quot;isTemplate&quot;:true,&quot;type&quot;:&quot;text&quot;}"/>
          <p:cNvSpPr txBox="1"/>
          <p:nvPr/>
        </p:nvSpPr>
        <p:spPr>
          <a:xfrm>
            <a:off x="9867900" y="1304925"/>
            <a:ext cx="1828800" cy="390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9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approved </a:t>
            </a:r>
            <a:r>
              <a:rPr lang="zh-CN" sz="9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后写回正式诊断与随访医嘱</a:t>
            </a:r>
            <a:endParaRPr lang="zh-CN" sz="9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4" name="圆角矩形 533"/>
          <p:cNvSpPr/>
          <p:nvPr/>
        </p:nvSpPr>
        <p:spPr>
          <a:xfrm>
            <a:off x="381000" y="1962150"/>
            <a:ext cx="37338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485775" y="2066925"/>
            <a:ext cx="3524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三段式意见齐全</a:t>
            </a:r>
            <a:endParaRPr lang="zh-CN"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6" name="文本框 535" descr="{&quot;isTemplate&quot;:true,&quot;type&quot;:&quot;text&quot;}"/>
          <p:cNvSpPr txBox="1"/>
          <p:nvPr/>
        </p:nvSpPr>
        <p:spPr>
          <a:xfrm>
            <a:off x="485775" y="2266950"/>
            <a:ext cx="3524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结论分型、判断依据、随访建议三段不可缺，每份附唯一流水号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7" name="圆角矩形 536"/>
          <p:cNvSpPr/>
          <p:nvPr/>
        </p:nvSpPr>
        <p:spPr>
          <a:xfrm>
            <a:off x="4229100" y="1962150"/>
            <a:ext cx="37338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4333875" y="2066925"/>
            <a:ext cx="3524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待办严格去重</a:t>
            </a:r>
            <a:endParaRPr lang="zh-CN"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4333875" y="2266950"/>
            <a:ext cx="3524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同一受试者只留唯一一条待办，按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patient_id 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去重</a:t>
            </a:r>
            <a:endParaRPr lang="zh-CN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0" name="圆角矩形 539"/>
          <p:cNvSpPr/>
          <p:nvPr/>
        </p:nvSpPr>
        <p:spPr>
          <a:xfrm>
            <a:off x="8077200" y="1962150"/>
            <a:ext cx="3733800" cy="800100"/>
          </a:xfrm>
          <a:prstGeom prst="roundRect">
            <a:avLst>
              <a:gd name="adj" fmla="val 1190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8181975" y="2066925"/>
            <a:ext cx="35242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未签字不外露</a:t>
            </a:r>
            <a:endParaRPr lang="zh-CN" sz="1125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8181975" y="2266950"/>
            <a:ext cx="3524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受试者与家属端只见已签字摘要，未出具时显示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暂未出具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(</a:t>
            </a:r>
            <a:r>
              <a:rPr lang="zh-CN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空</a:t>
            </a:r>
            <a:r>
              <a:rPr lang="en-US" sz="9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)"</a:t>
            </a:r>
            <a:endParaRPr lang="en-US" sz="9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3" name="圆角矩形 542"/>
          <p:cNvSpPr/>
          <p:nvPr/>
        </p:nvSpPr>
        <p:spPr>
          <a:xfrm>
            <a:off x="381000" y="2857500"/>
            <a:ext cx="5334000" cy="3257550"/>
          </a:xfrm>
          <a:prstGeom prst="roundRect">
            <a:avLst>
              <a:gd name="adj" fmla="val 2924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44" name="图片 5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857500"/>
            <a:ext cx="5334000" cy="3257550"/>
          </a:xfrm>
          <a:custGeom>
            <a:avLst/>
            <a:gdLst/>
            <a:ahLst/>
            <a:cxnLst/>
            <a:pathLst>
              <a:path w="560" h="342">
                <a:moveTo>
                  <a:pt x="550" y="0"/>
                </a:moveTo>
                <a:cubicBezTo>
                  <a:pt x="556" y="0"/>
                  <a:pt x="560" y="5"/>
                  <a:pt x="560" y="10"/>
                </a:cubicBezTo>
                <a:lnTo>
                  <a:pt x="560" y="332"/>
                </a:lnTo>
                <a:cubicBezTo>
                  <a:pt x="560" y="338"/>
                  <a:pt x="556" y="342"/>
                  <a:pt x="550" y="342"/>
                </a:cubicBezTo>
                <a:lnTo>
                  <a:pt x="10" y="342"/>
                </a:lnTo>
                <a:cubicBezTo>
                  <a:pt x="4" y="342"/>
                  <a:pt x="0" y="338"/>
                  <a:pt x="0" y="33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550" y="0"/>
                </a:lnTo>
                <a:close/>
              </a:path>
            </a:pathLst>
          </a:custGeom>
        </p:spPr>
      </p:pic>
      <p:sp>
        <p:nvSpPr>
          <p:cNvPr id="545" name="圆角矩形 544"/>
          <p:cNvSpPr/>
          <p:nvPr/>
        </p:nvSpPr>
        <p:spPr>
          <a:xfrm>
            <a:off x="5810250" y="2857500"/>
            <a:ext cx="6000750" cy="3257550"/>
          </a:xfrm>
          <a:prstGeom prst="roundRect">
            <a:avLst>
              <a:gd name="adj" fmla="val 2924"/>
            </a:avLst>
          </a:prstGeom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46" name="图片 545"/>
          <p:cNvPicPr>
            <a:picLocks noChangeAspect="1"/>
          </p:cNvPicPr>
          <p:nvPr/>
        </p:nvPicPr>
        <p:blipFill>
          <a:blip r:embed="rId3"/>
          <a:srcRect l="146" r="146"/>
          <a:stretch>
            <a:fillRect/>
          </a:stretch>
        </p:blipFill>
        <p:spPr>
          <a:xfrm>
            <a:off x="5810250" y="2857500"/>
            <a:ext cx="6000750" cy="3257550"/>
          </a:xfrm>
          <a:custGeom>
            <a:avLst/>
            <a:gdLst/>
            <a:ahLst/>
            <a:cxnLst/>
            <a:pathLst>
              <a:path w="630" h="342">
                <a:moveTo>
                  <a:pt x="620" y="0"/>
                </a:moveTo>
                <a:cubicBezTo>
                  <a:pt x="626" y="0"/>
                  <a:pt x="630" y="5"/>
                  <a:pt x="630" y="10"/>
                </a:cubicBezTo>
                <a:lnTo>
                  <a:pt x="630" y="332"/>
                </a:lnTo>
                <a:cubicBezTo>
                  <a:pt x="630" y="338"/>
                  <a:pt x="626" y="342"/>
                  <a:pt x="620" y="342"/>
                </a:cubicBezTo>
                <a:lnTo>
                  <a:pt x="10" y="342"/>
                </a:lnTo>
                <a:cubicBezTo>
                  <a:pt x="4" y="342"/>
                  <a:pt x="0" y="338"/>
                  <a:pt x="0" y="332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620" y="0"/>
                </a:lnTo>
                <a:close/>
              </a:path>
            </a:pathLst>
          </a:custGeom>
        </p:spPr>
      </p:pic>
      <p:sp>
        <p:nvSpPr>
          <p:cNvPr id="547" name="文本框 546" descr="{&quot;isTemplate&quot;:true,&quot;type&quot;:&quot;text&quot;}"/>
          <p:cNvSpPr txBox="1"/>
          <p:nvPr/>
        </p:nvSpPr>
        <p:spPr>
          <a:xfrm>
            <a:off x="381000" y="6219825"/>
            <a:ext cx="2190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研判：分型、置信度与三段式意见</a:t>
            </a:r>
            <a:endParaRPr lang="zh-CN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5810250" y="6219825"/>
            <a:ext cx="3762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4F81BD"/>
                </a:solidFill>
                <a:latin typeface="微软雅黑" panose="020B0503020204020204" charset="-122"/>
                <a:ea typeface="微软雅黑" panose="020B0503020204020204" charset="-122"/>
              </a:rPr>
              <a:t>医师电子签名并确认生成——签字后才写回正式诊断与随访医嘱</a:t>
            </a:r>
            <a:endParaRPr lang="zh-CN" sz="1050" b="1">
              <a:solidFill>
                <a:srgbClr val="4F81B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9" name="文本框 548" descr="{&quot;isTemplate&quot;:true,&quot;type&quot;:&quot;text&quot;}"/>
          <p:cNvSpPr txBox="1"/>
          <p:nvPr/>
        </p:nvSpPr>
        <p:spPr>
          <a:xfrm>
            <a:off x="381000" y="6477000"/>
            <a:ext cx="45148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截图取自本地运行实例；依据：三端业务流程定稿的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研判与签字规则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1" name="" descr="&lt;Slide style={{ width: 1280, height: 720, background: '#F7F9FC', padding: 0, position: 'relative', fontFamily: 'Microsoft YaHei' }}&gt;&#10;    &lt;Box style={{ position: 'absolute', top: 0, left: 0, width: 1280, height: 10, background: '#1F497D' }} /&gt;&#10;    &lt;Box style={{ position: 'absolute', top: 150, left: 96, width: 420 }}&gt;&#10;        &lt;Text style={{ fontSize: 210, fontWeight: 'bold', color: '#DCE7F5', lineHeight: 1 }}&gt;05&lt;/Text&gt;&#10;    &lt;/Box&gt;&#10;    &lt;Box style={{ position: 'absolute', top: 250, left: 480, width: 720, flexDirection: 'column', gap: 20 }}&gt;&#10;        &lt;Text style={{ fontSize: 52, fontWeight: 'bold', color: '#1F497D', lineHeight: 1.2 }}&gt;系统演示&lt;/Text&gt;&#10;        &lt;Box style={{ width: 88, height: 6, background: '#4F81BD' }} /&gt;&#10;        &lt;Box style={{ flexDirection: 'column', gap: 14, marginTop: 14 }}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接下来播放一段约 3 分钟的使用演示录像&lt;/Text&gt;&#10;            &lt;/Box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按受试者、家属、医生三端顺序走完整条主线&lt;/Text&gt;&#10;            &lt;/Box&gt;&#10;        &lt;/Box&gt;&#10;    &lt;/Box&gt;&#10;    &lt;Box style={{ position: 'absolute', bottom: 26, left: 40, width: 1200, flexDirection: 'row', justifyContent: 'space-between' }}&gt;&#10;        &lt;Text style={{ fontSize: 15, color: '#8B97A8' }}&gt;认知障碍早期诊断临床数据采集系统&lt;/Text&gt;&#10;        &lt;Text style={{ fontSize: 15, color: '#1F497D' }}&gt;25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矩形 5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53" name="矩形 55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914400" y="1428750"/>
            <a:ext cx="40005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15750" b="1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5" name="文本框 554" descr="{&quot;isTemplate&quot;:true,&quot;type&quot;:&quot;text&quot;}"/>
          <p:cNvSpPr txBox="1"/>
          <p:nvPr/>
        </p:nvSpPr>
        <p:spPr>
          <a:xfrm>
            <a:off x="4572000" y="2381250"/>
            <a:ext cx="6858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系统演示</a:t>
            </a:r>
            <a:endParaRPr lang="zh-CN" sz="39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6" name="矩形 555"/>
          <p:cNvSpPr/>
          <p:nvPr/>
        </p:nvSpPr>
        <p:spPr>
          <a:xfrm>
            <a:off x="4572000" y="3286125"/>
            <a:ext cx="838200" cy="571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561" name="文本框 560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7" name="" descr="&lt;Slide style={{ width: 1280, height: 720, background: '#F7F9FC', padding: 0, position: 'relative', fontFamily: 'Microsoft YaHei' }}&gt;&#10;    &lt;Box style={{ position: 'absolute', top: 0, left: 0, width: 1280, height: 10, background: '#1F497D' }} /&gt;&#10;    &lt;Box style={{ position: 'absolute', top: 150, left: 96, width: 420 }}&gt;&#10;        &lt;Text style={{ fontSize: 210, fontWeight: 'bold', color: '#DCE7F5', lineHeight: 1 }}&gt;06&lt;/Text&gt;&#10;    &lt;/Box&gt;&#10;    &lt;Box style={{ position: 'absolute', top: 250, left: 480, width: 720, flexDirection: 'column', gap: 20 }}&gt;&#10;        &lt;Text style={{ fontSize: 52, fontWeight: 'bold', color: '#1F497D', lineHeight: 1.2 }}&gt;总结与展望&lt;/Text&gt;&#10;        &lt;Box style={{ width: 88, height: 6, background: '#4F81BD' }} /&gt;&#10;        &lt;Box style={{ flexDirection: 'column', gap: 14, marginTop: 14 }}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交付了什么，逐条对照课程验收标准&lt;/Text&gt;&#10;            &lt;/Box&gt;&#10;            &lt;Box style={{ flexDirection: 'row', gap: 14, alignItems: 'flex-start' }}&gt;&#10;                &lt;Box style={{ width: 9, height: 9, background: '#4F81BD', marginTop: 11 }} /&gt;&#10;                &lt;Text style={{ fontSize: 23, color: '#4A5568', lineHeight: 1.6 }}&gt;还差什么，以及下一步往哪里走&lt;/Text&gt;&#10;            &lt;/Box&gt;&#10;        &lt;/Box&gt;&#10;    &lt;/Box&gt;&#10;    &lt;Box style={{ position: 'absolute', bottom: 26, left: 40, width: 1200, flexDirection: 'row', justifyContent: 'space-between' }}&gt;&#10;        &lt;Text style={{ fontSize: 15, color: '#8B97A8' }}&gt;认知障碍早期诊断临床数据采集系统&lt;/Text&gt;&#10;        &lt;Text style={{ fontSize: 15, color: '#1F497D' }}&gt;27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矩形 5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</p:spPr>
        <p:txBody>
          <a:bodyPr/>
          <a:p/>
        </p:txBody>
      </p:sp>
      <p:sp>
        <p:nvSpPr>
          <p:cNvPr id="589" name="矩形 58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914400" y="1428750"/>
            <a:ext cx="4000500" cy="2400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0" b="1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en-US" sz="15750" b="1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4572000" y="2381250"/>
            <a:ext cx="6858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3900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2" name="矩形 591"/>
          <p:cNvSpPr/>
          <p:nvPr/>
        </p:nvSpPr>
        <p:spPr>
          <a:xfrm>
            <a:off x="4572000" y="3286125"/>
            <a:ext cx="838200" cy="571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9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成果对照验收标准&lt;/Text&gt;&#10;        &lt;/Box&gt;&#10;        &lt;Text style={{ fontSize: 16, color: '#9FC2E8' }}&gt;06 · 总结与展望&lt;/Text&gt;&#10;    &lt;/Box&gt;&#10;&#10;    &lt;Box style={{ position: 'absolute', top: 100, left: 40, width: 1200, flexDirection: 'column', gap: 12 }}&gt;&#10;        &lt;Box style={{ flexDirection: 'row', alignItems: 'center', gap: 12 }}&gt;&#10;            &lt;FAIcon name='info-circle' style={{ fill: '#4F81BD', width: 20, height: 20 }} /&gt;&#10;            &lt;Text style={{ fontSize: 18, color: '#4A5568' }}&gt;对照需求文档的验收标准逐条核对，每一条都给出可当场打开的复核位置&lt;/Text&gt;&#10;        &lt;/Box&gt;&#10;&#10;        &lt;Table&#10;            style={{ width: 1200, height: 396 }}&#10;            defaultTextStyle={{ fontSize: 16, textAlign: 'left', color: '#1A2230' }}&#10;            defaultCellStyle={{&#10;                border: {&#10;                    left: { width: 1, color: '#D6DCE5' },&#10;                    right: { width: 1, color: '#D6DCE5' },&#10;                    top: { width: 1, color: '#D6DCE5' },&#10;                    bottom: { width: 1, color: '#D6DCE5' },&#10;                },&#10;                padding: 9,&#10;            }}&#10;            cells={[&#10;                [&#10;                    { text: '验收标准', textStyle: { bold: true, color: '#FFFFFF', fontSize: 17 }, cellStyle: { background: { color: '#1F497D' } } },&#10;                    { text: '实际结果', textStyle: { bold: true, color: '#FFFFFF', fontSize: 17 }, cellStyle: { background: { color: '#1F497D' } } },&#10;                    { text: '可复核的证据位置', textStyle: { bold: true, color: '#FFFFFF', fontSize: 17 }, cellStyle: { background: { color: '#1F497D' } } },&#10;                ],&#10;                [&#10;                    { text: '可运行的全栈系统', textStyle: { bold: true } },&#10;                    '前端 React + 后端 Express 一体，一条 npm run dev 同时拉起界面与接口',&#10;                    'ad-ouc-system/ 根目录，运行说明见该目录 README',&#10;                ],&#10;                [&#10;                    { text: '11 个量表全部走通', textStyle: { bold: true }, cellStyle: { background: { color: '#F7F9FC' } } },&#10;                    { text: '三端按归属完成对话式作答，题量与阈值对照教师下发的量表校准', cellStyle: { background: { color: '#F7F9FC' } } },&#10;                    { text: '量表配置层 + 三端评估页面', cellStyle: { background: { color: '#F7F9FC' } } },&#10;                ],&#10;                [&#10;                    { text: '自动计分与红黄绿灯', textStyle: { bold: true } },&#10;                    '输出总分与各维度小计，按阈值给出红 / 黄 / 绿分级；CDR 走华盛顿规则出 Global 与 CDR-SB',&#10;                    '各量表计分器与分级函数',&#10;                ],&#10;                [&#10;                    { text: 'Excel 导出成功', textStyle: { bold: true }, cellStyle: { background: { color: '#F7F9FC' } } },&#10;                    { text: '多工作表导出，未作答一律渲染为 -- 且不套用灯色，导出即符合科研数据集要求', cellStyle: { background: { color: '#F7F9FC' } } },&#10;                    { text: '导出模块与导出结果文件', cellStyle: { background: { color: '#F7F9FC' } } },&#10;                ],&#10;                [&#10;                    { text: '断网续填演练通过', textStyle: { bold: true } },&#10;                    '作答即落本地草稿，联网同步云端，换设备后按角色与流程恢复进度',&#10;                    '草稿读写接口与草稿表',&#10;                ],&#10;                [&#10;                    { text: '内置示例受试者', textStyle: { bold: true }, cellStyle: { background: { color: '#F7F9FC' } } },&#10;                    { text: '4 位分层示例（已签字 / 待审 / 空白），演示现场可直接做对比', cellStyle: { background: { color: '#F7F9FC' } } },&#10;                    { text: '受试者队列播种功能', cellStyle: { background: { color: '#F7F9FC' } } },&#10;                ],&#10;            ]}&#10;        /&gt;&#10;&#10;        &lt;Box style={{ background: '#E8EFF8', borderRadius: 8, padding: 14, borderLeft: '5px solid #4F81BD', flexDirection: 'row', alignItems: 'center', gap: 16 }}&gt;&#10;            &lt;FAIcon name='check-circle' style={{ fill: '#4F81BD', width: 26, height: 26 }} /&gt;&#10;            &lt;Text style={{ fontSize: 17, color: '#1F497D', lineHeight: 1.6, flex: 1 }}&gt;&#10;                结论：验收标准不是逐条&quot;写已完成&quot;，而是逐条留下可现场打开的入口。系统、文档与导出结果三者互为证据。&#10;            &lt;/Text&gt;&#10;        &lt;/Box&gt;&#10;    &lt;/Box&gt;&#10;&#10;    &lt;Box style={{ position: 'absolute', bottom: 22, left: 40, width: 1200, flexDirection: 'row', justifyContent: 'space-between' }}&gt;&#10;        &lt;Text style={{ fontSize: 15, color: '#8B97A8' }}&gt;依据：需求文档验收标准 · 当前实现差距与后续修改顺序&lt;/Text&gt;&#10;        &lt;Text style={{ fontSize: 15, color: '#1F497D' }}&gt;28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矩形 5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01" name="矩形 600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602" name="圆角矩形 601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571500" y="219075"/>
            <a:ext cx="24384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成果对照验收标准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4" name="文本框 603" descr="{&quot;isTemplate&quot;:true,&quot;type&quot;:&quot;text&quot;}"/>
          <p:cNvSpPr txBox="1"/>
          <p:nvPr/>
        </p:nvSpPr>
        <p:spPr>
          <a:xfrm>
            <a:off x="10734675" y="304800"/>
            <a:ext cx="1076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06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5" name="图片 6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" y="962025"/>
            <a:ext cx="190500" cy="190500"/>
          </a:xfrm>
          <a:prstGeom prst="rect">
            <a:avLst/>
          </a:prstGeom>
        </p:spPr>
      </p:pic>
      <p:sp>
        <p:nvSpPr>
          <p:cNvPr id="606" name="文本框 605" descr="{&quot;isTemplate&quot;:true,&quot;type&quot;:&quot;text&quot;}"/>
          <p:cNvSpPr txBox="1"/>
          <p:nvPr/>
        </p:nvSpPr>
        <p:spPr>
          <a:xfrm>
            <a:off x="685800" y="952500"/>
            <a:ext cx="54864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对照需求文档的验收标准逐条核对，每一条都给出可当场打开的复核位置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07" name="表格 606"/>
          <p:cNvGraphicFramePr/>
          <p:nvPr/>
        </p:nvGraphicFramePr>
        <p:xfrm>
          <a:off x="381000" y="1276350"/>
          <a:ext cx="11430000" cy="3771900"/>
        </p:xfrm>
        <a:graphic>
          <a:graphicData uri="http://schemas.openxmlformats.org/drawingml/2006/table">
            <a:tbl>
              <a:tblPr/>
              <a:tblGrid>
                <a:gridCol w="1419508"/>
                <a:gridCol w="6317552"/>
                <a:gridCol w="3692940"/>
              </a:tblGrid>
              <a:tr h="462465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验收标准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实际结果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可复核的证据位置</a:t>
                      </a:r>
                      <a:endParaRPr sz="12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97D"/>
                    </a:solidFill>
                  </a:tcPr>
                </a:tc>
              </a:tr>
              <a:tr h="75651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可运行的全栈系统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前端 React + 后端 Express 一体，一条 npm run dev 同时拉起界面与接口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ad-ouc-system/ 根目录，运行说明见该目录 README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909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 个量表全部走通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三端按归属完成对话式作答，题量与阈值对照教师下发的量表校准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量表配置层 + 三端评估页面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75651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自动计分与红黄绿灯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输出总分与各维度小计，按阈值给出红 / 黄 / 绿分级；CDR 走华盛顿规则出 Global 与 CDR-SB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各量表计分器与分级函数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909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Excel 导出成功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多工作表导出，未作答一律渲染为 -- 且不套用灯色，导出即符合科研数据集要求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导出模块与导出结果文件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44909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断网续填演练通过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作答即落本地草稿，联网同步云端，换设备后按角色与流程恢复进度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草稿读写接口与草稿表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909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内置示例受试者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 位分层示例（已签字 / 待审 / 空白），演示现场可直接做对比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受试者队列播种功能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08" name="圆角矩形 607"/>
          <p:cNvSpPr/>
          <p:nvPr/>
        </p:nvSpPr>
        <p:spPr>
          <a:xfrm>
            <a:off x="428625" y="5162550"/>
            <a:ext cx="11430000" cy="581025"/>
          </a:xfrm>
          <a:prstGeom prst="roundRect">
            <a:avLst>
              <a:gd name="adj" fmla="val 13115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612" name="文本框 611" descr="{&quot;isTemplate&quot;:true,&quot;type&quot;:&quot;text&quot;}"/>
          <p:cNvSpPr txBox="1"/>
          <p:nvPr/>
        </p:nvSpPr>
        <p:spPr>
          <a:xfrm>
            <a:off x="381000" y="6477000"/>
            <a:ext cx="3552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依据：需求文档验收标准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当前实现差距与后续修改顺序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4" name="" descr="&lt;Slide style={{ width: 1280, height: 720, background: '#FFFFFF', padding: 0, position: 'relative', fontFamily: 'Microsoft YaHei' }}&gt;&#10;    &lt;Box style={{ position: 'absolute', top: 0, left: 0, width: 1280, height: 84, background: '#1F497D' }} /&gt;&#10;    &lt;Box style={{ position: 'absolute', top: 0, left: 0, width: 1280, height: 84, flexDirection: 'row', alignItems: 'center', justifyContent: 'space-between', paddingLeft: 40, paddingRight: 40 }}&gt;&#10;        &lt;Box style={{ flexDirection: 'row', alignItems: 'center', gap: 14 }}&gt;&#10;            &lt;Box style={{ width: 6, height: 34, background: '#4F81BD', borderRadius: 3 }} /&gt;&#10;            &lt;Text style={{ fontSize: 32, fontWeight: 'bold', color: '#FFFFFF' }}&gt;不足与后续规划&lt;/Text&gt;&#10;        &lt;/Box&gt;&#10;        &lt;Text style={{ fontSize: 16, color: '#9FC2E8' }}&gt;06 · 总结与展望&lt;/Text&gt;&#10;    &lt;/Box&gt;&#10;&#10;    &lt;Box style={{ position: 'absolute', top: 104, left: 40, width: 740, flexDirection: 'column', gap: 12 }}&gt;&#10;        &lt;Box style={{ background: '#F7F9FC', borderRadius: 10, border: '1px solid #D6DCE5', borderLeft: '5px solid #D9534F', padding: 14, flexDirection: 'column', gap: 5 }}&gt;&#10;            &lt;Text style={{ fontSize: 19, fontWeight: 'bold', color: '#1F497D' }}&gt;阈值仍为固定分段，未接入年龄 × 教育常模&lt;/Text&gt;&#10;            &lt;Text style={{ fontSize: 15, color: '#4A5568', lineHeight: 1.5 }}&gt;同一分数在不同受教育年限人群中的解释力不同，目前的切分点无法体现这一差异。&lt;/Text&gt;&#10;        &lt;/Box&gt;&#10;&#10;        &lt;Box style={{ background: '#F7F9FC', borderRadius: 10, border: '1px solid #D6DCE5', borderLeft: '5px solid #D9534F', padding: 14, flexDirection: 'column', gap: 5 }}&gt;&#10;            &lt;Text style={{ fontSize: 19, fontWeight: 'bold', color: '#1F497D' }}&gt;尚无真实登录鉴权与操作审计&lt;/Text&gt;&#10;            &lt;Text style={{ fontSize: 15, color: '#4A5568', lineHeight: 1.5 }}&gt;现为演示级门禁，纯前端、不联网、不加密；生产环境必须接入鉴权、HTTPS 与审计日志。&lt;/Text&gt;&#10;        &lt;/Box&gt;&#10;&#10;        &lt;Box style={{ background: '#F7F9FC', borderRadius: 10, border: '1px solid #D6DCE5', borderLeft: '5px solid #FFC107', padding: 14, flexDirection: 'column', gap: 5 }}&gt;&#10;            &lt;Text style={{ fontSize: 19, fontWeight: 'bold', color: '#1F497D' }}&gt;量表题目与阈值为课程演示配置&lt;/Text&gt;&#10;            &lt;Text style={{ fontSize: 15, color: '#4A5568', lineHeight: 1.5 }}&gt;已对照教师下发的 6 份量表 PDF 逐项校准，但精度不足以承担真实临床诊断结论。&lt;/Text&gt;&#10;        &lt;/Box&gt;&#10;&#10;        &lt;Box style={{ background: '#F7F9FC', borderRadius: 10, border: '1px solid #D6DCE5', borderLeft: '5px solid #FFC107', padding: 14, flexDirection: 'column', gap: 5 }}&gt;&#10;            &lt;Text style={{ fontSize: 19, fontWeight: 'bold', color: '#1F497D' }}&gt;AI 与 OCR 依赖外部密钥&lt;/Text&gt;&#10;            &lt;Text style={{ fontSize: 15, color: '#4A5568', lineHeight: 1.5 }}&gt;未配置密钥时自动降级为规则引擎回退：功能可用但精度下降，核心量表流程不受影响。&lt;/Text&gt;&#10;        &lt;/Box&gt;&#10;    &lt;/Box&gt;&#10;&#10;    &lt;Box style={{ position: 'absolute', top: 104, left: 800, width: 440, height: 546, background: '#1F497D', borderRadius: 12, padding: 26, flexDirection: 'column', justifyContent: 'space-between' }}&gt;&#10;        &lt;Box style={{ flexDirection: 'column', gap: 14 }}&gt;&#10;            &lt;FAIcon name='chart-line' style={{ fill: '#4F81BD', width: 38, height: 38 }} /&gt;&#10;            &lt;Text style={{ fontSize: 27, fontWeight: 'bold', color: '#FFFFFF' }}&gt;三级优先级路线&lt;/Text&gt;&#10;            &lt;Box style={{ width: 56, height: 4, background: '#4F81BD' }} /&gt;&#10;        &lt;/Box&gt;&#10;        &lt;Box style={{ flexDirection: 'column', gap: 16 }}&gt;&#10;            &lt;Box style={{ flexDirection: 'column', gap: 5 }}&gt;&#10;                &lt;Text style={{ fontSize: 18, fontWeight: 'bold', color: '#B5D4F4' }}&gt;P1 · 功能补全&lt;/Text&gt;&#10;                &lt;Text style={{ fontSize: 16, color: '#DCE7F5', lineHeight: 1.55 }}&gt;接入年龄 × 教育常模；补齐 GDS-15 与 ADAS-Cog；细化量表维度归属。&lt;/Text&gt;&#10;            &lt;/Box&gt;&#10;            &lt;Box style={{ flexDirection: 'column', gap: 5 }}&gt;&#10;                &lt;Text style={{ fontSize: 18, fontWeight: 'bold', color: '#B5D4F4' }}&gt;P2 · 工程化&lt;/Text&gt;&#10;                &lt;Text style={{ fontSize: 16, color: '#DCE7F5', lineHeight: 1.55 }}&gt;平移 uni-app 做小程序与移动端；接入真实鉴权与操作审计。&lt;/Text&gt;&#10;            &lt;/Box&gt;&#10;            &lt;Box style={{ flexDirection: 'column', gap: 5 }}&gt;&#10;                &lt;Text style={{ fontSize: 18, fontWeight: 'bold', color: '#B5D4F4' }}&gt;P3 · 体验打磨&lt;/Text&gt;&#10;                &lt;Text style={{ fontSize: 16, color: '#DCE7F5', lineHeight: 1.55 }}&gt;真机适配与视觉打磨；把随访与复查提醒做成闭环通知。&lt;/Text&gt;&#10;            &lt;/Box&gt;&#10;        &lt;/Box&gt;&#10;        &lt;Box style={{ background: '#0E3F8C', borderRadius: 8, padding: 14 }}&gt;&#10;            &lt;Text style={{ fontSize: 16, color: '#9FC2E8', lineHeight: 1.6 }}&gt;这三条短板都写在文档里，不回避；能验证的部分已经全部可复核。&lt;/Text&gt;&#10;        &lt;/Box&gt;&#10;    &lt;/Box&gt;&#10;&#10;    &lt;Box style={{ position: 'absolute', bottom: 22, left: 40, width: 1200, flexDirection: 'row', justifyContent: 'space-between' }}&gt;&#10;        &lt;Text style={{ fontSize: 15, color: '#8B97A8' }}&gt;依据：README 第八节当前限制 · 进度报告后续路线&lt;/Text&gt;&#10;        &lt;Text style={{ fontSize: 15, color: '#1F497D' }}&gt;29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矩形 6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16" name="矩形 615"/>
          <p:cNvSpPr/>
          <p:nvPr/>
        </p:nvSpPr>
        <p:spPr>
          <a:xfrm>
            <a:off x="0" y="0"/>
            <a:ext cx="12192000" cy="8001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617" name="圆角矩形 616"/>
          <p:cNvSpPr/>
          <p:nvPr/>
        </p:nvSpPr>
        <p:spPr>
          <a:xfrm>
            <a:off x="381000" y="2476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4F81BD"/>
          </a:solidFill>
        </p:spPr>
        <p:txBody>
          <a:bodyPr/>
          <a:p/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571500" y="219075"/>
            <a:ext cx="2133600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不足与后续规划</a:t>
            </a:r>
            <a:endParaRPr 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9" name="文本框 618" descr="{&quot;isTemplate&quot;:true,&quot;type&quot;:&quot;text&quot;}"/>
          <p:cNvSpPr txBox="1"/>
          <p:nvPr/>
        </p:nvSpPr>
        <p:spPr>
          <a:xfrm>
            <a:off x="10734675" y="304800"/>
            <a:ext cx="1076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06 · </a:t>
            </a: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0" name="圆角矩形 619"/>
          <p:cNvSpPr/>
          <p:nvPr/>
        </p:nvSpPr>
        <p:spPr>
          <a:xfrm>
            <a:off x="428625" y="990600"/>
            <a:ext cx="7048500" cy="790575"/>
          </a:xfrm>
          <a:prstGeom prst="roundRect">
            <a:avLst>
              <a:gd name="adj" fmla="val 120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621" name="任意多边形 620"/>
          <p:cNvSpPr/>
          <p:nvPr/>
        </p:nvSpPr>
        <p:spPr>
          <a:xfrm>
            <a:off x="428625" y="990600"/>
            <a:ext cx="7048500" cy="790575"/>
          </a:xfrm>
          <a:custGeom>
            <a:avLst/>
            <a:gdLst/>
            <a:ahLst/>
            <a:cxnLst/>
            <a:pathLst>
              <a:path w="740" h="8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8"/>
                </a:lnTo>
                <a:cubicBezTo>
                  <a:pt x="5" y="80"/>
                  <a:pt x="7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622" name="文本框 621" descr="{&quot;isTemplate&quot;:true,&quot;type&quot;:&quot;text&quot;}"/>
          <p:cNvSpPr txBox="1"/>
          <p:nvPr/>
        </p:nvSpPr>
        <p:spPr>
          <a:xfrm>
            <a:off x="561975" y="1123950"/>
            <a:ext cx="67341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阈值仍为固定分段，未接入年龄</a:t>
            </a:r>
            <a:r>
              <a:rPr lang="en-US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教育常模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3" name="文本框 622" descr="{&quot;isTemplate&quot;:true,&quot;type&quot;:&quot;text&quot;}"/>
          <p:cNvSpPr txBox="1"/>
          <p:nvPr/>
        </p:nvSpPr>
        <p:spPr>
          <a:xfrm>
            <a:off x="561975" y="1390650"/>
            <a:ext cx="6734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同一分数在不同受教育年限人群中的解释力不同，目前的切分点无法体现这一差异。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4" name="圆角矩形 623"/>
          <p:cNvSpPr/>
          <p:nvPr/>
        </p:nvSpPr>
        <p:spPr>
          <a:xfrm>
            <a:off x="428625" y="1895475"/>
            <a:ext cx="7048500" cy="790575"/>
          </a:xfrm>
          <a:prstGeom prst="roundRect">
            <a:avLst>
              <a:gd name="adj" fmla="val 120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625" name="任意多边形 624"/>
          <p:cNvSpPr/>
          <p:nvPr/>
        </p:nvSpPr>
        <p:spPr>
          <a:xfrm>
            <a:off x="428625" y="1895475"/>
            <a:ext cx="7048500" cy="790575"/>
          </a:xfrm>
          <a:custGeom>
            <a:avLst/>
            <a:gdLst/>
            <a:ahLst/>
            <a:cxnLst/>
            <a:pathLst>
              <a:path w="740" h="8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8"/>
                </a:lnTo>
                <a:cubicBezTo>
                  <a:pt x="5" y="80"/>
                  <a:pt x="7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561975" y="2028825"/>
            <a:ext cx="67341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尚无真实登录鉴权与操作审计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561975" y="2295525"/>
            <a:ext cx="6734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现为演示级门禁，纯前端、不联网、不加密；生产环境必须接入鉴权、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HTTPS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与审计日志。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8" name="圆角矩形 627"/>
          <p:cNvSpPr/>
          <p:nvPr/>
        </p:nvSpPr>
        <p:spPr>
          <a:xfrm>
            <a:off x="428625" y="2800350"/>
            <a:ext cx="7048500" cy="790575"/>
          </a:xfrm>
          <a:prstGeom prst="roundRect">
            <a:avLst>
              <a:gd name="adj" fmla="val 120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629" name="任意多边形 628"/>
          <p:cNvSpPr/>
          <p:nvPr/>
        </p:nvSpPr>
        <p:spPr>
          <a:xfrm>
            <a:off x="428625" y="2800350"/>
            <a:ext cx="7048500" cy="790575"/>
          </a:xfrm>
          <a:custGeom>
            <a:avLst/>
            <a:gdLst/>
            <a:ahLst/>
            <a:cxnLst/>
            <a:pathLst>
              <a:path w="740" h="8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8"/>
                </a:lnTo>
                <a:cubicBezTo>
                  <a:pt x="5" y="80"/>
                  <a:pt x="7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C107"/>
          </a:solidFill>
        </p:spPr>
        <p:txBody>
          <a:bodyPr/>
          <a:p/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561975" y="2933700"/>
            <a:ext cx="67341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量表题目与阈值为课程演示配置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561975" y="3200400"/>
            <a:ext cx="6734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已对照教师下发的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份量表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PDF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逐项校准，但精度不足以承担真实临床诊断结论。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2" name="圆角矩形 631"/>
          <p:cNvSpPr/>
          <p:nvPr/>
        </p:nvSpPr>
        <p:spPr>
          <a:xfrm>
            <a:off x="428625" y="3705225"/>
            <a:ext cx="7048500" cy="790575"/>
          </a:xfrm>
          <a:prstGeom prst="roundRect">
            <a:avLst>
              <a:gd name="adj" fmla="val 12048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633" name="任意多边形 632"/>
          <p:cNvSpPr/>
          <p:nvPr/>
        </p:nvSpPr>
        <p:spPr>
          <a:xfrm>
            <a:off x="428625" y="3705225"/>
            <a:ext cx="7048500" cy="790575"/>
          </a:xfrm>
          <a:custGeom>
            <a:avLst/>
            <a:gdLst/>
            <a:ahLst/>
            <a:cxnLst/>
            <a:pathLst>
              <a:path w="740" h="83">
                <a:moveTo>
                  <a:pt x="10" y="0"/>
                </a:moveTo>
                <a:cubicBezTo>
                  <a:pt x="7" y="0"/>
                  <a:pt x="5" y="2"/>
                  <a:pt x="5" y="5"/>
                </a:cubicBezTo>
                <a:lnTo>
                  <a:pt x="5" y="78"/>
                </a:lnTo>
                <a:cubicBezTo>
                  <a:pt x="5" y="80"/>
                  <a:pt x="7" y="82"/>
                  <a:pt x="9" y="83"/>
                </a:cubicBezTo>
                <a:cubicBezTo>
                  <a:pt x="4" y="82"/>
                  <a:pt x="0" y="78"/>
                  <a:pt x="0" y="73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C107"/>
          </a:solidFill>
        </p:spPr>
        <p:txBody>
          <a:bodyPr/>
          <a:p/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561975" y="3838575"/>
            <a:ext cx="673417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sz="1425" b="1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依赖外部密钥</a:t>
            </a:r>
            <a:endParaRPr lang="zh-CN" sz="1425" b="1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561975" y="4105275"/>
            <a:ext cx="67341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未配置密钥时自动降级为规则引擎回退：功能可用但精度下降，核心量表流程不受影响。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6" name="圆角矩形 635"/>
          <p:cNvSpPr/>
          <p:nvPr/>
        </p:nvSpPr>
        <p:spPr>
          <a:xfrm>
            <a:off x="7620000" y="990600"/>
            <a:ext cx="4191000" cy="5200650"/>
          </a:xfrm>
          <a:prstGeom prst="roundRect">
            <a:avLst>
              <a:gd name="adj" fmla="val 2727"/>
            </a:avLst>
          </a:prstGeom>
          <a:solidFill>
            <a:srgbClr val="1F497D"/>
          </a:solidFill>
        </p:spPr>
        <p:txBody>
          <a:bodyPr/>
          <a:p/>
        </p:txBody>
      </p:sp>
      <p:pic>
        <p:nvPicPr>
          <p:cNvPr id="637" name="图片 63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1238250"/>
            <a:ext cx="361950" cy="361950"/>
          </a:xfrm>
          <a:prstGeom prst="rect">
            <a:avLst/>
          </a:prstGeom>
        </p:spPr>
      </p:pic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7867650" y="1733550"/>
            <a:ext cx="3695700" cy="314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三级优先级路线</a:t>
            </a:r>
            <a:endParaRPr lang="zh-CN" sz="20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9" name="矩形 638"/>
          <p:cNvSpPr/>
          <p:nvPr/>
        </p:nvSpPr>
        <p:spPr>
          <a:xfrm>
            <a:off x="7867650" y="2181225"/>
            <a:ext cx="533400" cy="3810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7867650" y="2257425"/>
            <a:ext cx="3695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P1 · </a:t>
            </a:r>
            <a:r>
              <a:rPr lang="zh-CN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功能补全</a:t>
            </a:r>
            <a:endParaRPr lang="zh-CN" sz="135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7867650" y="2514600"/>
            <a:ext cx="36957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接入年龄</a:t>
            </a:r>
            <a:r>
              <a:rPr lang="en-US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教育常模；补齐</a:t>
            </a:r>
            <a:r>
              <a:rPr lang="en-US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 GDS-15 </a:t>
            </a: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 ADAS-Cog</a:t>
            </a: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；细化量表维度归属。</a:t>
            </a:r>
            <a:endParaRPr lang="zh-CN" sz="12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2" name="文本框 641" descr="{&quot;isTemplate&quot;:true,&quot;type&quot;:&quot;text&quot;}"/>
          <p:cNvSpPr txBox="1"/>
          <p:nvPr/>
        </p:nvSpPr>
        <p:spPr>
          <a:xfrm>
            <a:off x="7867650" y="3238500"/>
            <a:ext cx="3695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P2 · </a:t>
            </a:r>
            <a:r>
              <a:rPr lang="zh-CN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工程化</a:t>
            </a:r>
            <a:endParaRPr lang="zh-CN" sz="135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7867650" y="3495675"/>
            <a:ext cx="36957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基于现有 React 代码做移动端浏览器适配（响应式布局）；接入真实鉴权与操作审计。</a:t>
            </a:r>
            <a:endParaRPr lang="zh-CN" sz="12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7867650" y="4219575"/>
            <a:ext cx="36957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P3 · </a:t>
            </a:r>
            <a:r>
              <a:rPr lang="zh-CN" sz="1350" b="1">
                <a:solidFill>
                  <a:srgbClr val="B5D4F4"/>
                </a:solidFill>
                <a:latin typeface="微软雅黑" panose="020B0503020204020204" charset="-122"/>
                <a:ea typeface="微软雅黑" panose="020B0503020204020204" charset="-122"/>
              </a:rPr>
              <a:t>体验打磨</a:t>
            </a:r>
            <a:endParaRPr lang="zh-CN" sz="1350" b="1">
              <a:solidFill>
                <a:srgbClr val="B5D4F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7867650" y="4476750"/>
            <a:ext cx="369570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DCE7F5"/>
                </a:solidFill>
                <a:latin typeface="微软雅黑" panose="020B0503020204020204" charset="-122"/>
                <a:ea typeface="微软雅黑" panose="020B0503020204020204" charset="-122"/>
              </a:rPr>
              <a:t>移动端浏览器真机适配与视觉打磨；把随访与复查提醒做成闭环通知。</a:t>
            </a:r>
            <a:endParaRPr lang="zh-CN" sz="1200">
              <a:solidFill>
                <a:srgbClr val="DCE7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6" name="圆角矩形 645"/>
          <p:cNvSpPr/>
          <p:nvPr/>
        </p:nvSpPr>
        <p:spPr>
          <a:xfrm>
            <a:off x="7867650" y="5086350"/>
            <a:ext cx="3695700" cy="857250"/>
          </a:xfrm>
          <a:prstGeom prst="roundRect">
            <a:avLst>
              <a:gd name="adj" fmla="val 888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647" name="文本框 646" descr="{&quot;isTemplate&quot;:true,&quot;type&quot;:&quot;text&quot;}"/>
          <p:cNvSpPr txBox="1"/>
          <p:nvPr/>
        </p:nvSpPr>
        <p:spPr>
          <a:xfrm>
            <a:off x="8001000" y="5219700"/>
            <a:ext cx="3429000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FC2E8"/>
                </a:solidFill>
                <a:latin typeface="微软雅黑" panose="020B0503020204020204" charset="-122"/>
                <a:ea typeface="微软雅黑" panose="020B0503020204020204" charset="-122"/>
              </a:rPr>
              <a:t>这三条短板都写在文档里，不回避；能验证的部分已经全部可复核。</a:t>
            </a:r>
            <a:endParaRPr lang="zh-CN" sz="1200">
              <a:solidFill>
                <a:srgbClr val="9FC2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8" name="文本框 647" descr="{&quot;isTemplate&quot;:true,&quot;type&quot;:&quot;text&quot;}"/>
          <p:cNvSpPr txBox="1"/>
          <p:nvPr/>
        </p:nvSpPr>
        <p:spPr>
          <a:xfrm>
            <a:off x="381000" y="6477000"/>
            <a:ext cx="3333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依据：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README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第八节当前限制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进度报告后续路线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3" name="" descr="&lt;Slide style={{ width: 1280, height: 720, background: '#1F497D', padding: 0, position: 'relative', fontFamily: 'Microsoft YaHei' }}&gt;&#10;    &lt;Box style={{ position: 'absolute', top: 0, left: 0, width: 1280, height: 10, background: '#4F81BD' }} /&gt;&#10;&#10;    &lt;Box style={{ position: 'absolute', top: 88, left: 40, width: 1200, height: 520, background: '#0E3F8C', borderRadius: 12, border: '2px solid #4F81BD', flexDirection: 'column', justifyContent: 'center', alignItems: 'center', gap: 24, paddingTop: 30 }}&gt;&#10;        &lt;Box style={{ width: 108, height: 108, borderRadius: 54, background: '#4F81BD', justifyContent: 'center', alignItems: 'center' }}&gt;&#10;            &lt;Text style={{ fontSize: 46, color: '#FFFFFF', marginLeft: 8, lineHeight: 1 }}&gt;▶&lt;/Text&gt;&#10;        &lt;/Box&gt;&#10;        &lt;Text style={{ fontSize: 42, fontWeight: 'bold', color: '#FFFFFF' }}&gt;使用演示录像&lt;/Text&gt;&#10;        &lt;Text style={{ fontSize: 22, color: '#B5D4F4' }}&gt;三端完整走查 · 约 3 分钟 · 现场播放&lt;/Text&gt;&#10;        &lt;Text style={{ fontSize: 15, color: '#7BA7D7', letterSpacing: 1 }}&gt;此区域用于嵌入演示视频或关键帧截图&lt;/Text&gt;&#10;    &lt;/Box&gt;&#10;&#10;    &lt;Box style={{ position: 'absolute', top: 552, left: 120, width: 1040, height: 104, background: '#FFFFFF', borderRadius: 10, border: '1px solid #D6DCE5', padding: 16, flexDirection: 'row', gap: 4, alignItems: 'center' }}&gt;&#10;        &lt;Box style={{ flex: 1, flexDirection: 'column', gap: 3 }}&gt;&#10;            &lt;Text style={{ fontSize: 14, fontWeight: 'bold', color: '#4F81BD' }}&gt;01&lt;/Text&gt;&#10;            &lt;Text style={{ fontSize: 14, color: '#1F497D', lineHeight: 1.35 }}&gt;受试者端建档与自评&lt;/Text&gt;&#10;        &lt;/Box&gt;&#10;        &lt;Box style={{ flex: 1, flexDirection: 'column', gap: 3 }}&gt;&#10;            &lt;Text style={{ fontSize: 14, fontWeight: 'bold', color: '#4F81BD' }}&gt;02&lt;/Text&gt;&#10;            &lt;Text style={{ fontSize: 14, color: '#1F497D', lineHeight: 1.35 }}&gt;家属端知情者量表&lt;/Text&gt;&#10;        &lt;/Box&gt;&#10;        &lt;Box style={{ flex: 1, flexDirection: 'column', gap: 3 }}&gt;&#10;            &lt;Text style={{ fontSize: 14, fontWeight: 'bold', color: '#4F81BD' }}&gt;03&lt;/Text&gt;&#10;            &lt;Text style={{ fontSize: 14, color: '#1F497D', lineHeight: 1.35 }}&gt;医生工作台与计分&lt;/Text&gt;&#10;        &lt;/Box&gt;&#10;        &lt;Box style={{ flex: 1, flexDirection: 'column', gap: 3 }}&gt;&#10;            &lt;Text style={{ fontSize: 14, fontWeight: 'bold', color: '#4F81BD' }}&gt;04&lt;/Text&gt;&#10;            &lt;Text style={{ fontSize: 14, color: '#1F497D', lineHeight: 1.35 }}&gt;病历 OCR 结构化回填&lt;/Text&gt;&#10;        &lt;/Box&gt;&#10;        &lt;Box style={{ flex: 1, flexDirection: 'column', gap: 3 }}&gt;&#10;            &lt;Text style={{ fontSize: 14, fontWeight: 'bold', color: '#4F81BD' }}&gt;05&lt;/Text&gt;&#10;            &lt;Text style={{ fontSize: 14, color: '#1F497D', lineHeight: 1.35 }}&gt;AI 研判与医生签字&lt;/Text&gt;&#10;        &lt;/Box&gt;&#10;        &lt;Box style={{ flex: 1, flexDirection: 'column', gap: 3 }}&gt;&#10;            &lt;Text style={{ fontSize: 14, fontWeight: 'bold', color: '#4F81BD' }}&gt;06&lt;/Text&gt;&#10;            &lt;Text style={{ fontSize: 14, color: '#1F497D', lineHeight: 1.35 }}&gt;Excel 导出与随访同步&lt;/Text&gt;&#10;        &lt;/Box&gt;&#10;    &lt;/Box&gt;&#10;&#10;    &lt;Box style={{ position: 'absolute', bottom: 26, left: 40, width: 1200, flexDirection: 'row', justifyContent: 'space-between' }}&gt;&#10;        &lt;Text style={{ fontSize: 15, color: '#7BA7D7' }}&gt;认知障碍早期诊断临床数据采集系统&lt;/Text&gt;&#10;        &lt;Text style={{ fontSize: 15, color: '#9FC2E8' }}&gt;26 / 31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矩形 5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97D"/>
          </a:solidFill>
        </p:spPr>
        <p:txBody>
          <a:bodyPr/>
          <a:p/>
        </p:txBody>
      </p:sp>
      <p:sp>
        <p:nvSpPr>
          <p:cNvPr id="565" name="矩形 56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4F81BD"/>
          </a:solidFill>
        </p:spPr>
        <p:txBody>
          <a:bodyPr/>
          <a:p/>
        </p:txBody>
      </p:sp>
      <p:sp>
        <p:nvSpPr>
          <p:cNvPr id="566" name="圆角矩形 565"/>
          <p:cNvSpPr/>
          <p:nvPr/>
        </p:nvSpPr>
        <p:spPr>
          <a:xfrm>
            <a:off x="381000" y="838200"/>
            <a:ext cx="11430000" cy="4953000"/>
          </a:xfrm>
          <a:prstGeom prst="roundRect">
            <a:avLst>
              <a:gd name="adj" fmla="val 2308"/>
            </a:avLst>
          </a:prstGeom>
          <a:solidFill>
            <a:srgbClr val="0E3F8C"/>
          </a:solidFill>
          <a:ln w="25400">
            <a:solidFill>
              <a:srgbClr val="4F81BD"/>
            </a:solidFill>
            <a:prstDash val="solid"/>
          </a:ln>
        </p:spPr>
        <p:txBody>
          <a:bodyPr/>
          <a:p/>
        </p:txBody>
      </p:sp>
      <p:sp>
        <p:nvSpPr>
          <p:cNvPr id="569" name="文本框 568" descr="{&quot;isTemplate&quot;:true,&quot;type&quot;:&quot;text&quot;}"/>
          <p:cNvSpPr txBox="1"/>
          <p:nvPr/>
        </p:nvSpPr>
        <p:spPr>
          <a:xfrm>
            <a:off x="4246880" y="2774950"/>
            <a:ext cx="3697605" cy="1078865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汇报完成</a:t>
            </a:r>
            <a:endParaRPr 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r>
              <a:rPr lang="en-US" altLang="zh-CN" sz="3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O(∩_∩)O</a:t>
            </a:r>
            <a:endParaRPr lang="en-US" altLang="zh-CN" sz="3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1295400" y="5743575"/>
            <a:ext cx="15716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受试者端建档与自评</a:t>
            </a:r>
            <a:endParaRPr lang="zh-CN" sz="105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2905125" y="5743575"/>
            <a:ext cx="15621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家属端知情者量表</a:t>
            </a:r>
            <a:endParaRPr lang="zh-CN" sz="105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4505325" y="5743575"/>
            <a:ext cx="15716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医生工作台与计分</a:t>
            </a:r>
            <a:endParaRPr lang="zh-CN" sz="105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0" name="文本框 579" descr="{&quot;isTemplate&quot;:true,&quot;type&quot;:&quot;text&quot;}"/>
          <p:cNvSpPr txBox="1"/>
          <p:nvPr/>
        </p:nvSpPr>
        <p:spPr>
          <a:xfrm>
            <a:off x="6115050" y="5743575"/>
            <a:ext cx="15716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病历</a:t>
            </a:r>
            <a:r>
              <a:rPr lang="en-US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 OCR </a:t>
            </a:r>
            <a:r>
              <a:rPr lang="zh-CN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结构化回填</a:t>
            </a:r>
            <a:endParaRPr lang="zh-CN" sz="105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2" name="文本框 581" descr="{&quot;isTemplate&quot;:true,&quot;type&quot;:&quot;text&quot;}"/>
          <p:cNvSpPr txBox="1"/>
          <p:nvPr/>
        </p:nvSpPr>
        <p:spPr>
          <a:xfrm>
            <a:off x="7724775" y="5743575"/>
            <a:ext cx="156210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AI </a:t>
            </a:r>
            <a:r>
              <a:rPr lang="zh-CN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研判与医生签字</a:t>
            </a:r>
            <a:endParaRPr lang="zh-CN" sz="105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9324975" y="5743575"/>
            <a:ext cx="1571625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Excel </a:t>
            </a:r>
            <a:r>
              <a:rPr lang="zh-CN" sz="1050">
                <a:solidFill>
                  <a:srgbClr val="1F497D"/>
                </a:solidFill>
                <a:latin typeface="微软雅黑" panose="020B0503020204020204" charset="-122"/>
                <a:ea typeface="微软雅黑" panose="020B0503020204020204" charset="-122"/>
              </a:rPr>
              <a:t>导出与随访同步</a:t>
            </a:r>
            <a:endParaRPr lang="zh-CN" sz="1050">
              <a:solidFill>
                <a:srgbClr val="1F497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381000" y="6438900"/>
            <a:ext cx="2286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BA7D7"/>
                </a:solidFill>
                <a:latin typeface="微软雅黑" panose="020B0503020204020204" charset="-122"/>
                <a:ea typeface="微软雅黑" panose="020B0503020204020204" charset="-122"/>
              </a:rPr>
              <a:t>认知障碍早期诊断临床数据采集系统</a:t>
            </a:r>
            <a:endParaRPr lang="zh-CN" sz="1125">
              <a:solidFill>
                <a:srgbClr val="7BA7D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IzNmQ3N2Y3NzNkODNiYWM1YzBiZTQyMDU5M2U4Zm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8535</Words>
  <Application>WPS 演示</Application>
  <PresentationFormat/>
  <Paragraphs>1073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Times New Roman</vt:lpstr>
      <vt:lpstr>Calibri</vt:lpstr>
      <vt:lpstr>Arial Unicode MS</vt:lpstr>
      <vt:lpstr>等线</vt:lpstr>
      <vt:lpstr>等线 Light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沐衡</cp:lastModifiedBy>
  <cp:revision>3</cp:revision>
  <dcterms:created xsi:type="dcterms:W3CDTF">2026-09-16T17:01:00Z</dcterms:created>
  <dcterms:modified xsi:type="dcterms:W3CDTF">2026-09-17T07:05:57Z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EA22E1190CCA4F009060B7D55B2CE6E0_12</vt:lpwstr>
  </property>
  <property fmtid="{D5CDD505-2E9C-101B-9397-08002B2CF9AE}" pid="3" name="KSOProductBuildVer">
    <vt:lpwstr>2052-12.1.0.18276</vt:lpwstr>
  </property>
</Properties>
</file>