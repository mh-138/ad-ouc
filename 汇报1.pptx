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</p:sldIdLst>
  <p:sldSz cx="12191365" cy="6858000" type="screen4x3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7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74519"/>
            <a:ext cx="12191695" cy="381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146304" cy="155448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2834513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认知障碍早期诊断临床数据采集系统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4160520"/>
            <a:ext cx="100584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聊天式临床数据采集 · 微信小程序 / 软件 </a:t>
            </a:r>
            <a:endParaRPr sz="18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A2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943600"/>
            <a:ext cx="1005840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CFDD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sz="1400" b="0" i="0">
              <a:solidFill>
                <a:srgbClr val="CFDD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5603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汇报目录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7315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1051560" cy="73152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4519" y="1620139"/>
            <a:ext cx="9418320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endParaRPr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2258568"/>
            <a:ext cx="10881360" cy="7315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258568"/>
            <a:ext cx="1051560" cy="73152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58568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74519" y="2313432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用户角色与核心交互</a:t>
            </a:r>
            <a:endParaRPr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2660904"/>
            <a:ext cx="9418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主试 / 患者 / 家属 + 聊天式对话引擎</a:t>
            </a:r>
            <a:endParaRPr sz="13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099816"/>
            <a:ext cx="10881360" cy="7315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099816"/>
            <a:ext cx="1051560" cy="73152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99816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31546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功能模块总览</a:t>
            </a:r>
            <a:endParaRPr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74519" y="3502152"/>
            <a:ext cx="9418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建档 / 量表 / 计分预警 / 随访 / 导出 / 识别</a:t>
            </a:r>
            <a:endParaRPr sz="13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3941064"/>
            <a:ext cx="10881360" cy="7315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941064"/>
            <a:ext cx="1051560" cy="73152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41064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74519" y="3995928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个核心量表与计分</a:t>
            </a:r>
            <a:endParaRPr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74519" y="4343400"/>
            <a:ext cx="9418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对话式剧本 + 固定阈值红黄绿灯</a:t>
            </a:r>
            <a:endParaRPr sz="1300" b="0" i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4782312"/>
            <a:ext cx="10881360" cy="7315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782312"/>
            <a:ext cx="1051560" cy="73152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82312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874519" y="4992116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特殊测试交互</a:t>
            </a:r>
            <a:endParaRPr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" y="5623560"/>
            <a:ext cx="10881360" cy="7315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5623560"/>
            <a:ext cx="1051560" cy="73152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74519" y="5826379"/>
            <a:ext cx="9418320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非功能 / 技术选型</a:t>
            </a:r>
            <a:endParaRPr sz="18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972800" y="6455664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0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6202"/>
            <a:ext cx="10607040" cy="459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8325" y="1371600"/>
            <a:ext cx="10953115" cy="4617720"/>
          </a:xfrm>
          <a:prstGeom prst="roundRect">
            <a:avLst/>
          </a:prstGeom>
          <a:solidFill>
            <a:srgbClr val="0E3F8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4885" y="2240280"/>
            <a:ext cx="10353675" cy="2028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让使用者（患者、家属、医生）能够便捷地录入病人资料，并通过填写量表或认知测试，自动判断病人的症状情况。</a:t>
            </a:r>
            <a:endParaRPr sz="24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400" b="0" i="0">
                <a:solidFill>
                  <a:srgbClr val="BFD2F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→ 聊天式交互 + 自动计分 + 红黄绿灯预警</a:t>
            </a:r>
            <a:endParaRPr sz="2400" b="0" i="0">
              <a:solidFill>
                <a:srgbClr val="BFD2F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645566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认知障碍早期诊断临床数据采集系统 · 需求文档汇报</a:t>
            </a:r>
            <a:endParaRPr sz="1100" b="0" i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0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5603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用户角色与核心交互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94960" cy="5031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8328"/>
            <a:ext cx="493776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用户角色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1554480" cy="960120"/>
          </a:xfrm>
          <a:prstGeom prst="round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2452053"/>
            <a:ext cx="1554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患者</a:t>
            </a:r>
            <a:endParaRPr sz="2000" b="1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06040" y="2204720"/>
            <a:ext cx="3291840" cy="848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自评简单量表、回答问题（大按钮 / 语音）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3227832"/>
            <a:ext cx="1554480" cy="960120"/>
          </a:xfrm>
          <a:prstGeom prst="round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531045"/>
            <a:ext cx="1554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主试（医生）</a:t>
            </a:r>
            <a:endParaRPr sz="2000" b="1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06040" y="3283712"/>
            <a:ext cx="3291840" cy="848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发起评估、录入观察项、查看计分（角色切换）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4306824"/>
            <a:ext cx="1554480" cy="960120"/>
          </a:xfrm>
          <a:prstGeom prst="round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610037"/>
            <a:ext cx="1554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家属（可选）</a:t>
            </a:r>
            <a:endParaRPr sz="2000" b="1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06040" y="4362704"/>
            <a:ext cx="3291840" cy="848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补充日常情况，人称自动切换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493776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4A556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以「主试 + 患者」双视角为主，不做复杂权限 / 多中心</a:t>
            </a:r>
            <a:endParaRPr sz="1600" b="1" i="0">
              <a:solidFill>
                <a:srgbClr val="4A556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1371600"/>
            <a:ext cx="5257800" cy="50882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608328"/>
            <a:ext cx="484632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聊天式对话引擎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2131695"/>
            <a:ext cx="4846320" cy="41579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左侧提问气泡/ 右侧回答记录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快捷回复大按钮（2~4 个）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情感表情尺（😊🙂😐🙁😭，用于自评）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数字滚轮、轮次进度卡、拍照上传卡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自动跳题/断点续聊/角色无感切换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0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5603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功能模块总览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456432" cy="50292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1421448"/>
            <a:ext cx="3182112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患者建档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2039112"/>
            <a:ext cx="3127248" cy="84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聊天式引导，姓名/年龄/病史等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52544" y="141732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52544" y="1417320"/>
            <a:ext cx="3456432" cy="50292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17136" y="1421448"/>
            <a:ext cx="3182112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量表评估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17136" y="2039112"/>
            <a:ext cx="3127248" cy="84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10 个核心量表对话剧本 + 计分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65008" y="1417320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5008" y="1417320"/>
            <a:ext cx="3456432" cy="5029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1421448"/>
            <a:ext cx="3182112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计分与预警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0" y="2039112"/>
            <a:ext cx="3127248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红黄绿灯 + 判定结论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3822192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822192"/>
            <a:ext cx="3456432" cy="502920"/>
          </a:xfrm>
          <a:prstGeom prst="roundRect">
            <a:avLst/>
          </a:prstGeom>
          <a:solidFill>
            <a:srgbClr val="F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3826320"/>
            <a:ext cx="3182112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纵向随访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" y="4443984"/>
            <a:ext cx="3127248" cy="848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时间轴 + 趋势箭头（简化）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52544" y="3822192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52544" y="3822192"/>
            <a:ext cx="3456432" cy="502920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17136" y="3826320"/>
            <a:ext cx="3182112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数据导出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17136" y="4443984"/>
            <a:ext cx="3127248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一键 Excel + 匿名化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65008" y="3822192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65008" y="3822192"/>
            <a:ext cx="3456432" cy="502920"/>
          </a:xfrm>
          <a:prstGeom prst="round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3826320"/>
            <a:ext cx="3182112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病历识别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0" y="4443984"/>
            <a:ext cx="3127248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拍照 OCR + 人工复核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0" y="6399022"/>
            <a:ext cx="850392" cy="424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5</a:t>
            </a:r>
            <a:endParaRPr sz="2400" b="0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6202"/>
            <a:ext cx="10607040" cy="459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个核心量表与计分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2286000" cy="415636"/>
          </a:xfrm>
          <a:prstGeom prst="roundRect">
            <a:avLst/>
          </a:prstGeom>
          <a:solidFill>
            <a:srgbClr val="0E3F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332086"/>
            <a:ext cx="210312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量表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26080" y="1371600"/>
            <a:ext cx="2377440" cy="415636"/>
          </a:xfrm>
          <a:prstGeom prst="roundRect">
            <a:avLst/>
          </a:prstGeom>
          <a:solidFill>
            <a:srgbClr val="0E3F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35808" y="1332086"/>
            <a:ext cx="219456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完成方式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303520" y="1371600"/>
            <a:ext cx="6217920" cy="415636"/>
          </a:xfrm>
          <a:prstGeom prst="roundRect">
            <a:avLst/>
          </a:prstGeom>
          <a:solidFill>
            <a:srgbClr val="0E3F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13248" y="1332086"/>
            <a:ext cx="603504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计分（课程用固定阈值）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1787236"/>
            <a:ext cx="228600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8" y="1801697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SCD-Q9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26080" y="1787236"/>
            <a:ext cx="237744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35808" y="1801697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患者自评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303520" y="1787236"/>
            <a:ext cx="621792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13248" y="1801697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是=1/否=0；经常=1/偶尔=0.5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2202872"/>
            <a:ext cx="228600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8" y="2217333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HAMD-17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26080" y="2202872"/>
            <a:ext cx="237744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2217333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主试逐题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03520" y="2202872"/>
            <a:ext cx="621792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13248" y="2217333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&lt;7 正常 / ≥7 可能 / ≥17 肯定 / ≥24 严重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" y="2618509"/>
            <a:ext cx="228600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808" y="2632970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HAMA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926080" y="2618509"/>
            <a:ext cx="237744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35808" y="2632970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主试逐题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303520" y="2618509"/>
            <a:ext cx="621792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13248" y="2632970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&lt;7 无 / ≥7 可能 / ≥14 肯定 / ≥21 明显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" y="3034145"/>
            <a:ext cx="228600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9808" y="3048606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MMSE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926080" y="3034145"/>
            <a:ext cx="237744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35808" y="3048606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主试提问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303520" y="3034145"/>
            <a:ext cx="621792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13248" y="3048606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30 项求和；教育节点预警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40080" y="3449781"/>
            <a:ext cx="228600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9808" y="3464242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MoCA-B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926080" y="3449781"/>
            <a:ext cx="237744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35808" y="3464242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主试提问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303520" y="3449781"/>
            <a:ext cx="621792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13248" y="3464242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求和；文盲小学 19 / 中学 22 / 大学 24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40080" y="3865418"/>
            <a:ext cx="228600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9808" y="3879879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AVLT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2926080" y="3865418"/>
            <a:ext cx="237744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035808" y="3879879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主试口述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303520" y="3865418"/>
            <a:ext cx="621792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13248" y="3879879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N1–N5 即时 + 延迟回忆 + 再认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40080" y="4281054"/>
            <a:ext cx="228600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4295515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VFT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926080" y="4281054"/>
            <a:ext cx="237744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035808" y="4295515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主试计时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303520" y="4281054"/>
            <a:ext cx="621792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13248" y="4295515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60 秒计正确词数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40080" y="4696690"/>
            <a:ext cx="228600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49808" y="4711151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FAQ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926080" y="4696690"/>
            <a:ext cx="237744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35808" y="4711151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知情者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303520" y="4696690"/>
            <a:ext cx="621792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13248" y="4711151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10 项四级求和；≥9 提示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40080" y="5112327"/>
            <a:ext cx="228600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9808" y="5126788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NPI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926080" y="5112327"/>
            <a:ext cx="237744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035808" y="5126788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知情者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303520" y="5112327"/>
            <a:ext cx="6217920" cy="4156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413248" y="5126788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频率×严重度 + 痛苦度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40080" y="5527963"/>
            <a:ext cx="228600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49808" y="5542424"/>
            <a:ext cx="210312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CDR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2926080" y="5527963"/>
            <a:ext cx="237744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035808" y="5542424"/>
            <a:ext cx="219456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主试+知情者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303520" y="5527963"/>
            <a:ext cx="6217920" cy="415636"/>
          </a:xfrm>
          <a:prstGeom prst="roundRect">
            <a:avLst/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413248" y="5542424"/>
            <a:ext cx="603504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 域 → Global CDR + CDR-SB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972800" y="6399022"/>
            <a:ext cx="850392" cy="424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6</a:t>
            </a:r>
            <a:endParaRPr sz="2400" b="0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5603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特殊测试的移动端交互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40080" y="1463040"/>
            <a:ext cx="10881360" cy="1024128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640080" y="1463040"/>
            <a:ext cx="2377440" cy="1024128"/>
          </a:xfrm>
          <a:prstGeom prst="round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640080" y="1727772"/>
            <a:ext cx="237744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AVLT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3200400" y="1550924"/>
            <a:ext cx="8138160" cy="848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词条默认遮罩防泄题；主试点「记起一个」才弹九宫格；延迟回忆按标准流程间隔（演示用定时器提示）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640080" y="2615184"/>
            <a:ext cx="10881360" cy="1024128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640080" y="2615184"/>
            <a:ext cx="2377440" cy="1024128"/>
          </a:xfrm>
          <a:prstGeom prst="roundRect">
            <a:avLst/>
          </a:prstGeom>
          <a:solidFill>
            <a:srgbClr val="F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640080" y="2879915"/>
            <a:ext cx="237744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VFT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3200400" y="2703068"/>
            <a:ext cx="8138160" cy="848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倒计时数字大屏，最后 10 秒变红闪烁；主试手动输入患者说出的词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640080" y="3767328"/>
            <a:ext cx="10881360" cy="1024128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640080" y="3767328"/>
            <a:ext cx="2377440" cy="1024128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640080" y="3784410"/>
            <a:ext cx="2377440" cy="9899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BNT / MoCA 图片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3200400" y="3855212"/>
            <a:ext cx="8138160" cy="848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用示意图或公开样图展示，双指捏合缩放；下方「正确 / 提示 / 错误」大按钮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40080" y="4919472"/>
            <a:ext cx="10881360" cy="1024128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4"/>
            </p:custDataLst>
          </p:nvPr>
        </p:nvSpPr>
        <p:spPr>
          <a:xfrm>
            <a:off x="640080" y="4919472"/>
            <a:ext cx="2377440" cy="1024128"/>
          </a:xfrm>
          <a:prstGeom prst="round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640080" y="5184203"/>
            <a:ext cx="237744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STT / MES</a:t>
            </a:r>
            <a:endParaRPr sz="2800" b="1" i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3200400" y="5007356"/>
            <a:ext cx="8138160" cy="848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课程演示省略触屏绘图与视频，相关条目用文字录入或预留接口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0" y="6434264"/>
            <a:ext cx="850392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7</a:t>
            </a:r>
            <a:endParaRPr sz="2000" b="0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5603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自动计分与红黄绿灯预警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64008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65173"/>
            <a:ext cx="594360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计分流程</a:t>
            </a:r>
            <a:endParaRPr sz="24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249805"/>
            <a:ext cx="5943600" cy="227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完成一个量表 → 系统自动算分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以「聊天消息」形式告知：分数 + 三色灯 + 结论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阈值见各量表（如 HAMD &lt;7 正常 / ≥7 可能 …）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患者侧：泛化鼓励 +「建议由医生进一步评估」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详细分数与灯色在主试视图 / 导出报告出现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269480" y="1463040"/>
            <a:ext cx="4251960" cy="1371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69480" y="1463040"/>
            <a:ext cx="128016" cy="13716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3800" y="1619060"/>
            <a:ext cx="3840480" cy="565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 i="0">
                <a:solidFill>
                  <a:srgbClr val="2E9E5B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🟢 绿色</a:t>
            </a:r>
            <a:endParaRPr sz="3200" b="1" i="0">
              <a:solidFill>
                <a:srgbClr val="2E9E5B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43800" y="2264601"/>
            <a:ext cx="3840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4A556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正常</a:t>
            </a:r>
            <a:endParaRPr sz="2000" b="0" i="0">
              <a:solidFill>
                <a:srgbClr val="4A556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69480" y="2980944"/>
            <a:ext cx="4251960" cy="1371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69480" y="2980944"/>
            <a:ext cx="128016" cy="1371600"/>
          </a:xfrm>
          <a:prstGeom prst="rect">
            <a:avLst/>
          </a:prstGeom>
          <a:solidFill>
            <a:srgbClr val="F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43800" y="3136964"/>
            <a:ext cx="3840480" cy="565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 i="0">
                <a:solidFill>
                  <a:srgbClr val="F0A8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🟡 黄色</a:t>
            </a:r>
            <a:endParaRPr sz="3200" b="1" i="0">
              <a:solidFill>
                <a:srgbClr val="F0A8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43800" y="3782505"/>
            <a:ext cx="3840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4A556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临界 / 需关注</a:t>
            </a:r>
            <a:endParaRPr sz="2000" b="0" i="0">
              <a:solidFill>
                <a:srgbClr val="4A556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69480" y="4498848"/>
            <a:ext cx="4251960" cy="1371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69480" y="4498848"/>
            <a:ext cx="128016" cy="137160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43800" y="4654868"/>
            <a:ext cx="3840480" cy="565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 i="0">
                <a:solidFill>
                  <a:srgbClr val="D9534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🔴 红色</a:t>
            </a:r>
            <a:endParaRPr sz="3200" b="1" i="0">
              <a:solidFill>
                <a:srgbClr val="D9534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43800" y="5300409"/>
            <a:ext cx="3840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4A556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异常 / 需干预</a:t>
            </a:r>
            <a:endParaRPr sz="2000" b="0" i="0">
              <a:solidFill>
                <a:srgbClr val="4A556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00" b="0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5603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非功能需求与技术选型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9496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948053"/>
            <a:ext cx="4937760" cy="494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非功能需求</a:t>
            </a:r>
            <a:endParaRPr sz="28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432685"/>
            <a:ext cx="4937760" cy="31946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适老化：字体 ≥17pt、热区 ≥44pt、TTS 朗读、高对比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离线：本地草稿缓存、断网填写、联网同步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性能：切换 ≤1s、计分即时 &lt;100ms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• 安全：本地加密、上传需授权、不上训练集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2578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0" y="1780540"/>
            <a:ext cx="4846320" cy="549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0E3F8C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技术选型</a:t>
            </a:r>
            <a:endParaRPr sz="2800" b="1" i="0">
              <a:solidFill>
                <a:srgbClr val="0E3F8C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60795" y="2320290"/>
            <a:ext cx="1554480" cy="658368"/>
          </a:xfrm>
          <a:prstGeom prst="round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60795" y="2472627"/>
            <a:ext cx="1554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前端</a:t>
            </a:r>
            <a:endParaRPr sz="2000" b="1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98155" y="2472627"/>
            <a:ext cx="329184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uni-app（Vue3）/ 微信小程序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60795" y="3106674"/>
            <a:ext cx="1554480" cy="658368"/>
          </a:xfrm>
          <a:prstGeom prst="round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0795" y="3259010"/>
            <a:ext cx="1554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UI</a:t>
            </a:r>
            <a:endParaRPr sz="2000" b="1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8155" y="3259010"/>
            <a:ext cx="329184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uView / Vant Weapp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60795" y="3893058"/>
            <a:ext cx="1554480" cy="658368"/>
          </a:xfrm>
          <a:prstGeom prst="round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0795" y="4045395"/>
            <a:ext cx="1554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状态</a:t>
            </a:r>
            <a:endParaRPr sz="2000" b="1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98155" y="4045395"/>
            <a:ext cx="329184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Pinia（持久化插件）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60795" y="4679442"/>
            <a:ext cx="1554480" cy="658368"/>
          </a:xfrm>
          <a:prstGeom prst="round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60795" y="4831779"/>
            <a:ext cx="1554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后端</a:t>
            </a:r>
            <a:endParaRPr sz="2000" b="1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98155" y="4831779"/>
            <a:ext cx="329184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微信云开发 或 纯本地 + 导出</a:t>
            </a:r>
            <a:endParaRPr sz="20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0" y="6434264"/>
            <a:ext cx="850392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1E4FA8"/>
                </a:solidFill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</a:rPr>
              <a:t>9</a:t>
            </a:r>
            <a:endParaRPr sz="2000" b="0" i="0">
              <a:solidFill>
                <a:srgbClr val="1E4FA8"/>
              </a:solidFill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91440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6202"/>
            <a:ext cx="10607040" cy="4597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交付物总结</a:t>
            </a:r>
            <a:endParaRPr sz="2600" b="1" i="0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3657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11/12</a:t>
            </a:r>
            <a:endParaRPr sz="1300" b="0" i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448056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35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✓ 可运行的小程序 / 软件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✓ 10 个核心量表的完整对话式流程，含自动计分与红黄绿灯预警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✓ 聊天式患者建档，含基础信息录入（病历识别为可选增强）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✓ 离线草稿箱，断网可用，联网自动同步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✓ 一键导出 Excel，含患者全部评估数据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2400" b="0" i="0">
                <a:solidFill>
                  <a:srgbClr val="1A223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✓ 完整的对话剧本 JSON 配置文件，新增量表仅需扩展此文件</a:t>
            </a:r>
            <a:endParaRPr sz="2400" b="0" i="0">
              <a:solidFill>
                <a:srgbClr val="1A223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503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 i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146304" cy="173736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聊天式采集 · 自动计分 · 红黄绿灯预警</a:t>
            </a:r>
            <a:endParaRPr sz="3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32918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solidFill>
                  <a:srgbClr val="CFDD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录入病人资料 → 填写量表 / 测试 → 自动判断症状情况</a:t>
            </a:r>
            <a:endParaRPr sz="1800" b="0" i="0">
              <a:solidFill>
                <a:srgbClr val="CFDD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2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3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4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5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6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7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8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9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10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11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12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13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14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15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16.xml><?xml version="1.0" encoding="utf-8"?>
<p:tagLst xmlns:p="http://schemas.openxmlformats.org/presentationml/2006/main">
  <p:tag name="KSO_WM_DIAGRAM_VIRTUALLY_FRAME" val="{&quot;height&quot;:352.8,&quot;left&quot;:50.4,&quot;top&quot;:115.2,&quot;width&quot;:856.8}"/>
</p:tagLst>
</file>

<file path=ppt/tags/tag17.xml><?xml version="1.0" encoding="utf-8"?>
<p:tagLst xmlns:p="http://schemas.openxmlformats.org/presentationml/2006/main">
  <p:tag name="commondata" val="eyJoZGlkIjoiNzIzNmQ3N2Y3NzNkODNiYWM1YzBiZTQyMDU5M2U4Zm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WPS 演示</Application>
  <PresentationFormat>On-screen Show (4:3)</PresentationFormat>
  <Paragraphs>266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华文楷体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沐衡</cp:lastModifiedBy>
  <cp:revision>3</cp:revision>
  <dcterms:created xsi:type="dcterms:W3CDTF">2013-01-27T09:14:00Z</dcterms:created>
  <dcterms:modified xsi:type="dcterms:W3CDTF">2026-09-02T16:08:51Z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43750693078C4679A19C9E6E83895A16_12</vt:lpwstr>
  </property>
  <property fmtid="{D5CDD505-2E9C-101B-9397-08002B2CF9AE}" pid="3" name="KSOProductBuildVer">
    <vt:lpwstr>2052-12.1.0.18276</vt:lpwstr>
  </property>
</Properties>
</file>